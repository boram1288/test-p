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4"/>
  </p:notesMasterIdLst>
  <p:sldIdLst>
    <p:sldId id="276" r:id="rId2"/>
    <p:sldId id="297" r:id="rId3"/>
    <p:sldId id="296" r:id="rId4"/>
    <p:sldId id="283" r:id="rId5"/>
    <p:sldId id="284" r:id="rId6"/>
    <p:sldId id="285" r:id="rId7"/>
    <p:sldId id="286" r:id="rId8"/>
    <p:sldId id="287" r:id="rId9"/>
    <p:sldId id="293" r:id="rId10"/>
    <p:sldId id="288" r:id="rId11"/>
    <p:sldId id="298" r:id="rId12"/>
    <p:sldId id="291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0D25"/>
    <a:srgbClr val="000066"/>
    <a:srgbClr val="001E54"/>
    <a:srgbClr val="C8D5FF"/>
    <a:srgbClr val="00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24" autoAdjust="0"/>
    <p:restoredTop sz="91273" autoAdjust="0"/>
  </p:normalViewPr>
  <p:slideViewPr>
    <p:cSldViewPr snapToGrid="0" snapToObjects="1">
      <p:cViewPr varScale="1">
        <p:scale>
          <a:sx n="146" d="100"/>
          <a:sy n="146" d="100"/>
        </p:scale>
        <p:origin x="85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90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5877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97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1A9C-FC98-3A78-5374-58F8EFBD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052205" cy="409575"/>
          </a:xfrm>
        </p:spPr>
        <p:txBody>
          <a:bodyPr>
            <a:normAutofit/>
          </a:bodyPr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E25A48-D972-99C6-6D45-5547084FB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67018"/>
            <a:ext cx="2057400" cy="140195"/>
          </a:xfrm>
        </p:spPr>
        <p:txBody>
          <a:bodyPr/>
          <a:lstStyle>
            <a:lvl1pPr algn="ctr">
              <a:defRPr/>
            </a:lvl1pPr>
          </a:lstStyle>
          <a:p>
            <a:pPr algn="ctr"/>
            <a:fld id="{0C4C3D73-DF24-43D6-9730-D1B53762B53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B92EF4B3-6A60-92A0-F8BB-FBE8CC1887FB}"/>
              </a:ext>
            </a:extLst>
          </p:cNvPr>
          <p:cNvCxnSpPr/>
          <p:nvPr userDrawn="1"/>
        </p:nvCxnSpPr>
        <p:spPr>
          <a:xfrm>
            <a:off x="185966" y="181427"/>
            <a:ext cx="0" cy="35560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D397C1-0FFF-9070-F7FD-C37D52E87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  <a:prstGeom prst="rect">
            <a:avLst/>
          </a:prstGeom>
        </p:spPr>
        <p:txBody>
          <a:bodyPr/>
          <a:lstStyle>
            <a:lvl1pPr>
              <a:lnSpc>
                <a:spcPct val="120000"/>
              </a:lnSpc>
              <a:buFont typeface="Wingdings" panose="05000000000000000000" pitchFamily="2" charset="2"/>
              <a:buChar char="ü"/>
              <a:defRPr sz="1600" b="1">
                <a:latin typeface="+mn-ea"/>
                <a:ea typeface="+mn-ea"/>
              </a:defRPr>
            </a:lvl1pPr>
            <a:lvl2pPr marL="432000">
              <a:lnSpc>
                <a:spcPct val="120000"/>
              </a:lnSpc>
              <a:buFont typeface="Wingdings" panose="05000000000000000000" pitchFamily="2" charset="2"/>
              <a:buChar char="l"/>
              <a:defRPr sz="1200">
                <a:latin typeface="+mn-ea"/>
                <a:ea typeface="+mn-ea"/>
              </a:defRPr>
            </a:lvl2pPr>
            <a:lvl3pPr marL="532800" indent="-115200">
              <a:buFont typeface="Wingdings" panose="05000000000000000000" pitchFamily="2" charset="2"/>
              <a:buChar char="§"/>
              <a:defRPr sz="1050"/>
            </a:lvl3pPr>
            <a:lvl4pPr marL="864000">
              <a:defRPr sz="700"/>
            </a:lvl4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43053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D060EF7-7470-FB9E-1EFC-ED23C2A1915B}"/>
              </a:ext>
            </a:extLst>
          </p:cNvPr>
          <p:cNvSpPr/>
          <p:nvPr userDrawn="1"/>
        </p:nvSpPr>
        <p:spPr>
          <a:xfrm>
            <a:off x="0" y="0"/>
            <a:ext cx="9144000" cy="17318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C22F-BB9B-1FC0-9201-972B6F576BF7}"/>
              </a:ext>
            </a:extLst>
          </p:cNvPr>
          <p:cNvSpPr/>
          <p:nvPr userDrawn="1"/>
        </p:nvSpPr>
        <p:spPr>
          <a:xfrm>
            <a:off x="0" y="2958021"/>
            <a:ext cx="9144000" cy="2185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E868DCA2-18CB-49A6-B959-E3CD6EE23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8009" y="1945409"/>
            <a:ext cx="5162145" cy="799019"/>
          </a:xfrm>
          <a:solidFill>
            <a:srgbClr val="000D25">
              <a:alpha val="47843"/>
            </a:srgbClr>
          </a:solidFill>
          <a:ln>
            <a:noFill/>
          </a:ln>
        </p:spPr>
        <p:txBody>
          <a:bodyPr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961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D20ECF5-690A-4355-800C-90DC9036C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5962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4C767-C6BE-FE36-F8D3-4ABE64605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C3D73-DF24-43D6-9730-D1B53762B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039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66" r:id="rId3"/>
    <p:sldLayoutId id="2147483665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006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tee.readthedocs.io/en/latest/architecture/globalplatform_api.html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Word_Document1.docx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F6EB-EBE1-66F6-C5B2-6AF4E236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B79A5-C062-2550-8864-5DD1D5D94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요구사항 분석</a:t>
            </a:r>
          </a:p>
        </p:txBody>
      </p:sp>
    </p:spTree>
    <p:extLst>
      <p:ext uri="{BB962C8B-B14F-4D97-AF65-F5344CB8AC3E}">
        <p14:creationId xmlns:p14="http://schemas.microsoft.com/office/powerpoint/2010/main" val="733430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F73E8A-5FF4-D1CB-F742-934177095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타사 현황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F0EF36E-84A3-D22B-C69A-65D002FC0C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675284"/>
              </p:ext>
            </p:extLst>
          </p:nvPr>
        </p:nvGraphicFramePr>
        <p:xfrm>
          <a:off x="300532" y="749297"/>
          <a:ext cx="8519912" cy="3787651"/>
        </p:xfrm>
        <a:graphic>
          <a:graphicData uri="http://schemas.openxmlformats.org/drawingml/2006/table">
            <a:tbl>
              <a:tblPr/>
              <a:tblGrid>
                <a:gridCol w="972594">
                  <a:extLst>
                    <a:ext uri="{9D8B030D-6E8A-4147-A177-3AD203B41FA5}">
                      <a16:colId xmlns:a16="http://schemas.microsoft.com/office/drawing/2014/main" val="2848902809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153074573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64038947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151439181"/>
                    </a:ext>
                  </a:extLst>
                </a:gridCol>
                <a:gridCol w="2693964">
                  <a:extLst>
                    <a:ext uri="{9D8B030D-6E8A-4147-A177-3AD203B41FA5}">
                      <a16:colId xmlns:a16="http://schemas.microsoft.com/office/drawing/2014/main" val="3238966100"/>
                    </a:ext>
                  </a:extLst>
                </a:gridCol>
              </a:tblGrid>
              <a:tr h="530863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제조사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로봇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 IoT</a:t>
                      </a:r>
                    </a:p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SoC 제품군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Host 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Secure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GP 관련 핵심 보안 기술 / 인증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07507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Robotics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Platform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(RB5, RB3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 Linux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(Ubuntu 기반)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QTEE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(Qualcomm TEE)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협회 핵심 회원사로 활동 및 표준 지원 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16703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NXP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i.MX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(i.MX 8, i.MX 9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Embedded Linux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/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Proprietary TEE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SESIP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전단계 인증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896755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TI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AM6x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endParaRPr lang="en-US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Processor SDK Linux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PSA Certified 체계 및 SESIP 요구사항을 칩 설계 단계부터 반영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835409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Nvidia</a:t>
                      </a:r>
                      <a:endParaRPr lang="ko-KR" altLang="en-US" sz="11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Jetson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(Orin, Xavier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Ubuntu Linux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하드웨어 RoT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(Root of Trust) 및 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제공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0678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FCCF4A-0602-0B2E-883F-4681329571C0}"/>
              </a:ext>
            </a:extLst>
          </p:cNvPr>
          <p:cNvSpPr txBox="1"/>
          <p:nvPr/>
        </p:nvSpPr>
        <p:spPr>
          <a:xfrm>
            <a:off x="6184903" y="2600864"/>
            <a:ext cx="24174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SESIP</a:t>
            </a:r>
            <a:r>
              <a:rPr lang="ko-KR" altLang="en-US" sz="800" dirty="0">
                <a:solidFill>
                  <a:srgbClr val="0000FF"/>
                </a:solidFill>
              </a:rPr>
              <a:t>인증</a:t>
            </a:r>
            <a:r>
              <a:rPr lang="en-US" altLang="ko-KR" sz="800" dirty="0">
                <a:solidFill>
                  <a:srgbClr val="0000FF"/>
                </a:solidFill>
              </a:rPr>
              <a:t>: </a:t>
            </a:r>
            <a:r>
              <a:rPr lang="ko-KR" altLang="ko-KR" sz="800" dirty="0">
                <a:solidFill>
                  <a:srgbClr val="0000FF"/>
                </a:solidFill>
              </a:rPr>
              <a:t>GlobalPlatform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협회가 주관하는 </a:t>
            </a:r>
            <a:r>
              <a:rPr lang="en-US" altLang="ko-KR" sz="800" dirty="0">
                <a:solidFill>
                  <a:srgbClr val="0000FF"/>
                </a:solidFill>
              </a:rPr>
              <a:t>IoT</a:t>
            </a:r>
            <a:r>
              <a:rPr lang="ko-KR" altLang="en-US" sz="800" dirty="0">
                <a:solidFill>
                  <a:srgbClr val="0000FF"/>
                </a:solidFill>
              </a:rPr>
              <a:t>플랫폼 보안 </a:t>
            </a:r>
            <a:r>
              <a:rPr lang="ko-KR" altLang="en-US" sz="800" b="1" dirty="0">
                <a:solidFill>
                  <a:srgbClr val="0000FF"/>
                </a:solidFill>
              </a:rPr>
              <a:t>평가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8FF4B-8914-4AA4-EC2D-C09F5B8DBD00}"/>
              </a:ext>
            </a:extLst>
          </p:cNvPr>
          <p:cNvSpPr txBox="1"/>
          <p:nvPr/>
        </p:nvSpPr>
        <p:spPr>
          <a:xfrm>
            <a:off x="6184903" y="3429016"/>
            <a:ext cx="20657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PSA Certified: </a:t>
            </a:r>
            <a:r>
              <a:rPr lang="ko-KR" altLang="ko-KR" sz="800" dirty="0" err="1">
                <a:solidFill>
                  <a:srgbClr val="0000FF"/>
                </a:solidFill>
              </a:rPr>
              <a:t>GP로</a:t>
            </a:r>
            <a:r>
              <a:rPr lang="ko-KR" altLang="ko-KR" sz="800" dirty="0">
                <a:solidFill>
                  <a:srgbClr val="0000FF"/>
                </a:solidFill>
              </a:rPr>
              <a:t> 거버넌스가 이관된 글로벌 </a:t>
            </a:r>
            <a:r>
              <a:rPr lang="ko-KR" altLang="ko-KR" sz="800" b="1" dirty="0">
                <a:solidFill>
                  <a:srgbClr val="0000FF"/>
                </a:solidFill>
              </a:rPr>
              <a:t>보안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17D8A4-68B7-8695-3D52-E61AB3984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896" y="1368761"/>
            <a:ext cx="739559" cy="60703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1C4129A-3E56-85D7-4D5D-883A3BB5A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806" y="2221378"/>
            <a:ext cx="624589" cy="5901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7047864-2BD0-9E73-F8C9-4E4241634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187" y="3010244"/>
            <a:ext cx="603825" cy="6118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5E1E02-41D6-E5AF-CF0D-CFD887436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533" y="3794902"/>
            <a:ext cx="624479" cy="6070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52661C-859B-9166-0DB4-51E3CA74C963}"/>
              </a:ext>
            </a:extLst>
          </p:cNvPr>
          <p:cNvSpPr txBox="1"/>
          <p:nvPr/>
        </p:nvSpPr>
        <p:spPr>
          <a:xfrm>
            <a:off x="2544896" y="1933163"/>
            <a:ext cx="12426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ko-KR" sz="800" dirty="0">
                <a:solidFill>
                  <a:srgbClr val="0000FF"/>
                </a:solidFill>
              </a:rPr>
              <a:t>RB3 </a:t>
            </a:r>
            <a:r>
              <a:rPr lang="ko-KR" altLang="ko-KR" sz="800" dirty="0" err="1">
                <a:solidFill>
                  <a:srgbClr val="0000FF"/>
                </a:solidFill>
              </a:rPr>
              <a:t>Gen</a:t>
            </a:r>
            <a:r>
              <a:rPr lang="ko-KR" altLang="ko-KR" sz="800" dirty="0">
                <a:solidFill>
                  <a:srgbClr val="0000FF"/>
                </a:solidFill>
              </a:rPr>
              <a:t> 2 개발 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1BAEF-ECB2-2AA7-733B-B2FFED2E3537}"/>
              </a:ext>
            </a:extLst>
          </p:cNvPr>
          <p:cNvSpPr txBox="1"/>
          <p:nvPr/>
        </p:nvSpPr>
        <p:spPr>
          <a:xfrm>
            <a:off x="2622533" y="4359303"/>
            <a:ext cx="1481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Jetson AGX Orin </a:t>
            </a:r>
            <a:r>
              <a:rPr lang="ko-KR" altLang="en-US" sz="800" dirty="0">
                <a:solidFill>
                  <a:srgbClr val="0000FF"/>
                </a:solidFill>
              </a:rPr>
              <a:t>개발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BE53B2-87BE-D7BB-AA15-28DF50D84671}"/>
              </a:ext>
            </a:extLst>
          </p:cNvPr>
          <p:cNvSpPr txBox="1"/>
          <p:nvPr/>
        </p:nvSpPr>
        <p:spPr>
          <a:xfrm>
            <a:off x="5120280" y="166913"/>
            <a:ext cx="34821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OP-TEE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는 </a:t>
            </a:r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GlobalPlatform 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표준을 지원함</a:t>
            </a:r>
            <a:endParaRPr lang="en-US" altLang="ko-KR" sz="600" b="1" dirty="0">
              <a:solidFill>
                <a:srgbClr val="0000FF"/>
              </a:solidFill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sz="600" b="1" dirty="0">
                <a:solidFill>
                  <a:srgbClr val="0000FF"/>
                </a:solidFill>
                <a:hlinkClick r:id="rId6"/>
              </a:rPr>
              <a:t>https://optee.readthedocs.io/en/latest/architecture/globalplatform_api.html</a:t>
            </a:r>
            <a:endParaRPr lang="en-US" altLang="ko-KR" sz="600" b="1" dirty="0">
              <a:solidFill>
                <a:srgbClr val="0000FF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600" b="1" dirty="0">
                <a:solidFill>
                  <a:srgbClr val="0000FF"/>
                </a:solidFill>
              </a:rPr>
              <a:t>OP-TEE has support for GlobalPlatform TEE Client API Specification v1.0 (GPD_SPE_007) plus Errata and Precisions 2.0 (GPD_EPR_028) and TEE Internal Core API Specification v1.3.1 (GPD_SPE_010).</a:t>
            </a:r>
          </a:p>
        </p:txBody>
      </p:sp>
    </p:spTree>
    <p:extLst>
      <p:ext uri="{BB962C8B-B14F-4D97-AF65-F5344CB8AC3E}">
        <p14:creationId xmlns:p14="http://schemas.microsoft.com/office/powerpoint/2010/main" val="36235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03B24CFC-9B6E-FF0E-BD91-0CBE11F0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072" y="1120279"/>
            <a:ext cx="5608509" cy="3856308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3463EB85-C284-ADC6-CF58-D81C11E89C7A}"/>
              </a:ext>
            </a:extLst>
          </p:cNvPr>
          <p:cNvGrpSpPr/>
          <p:nvPr/>
        </p:nvGrpSpPr>
        <p:grpSpPr>
          <a:xfrm>
            <a:off x="384597" y="1845321"/>
            <a:ext cx="2201594" cy="2436056"/>
            <a:chOff x="633046" y="1209330"/>
            <a:chExt cx="2286000" cy="2436056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04DFC57A-7D41-08F2-469D-8D9F00CDB642}"/>
                </a:ext>
              </a:extLst>
            </p:cNvPr>
            <p:cNvSpPr/>
            <p:nvPr/>
          </p:nvSpPr>
          <p:spPr>
            <a:xfrm>
              <a:off x="633046" y="1336432"/>
              <a:ext cx="2286000" cy="2308954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0B2636-9DCF-6F4F-684D-F606677E57C7}"/>
                </a:ext>
              </a:extLst>
            </p:cNvPr>
            <p:cNvSpPr txBox="1"/>
            <p:nvPr/>
          </p:nvSpPr>
          <p:spPr>
            <a:xfrm>
              <a:off x="950934" y="1209330"/>
              <a:ext cx="1650223" cy="338554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b="1" dirty="0">
                  <a:solidFill>
                    <a:schemeClr val="tx1"/>
                  </a:solidFill>
                </a:rPr>
                <a:t>고객 요구 사항</a:t>
              </a: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C9E4C256-CC7C-E30A-4343-664E0714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523955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Vision AI </a:t>
            </a:r>
            <a:r>
              <a:rPr lang="ko-KR" altLang="en-US" dirty="0"/>
              <a:t>레퍼런스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0E9D4B-D61E-777A-3C23-8C938B5C4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409575"/>
          </a:xfrm>
        </p:spPr>
        <p:txBody>
          <a:bodyPr/>
          <a:lstStyle/>
          <a:p>
            <a:r>
              <a:rPr lang="en-US" altLang="ko-KR" dirty="0"/>
              <a:t>Framework </a:t>
            </a:r>
            <a:r>
              <a:rPr lang="ko-KR" altLang="en-US" dirty="0"/>
              <a:t>개발을 위해 고객 요구사항 반영하여 레퍼런스 시나리오를 우선 선정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88DDC79-ECBD-53F1-083A-1A61A78F4F91}"/>
              </a:ext>
            </a:extLst>
          </p:cNvPr>
          <p:cNvGrpSpPr/>
          <p:nvPr/>
        </p:nvGrpSpPr>
        <p:grpSpPr>
          <a:xfrm>
            <a:off x="622419" y="2363452"/>
            <a:ext cx="1745723" cy="1688578"/>
            <a:chOff x="870868" y="1956807"/>
            <a:chExt cx="1392583" cy="1688578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7AB86ED-DE83-C37F-0C55-D089FE7F9E57}"/>
                </a:ext>
              </a:extLst>
            </p:cNvPr>
            <p:cNvSpPr/>
            <p:nvPr/>
          </p:nvSpPr>
          <p:spPr>
            <a:xfrm>
              <a:off x="915905" y="1956807"/>
              <a:ext cx="1323295" cy="732817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1200" b="1" dirty="0"/>
                <a:t>영상</a:t>
              </a:r>
              <a:r>
                <a:rPr lang="en-US" altLang="ko-KR" sz="1200" b="1" dirty="0"/>
                <a:t>/AI/IP </a:t>
              </a:r>
              <a:r>
                <a:rPr lang="ko-KR" altLang="en-US" sz="1200" b="1" dirty="0"/>
                <a:t>자산</a:t>
              </a:r>
              <a:endParaRPr lang="en-US" altLang="ko-KR" sz="1200" b="1" dirty="0"/>
            </a:p>
            <a:p>
              <a:pPr algn="ctr">
                <a:lnSpc>
                  <a:spcPct val="150000"/>
                </a:lnSpc>
              </a:pPr>
              <a:r>
                <a:rPr lang="ko-KR" altLang="en-US" sz="1200" b="1" dirty="0"/>
                <a:t>보호 솔루션 필요</a:t>
              </a:r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DC39872B-1A21-58F9-36AE-24851A86EEF9}"/>
                </a:ext>
              </a:extLst>
            </p:cNvPr>
            <p:cNvSpPr/>
            <p:nvPr/>
          </p:nvSpPr>
          <p:spPr>
            <a:xfrm>
              <a:off x="870868" y="2870867"/>
              <a:ext cx="1392583" cy="774518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US" altLang="ko-KR" sz="1200" b="1" dirty="0"/>
                <a:t>GlobalPlatform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1200" b="1" dirty="0"/>
                <a:t>표준 규격 준수 필요</a:t>
              </a:r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DF82A223-4EB3-E080-9357-E119B0AAE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180190" y="2779575"/>
            <a:ext cx="1659113" cy="6946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7458940-30C7-4555-E0F6-7464B7CE0F32}"/>
              </a:ext>
            </a:extLst>
          </p:cNvPr>
          <p:cNvSpPr txBox="1"/>
          <p:nvPr/>
        </p:nvSpPr>
        <p:spPr>
          <a:xfrm>
            <a:off x="5444197" y="2499606"/>
            <a:ext cx="8451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800" b="1" dirty="0">
                <a:solidFill>
                  <a:srgbClr val="0000FF"/>
                </a:solidFill>
              </a:rPr>
              <a:t>영상 자산 보호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B5985B-8EFD-4044-8814-F77D1FBFB179}"/>
              </a:ext>
            </a:extLst>
          </p:cNvPr>
          <p:cNvSpPr txBox="1"/>
          <p:nvPr/>
        </p:nvSpPr>
        <p:spPr>
          <a:xfrm>
            <a:off x="6506308" y="3297626"/>
            <a:ext cx="7296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AI</a:t>
            </a:r>
            <a:r>
              <a:rPr lang="ko-KR" altLang="en-US" sz="800" b="1" dirty="0">
                <a:solidFill>
                  <a:srgbClr val="0000FF"/>
                </a:solidFill>
              </a:rPr>
              <a:t> 자산 보호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E67523-2775-647C-0BBC-A6629BDD48A2}"/>
              </a:ext>
            </a:extLst>
          </p:cNvPr>
          <p:cNvSpPr txBox="1"/>
          <p:nvPr/>
        </p:nvSpPr>
        <p:spPr>
          <a:xfrm>
            <a:off x="4487894" y="3915499"/>
            <a:ext cx="15183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GlobalPlatform </a:t>
            </a:r>
            <a:r>
              <a:rPr lang="ko-KR" altLang="en-US" sz="800" b="1" dirty="0">
                <a:solidFill>
                  <a:srgbClr val="0000FF"/>
                </a:solidFill>
              </a:rPr>
              <a:t>표준 규격 준수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6302-384D-A1FD-EB30-8F0D1D10EDF9}"/>
              </a:ext>
            </a:extLst>
          </p:cNvPr>
          <p:cNvSpPr txBox="1"/>
          <p:nvPr/>
        </p:nvSpPr>
        <p:spPr>
          <a:xfrm>
            <a:off x="5760720" y="1395848"/>
            <a:ext cx="204414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pitchFamily="2" charset="2"/>
              <a:buChar char="v"/>
            </a:pPr>
            <a:r>
              <a:rPr lang="ko-KR" altLang="en-US" sz="600" b="1" dirty="0">
                <a:solidFill>
                  <a:srgbClr val="0000FF"/>
                </a:solidFill>
              </a:rPr>
              <a:t>가정 </a:t>
            </a:r>
            <a:r>
              <a:rPr lang="en-US" altLang="ko-KR" sz="600" b="1" dirty="0">
                <a:solidFill>
                  <a:srgbClr val="0000FF"/>
                </a:solidFill>
              </a:rPr>
              <a:t>: Camera Service</a:t>
            </a:r>
            <a:r>
              <a:rPr lang="ko-KR" altLang="en-US" sz="600" b="1" dirty="0">
                <a:solidFill>
                  <a:srgbClr val="0000FF"/>
                </a:solidFill>
              </a:rPr>
              <a:t>와 </a:t>
            </a:r>
            <a:r>
              <a:rPr lang="en-US" altLang="ko-KR" sz="600" b="1" dirty="0">
                <a:solidFill>
                  <a:srgbClr val="0000FF"/>
                </a:solidFill>
              </a:rPr>
              <a:t>AI Service  </a:t>
            </a:r>
            <a:r>
              <a:rPr lang="ko-KR" altLang="en-US" sz="600" b="1" dirty="0">
                <a:solidFill>
                  <a:srgbClr val="0000FF"/>
                </a:solidFill>
              </a:rPr>
              <a:t>개발팀이 다르다</a:t>
            </a:r>
          </a:p>
        </p:txBody>
      </p:sp>
    </p:spTree>
    <p:extLst>
      <p:ext uri="{BB962C8B-B14F-4D97-AF65-F5344CB8AC3E}">
        <p14:creationId xmlns:p14="http://schemas.microsoft.com/office/powerpoint/2010/main" val="384940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044D-DFA0-365F-66D1-BD60C555D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246EB-53B4-2300-FCF2-A4E7AFDE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Voice Of Stakeholder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5F2A575-F1CB-7685-EE31-212DAE21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75298"/>
              </p:ext>
            </p:extLst>
          </p:nvPr>
        </p:nvGraphicFramePr>
        <p:xfrm>
          <a:off x="411058" y="745756"/>
          <a:ext cx="8036591" cy="3995062"/>
        </p:xfrm>
        <a:graphic>
          <a:graphicData uri="http://schemas.openxmlformats.org/drawingml/2006/table">
            <a:tbl>
              <a:tblPr/>
              <a:tblGrid>
                <a:gridCol w="1263789">
                  <a:extLst>
                    <a:ext uri="{9D8B030D-6E8A-4147-A177-3AD203B41FA5}">
                      <a16:colId xmlns:a16="http://schemas.microsoft.com/office/drawing/2014/main" val="3594864705"/>
                    </a:ext>
                  </a:extLst>
                </a:gridCol>
                <a:gridCol w="2427308">
                  <a:extLst>
                    <a:ext uri="{9D8B030D-6E8A-4147-A177-3AD203B41FA5}">
                      <a16:colId xmlns:a16="http://schemas.microsoft.com/office/drawing/2014/main" val="985975414"/>
                    </a:ext>
                  </a:extLst>
                </a:gridCol>
                <a:gridCol w="4345494">
                  <a:extLst>
                    <a:ext uri="{9D8B030D-6E8A-4147-A177-3AD203B41FA5}">
                      <a16:colId xmlns:a16="http://schemas.microsoft.com/office/drawing/2014/main" val="4171208268"/>
                    </a:ext>
                  </a:extLst>
                </a:gridCol>
              </a:tblGrid>
              <a:tr h="1913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Stakeholder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747901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시에도 영상/모델/추론 데이터가 노출되지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73767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가속을 보안 기능과 일반 기능이 함께 사용해야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00328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Android 의존 없이 Yocto/Ubuntu 기반 Linux에서 동작해야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5083432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 기능의 전력/메모리 오버헤드는 탑재 가능 수준이어야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05000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보안 시나리오를 Framework 수정 없이 수용해야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6907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과제 PM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2026-1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까지 제한된 인력으로 E2E 데모를 완료해야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335037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Camera와 Secure AI 도메인은 독립적으로 동시 운용되어야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11609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설계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사용 중 DMA 격리와 잔류 데이터 소거가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509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데이터 전달은 노출 없이 빠르게 이뤄져야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627050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Hypervisor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포팅된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pKVM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(EL2)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TCB는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작게 유지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0220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(SRCX, Secure OS 이식)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OS 이식 인터페이스가 안정적으로 정의되어야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84636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(기존 TrustZone 공존)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기존 TrustZone TEE 기능과 SMC 경로가 유지되어야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15433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검증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 격리 유지 여부를 객관적으로 검증할 수 있어야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94116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앱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API는 비보안 전문가도 사용할 만큼 단순해야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49594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개인정보/규제 대응을 위한 기술적 격리 증빙이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7615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장애가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Host와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pVM에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전파되지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90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460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6B373A-A742-A37C-C8FA-E9B0595E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유즈케이스</a:t>
            </a:r>
            <a:r>
              <a:rPr lang="ko-KR" altLang="en-US" dirty="0"/>
              <a:t> 도출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C96B8-1E0C-49D6-8210-3C5382D119F7}"/>
              </a:ext>
            </a:extLst>
          </p:cNvPr>
          <p:cNvSpPr txBox="1"/>
          <p:nvPr/>
        </p:nvSpPr>
        <p:spPr>
          <a:xfrm>
            <a:off x="5902417" y="3363913"/>
            <a:ext cx="15183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050" dirty="0"/>
              <a:t>&lt; </a:t>
            </a:r>
            <a:r>
              <a:rPr lang="ko-KR" altLang="en-US" sz="1050" dirty="0" err="1"/>
              <a:t>유즈케이스</a:t>
            </a:r>
            <a:r>
              <a:rPr lang="en-US" altLang="ko-KR" sz="1050" dirty="0"/>
              <a:t>  </a:t>
            </a:r>
            <a:r>
              <a:rPr lang="ko-KR" altLang="en-US" sz="1050" dirty="0"/>
              <a:t>명세서</a:t>
            </a:r>
            <a:r>
              <a:rPr lang="en-US" altLang="ko-KR" sz="1050" dirty="0"/>
              <a:t>&gt; </a:t>
            </a:r>
            <a:endParaRPr lang="ko-KR" altLang="en-US" sz="105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8ED02F2-2096-70BF-2581-F4037779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543926"/>
          </a:xfrm>
        </p:spPr>
        <p:txBody>
          <a:bodyPr/>
          <a:lstStyle/>
          <a:p>
            <a:r>
              <a:rPr lang="ko-KR" altLang="en-US" dirty="0" err="1"/>
              <a:t>유즈케이스를</a:t>
            </a:r>
            <a:r>
              <a:rPr lang="ko-KR" altLang="en-US" dirty="0"/>
              <a:t> 통해 기능 요구사항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1AF7896-6868-5DD1-4FBC-3F8902725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4" y="1519309"/>
            <a:ext cx="3654680" cy="3089617"/>
          </a:xfrm>
          <a:prstGeom prst="rect">
            <a:avLst/>
          </a:prstGeom>
        </p:spPr>
      </p:pic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C46D0A4F-083C-C9A4-5139-06C9CD4DDF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6668240"/>
              </p:ext>
            </p:extLst>
          </p:nvPr>
        </p:nvGraphicFramePr>
        <p:xfrm>
          <a:off x="6204399" y="2271954"/>
          <a:ext cx="9144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3" imgW="914400" imgH="792431" progId="Word.Document.12">
                  <p:embed/>
                </p:oleObj>
              </mc:Choice>
              <mc:Fallback>
                <p:oleObj name="Document" showAsIcon="1" r:id="rId3" imgW="914400" imgH="79243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204399" y="2271954"/>
                        <a:ext cx="914400" cy="792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8105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DF490-8EB9-3E6B-8734-CCC05A242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657598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Utility Tree</a:t>
            </a:r>
            <a:endParaRPr lang="ko-KR" altLang="en-US" dirty="0"/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6C8564C9-FE02-F29C-2344-B61D28AEBC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1765947"/>
              </p:ext>
            </p:extLst>
          </p:nvPr>
        </p:nvGraphicFramePr>
        <p:xfrm>
          <a:off x="6774651" y="1526296"/>
          <a:ext cx="1587783" cy="2090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6553418" imgH="8628090" progId="Word.Document.12">
                  <p:embed/>
                </p:oleObj>
              </mc:Choice>
              <mc:Fallback>
                <p:oleObj name="Document" r:id="rId2" imgW="6553418" imgH="862809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774651" y="1526296"/>
                        <a:ext cx="1587783" cy="20909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2F5BF3-2473-53AE-7000-BA9D16F46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Utility Tree</a:t>
            </a:r>
            <a:r>
              <a:rPr lang="ko-KR" altLang="en-US" dirty="0"/>
              <a:t>를 이용하여 품질 속성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7741D25-8B78-0443-815F-1449DFD4F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434" y="1717716"/>
            <a:ext cx="4861508" cy="186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ECBA3-27F1-C107-F5A7-A77A5F409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속성 평가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4F1CE17-A47C-D24C-E62E-E113DF98A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71960"/>
              </p:ext>
            </p:extLst>
          </p:nvPr>
        </p:nvGraphicFramePr>
        <p:xfrm>
          <a:off x="523396" y="848366"/>
          <a:ext cx="7758832" cy="34467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3">
                  <a:extLst>
                    <a:ext uri="{9D8B030D-6E8A-4147-A177-3AD203B41FA5}">
                      <a16:colId xmlns:a16="http://schemas.microsoft.com/office/drawing/2014/main" val="421462267"/>
                    </a:ext>
                  </a:extLst>
                </a:gridCol>
                <a:gridCol w="5192009">
                  <a:extLst>
                    <a:ext uri="{9D8B030D-6E8A-4147-A177-3AD203B41FA5}">
                      <a16:colId xmlns:a16="http://schemas.microsoft.com/office/drawing/2014/main" val="192891183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1874532877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868964725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226572675"/>
                    </a:ext>
                  </a:extLst>
                </a:gridCol>
              </a:tblGrid>
              <a:tr h="3060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품질 속성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중요도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난이도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우선순위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46914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(반환 시간)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카메라 영상 입력부터 Host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Application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)이 목표 시간을 만족해야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4484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&lt;=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카메라 영상 입력부터 Host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)] KPI: 10ms (720p, RGB24, AI 추론 구간 제외)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64164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(메모리 사용량)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다중 시나리오가 운용 중일 때 사용되는 메모리 사용량을 가능한 낮게 유지해야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323893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다중 시나리오에 사용되는 총 메모리 크기.] KPI: 낮을수록 좋음 (시나리오에 따라 사용량이 다름으로 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15625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신뢰성 (고장 회피)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결함 테스트에서 시스템에서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Critical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고장이 발생되면 안된다.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36181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고장으로 이어지지 않은 테스트 수, B: 전체 테스트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68476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보안성 (접근 통제)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전달되는 데이터는 시스템에 의해서 접근 통제되어야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798009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접근 통제된 기밀 데이터 항목 수, B: 접근 통제가 요구되는 기밀 데이터 항목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578885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결합도)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요구사항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추가시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모듈에 영향을 주지 않는 모듈의 비율이 최대가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03529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[X = A/B. A: 영향을 주지 않는 모듈 수, B: 전체 모듈 수] KPI: 높을수록 좋음 (상대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3323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재사용)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시나리오 추가 시 전체 자산의 100%가 재사용 가능하도록 설계/구축되어야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13501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재사용되는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80548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 (SOC 변경)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변경에 따라 변경되는 모듈이 없어야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62233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변경되는 모듈 수, B: 전체 모듈 수] KPI: 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655052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(OS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OS update에 따라 변경되는 모듈 수를 최소화하여야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68910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변경이 필요한 모듈 수,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낮을수록 좋음 (상대평가)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358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971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9FA2E-DB42-2B97-7821-FD1180FF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VOS &lt;-&gt; AD</a:t>
            </a:r>
            <a:r>
              <a:rPr lang="ko-KR" altLang="en-US" dirty="0"/>
              <a:t> </a:t>
            </a:r>
            <a:r>
              <a:rPr lang="en-US" altLang="ko-KR" dirty="0"/>
              <a:t>matrix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3068690-801D-BBFA-8081-B04EEDF3F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4371844"/>
              </p:ext>
            </p:extLst>
          </p:nvPr>
        </p:nvGraphicFramePr>
        <p:xfrm>
          <a:off x="485334" y="1139485"/>
          <a:ext cx="8269869" cy="36786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7749">
                  <a:extLst>
                    <a:ext uri="{9D8B030D-6E8A-4147-A177-3AD203B41FA5}">
                      <a16:colId xmlns:a16="http://schemas.microsoft.com/office/drawing/2014/main" val="1149177542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86676069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479597408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78581455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34786861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88975946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12983418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4551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048535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2095547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74493254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527167149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244196224"/>
                    </a:ext>
                  </a:extLst>
                </a:gridCol>
              </a:tblGrid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 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070012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05036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9344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9608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01469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07686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일정/인력 관련 프로젝트 관리 사항으로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3705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23792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47357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52191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077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45413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930589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9978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API 문서화 요구는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63733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79949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90047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242498F-14C9-59BA-FE9B-0CBA3DA33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VOS</a:t>
            </a:r>
            <a:r>
              <a:rPr lang="ko-KR" altLang="en-US" dirty="0"/>
              <a:t>가 모두 </a:t>
            </a:r>
            <a:r>
              <a:rPr lang="en-US" altLang="ko-KR" dirty="0"/>
              <a:t>AD</a:t>
            </a:r>
            <a:r>
              <a:rPr lang="ko-KR" altLang="en-US" dirty="0"/>
              <a:t>에 매칭됨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0228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EDF5D-97F0-59DF-41AC-DCB53B30D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70053-50FB-A33B-D744-708E8F3C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아키텍처 설계</a:t>
            </a:r>
          </a:p>
        </p:txBody>
      </p:sp>
    </p:spTree>
    <p:extLst>
      <p:ext uri="{BB962C8B-B14F-4D97-AF65-F5344CB8AC3E}">
        <p14:creationId xmlns:p14="http://schemas.microsoft.com/office/powerpoint/2010/main" val="3190866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D0DCF-8DE5-2F7C-82EE-1F7A5243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TCB – Trusted Computing Base</a:t>
            </a:r>
            <a:endParaRPr lang="ko-KR" altLang="en-US" dirty="0"/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3CAD032A-2C20-49FD-58BF-8B83775B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110786"/>
          </a:xfrm>
        </p:spPr>
        <p:txBody>
          <a:bodyPr/>
          <a:lstStyle/>
          <a:p>
            <a:r>
              <a:rPr lang="en-US" altLang="ko-KR" dirty="0"/>
              <a:t>TCB?</a:t>
            </a:r>
          </a:p>
          <a:p>
            <a:pPr lvl="1"/>
            <a:r>
              <a:rPr lang="ko-KR" altLang="en-US" dirty="0"/>
              <a:t>시스템의 보안 정책 집행에 책임이 있는 모든 하드웨어</a:t>
            </a:r>
            <a:r>
              <a:rPr lang="en-US" altLang="ko-KR" dirty="0"/>
              <a:t>, </a:t>
            </a:r>
            <a:r>
              <a:rPr lang="ko-KR" altLang="en-US" dirty="0"/>
              <a:t>펌웨어</a:t>
            </a:r>
            <a:r>
              <a:rPr lang="en-US" altLang="ko-KR" dirty="0"/>
              <a:t>, </a:t>
            </a:r>
            <a:r>
              <a:rPr lang="ko-KR" altLang="en-US" dirty="0"/>
              <a:t>소프트웨어 구성 요소의 총집합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경계가 작고 단순해야 함</a:t>
            </a:r>
            <a:r>
              <a:rPr lang="en-US" altLang="ko-KR" dirty="0"/>
              <a:t>. -&gt; </a:t>
            </a:r>
            <a:r>
              <a:rPr lang="ko-KR" altLang="en-US" dirty="0"/>
              <a:t>크고 복잡하면 침투 표면이 넓어짐</a:t>
            </a:r>
            <a:endParaRPr lang="en-US" altLang="ko-KR" dirty="0"/>
          </a:p>
          <a:p>
            <a:pPr lvl="1"/>
            <a:r>
              <a:rPr lang="ko-KR" altLang="en-US" dirty="0"/>
              <a:t>신뢰 경계를 넘는 모든 상호작용은 검증 대상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검증 완료 후 릴리즈되면 실행 시 항상 무결성이 보장되어야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시스템에서 </a:t>
            </a:r>
            <a:r>
              <a:rPr lang="en-US" altLang="ko-KR" dirty="0"/>
              <a:t>pKVM, pVM,</a:t>
            </a:r>
            <a:r>
              <a:rPr lang="ko-KR" altLang="en-US" dirty="0"/>
              <a:t> </a:t>
            </a:r>
            <a:r>
              <a:rPr lang="en-US" altLang="ko-KR" dirty="0"/>
              <a:t>Workload</a:t>
            </a:r>
            <a:r>
              <a:rPr lang="ko-KR" altLang="en-US" dirty="0"/>
              <a:t>는 </a:t>
            </a:r>
            <a:r>
              <a:rPr lang="en-US" altLang="ko-KR" dirty="0"/>
              <a:t>TCB</a:t>
            </a:r>
            <a:r>
              <a:rPr lang="ko-KR" altLang="en-US" dirty="0"/>
              <a:t>에 포함 </a:t>
            </a:r>
            <a:r>
              <a:rPr lang="en-US" altLang="ko-KR" dirty="0"/>
              <a:t>(</a:t>
            </a:r>
            <a:r>
              <a:rPr lang="ko-KR" altLang="en-US" dirty="0"/>
              <a:t>다음 페이지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3B73ED83-4411-3674-2DD0-48E5684C2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488" y="2892856"/>
            <a:ext cx="2760963" cy="83062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803D99AD-7F27-9BE9-C501-8D1B15DEF877}"/>
              </a:ext>
            </a:extLst>
          </p:cNvPr>
          <p:cNvGrpSpPr/>
          <p:nvPr/>
        </p:nvGrpSpPr>
        <p:grpSpPr>
          <a:xfrm>
            <a:off x="944669" y="1414644"/>
            <a:ext cx="7358400" cy="420687"/>
            <a:chOff x="944669" y="1414644"/>
            <a:chExt cx="7358400" cy="479343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92DDF79-E02E-7BA3-8B49-FDC812ED69A7}"/>
                </a:ext>
              </a:extLst>
            </p:cNvPr>
            <p:cNvSpPr/>
            <p:nvPr/>
          </p:nvSpPr>
          <p:spPr>
            <a:xfrm>
              <a:off x="944669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신뢰할 만 한 것들</a:t>
              </a: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2E62397-2629-E7B4-F154-8E82AA2F9673}"/>
                </a:ext>
              </a:extLst>
            </p:cNvPr>
            <p:cNvSpPr/>
            <p:nvPr/>
          </p:nvSpPr>
          <p:spPr>
            <a:xfrm>
              <a:off x="3519640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올바르게 동작하는 것들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D76B81D2-64C8-6D5D-2E0B-27E7ACE954AA}"/>
                </a:ext>
              </a:extLst>
            </p:cNvPr>
            <p:cNvSpPr/>
            <p:nvPr/>
          </p:nvSpPr>
          <p:spPr>
            <a:xfrm>
              <a:off x="6094611" y="1414644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검증 대상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8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67EC2-A20E-3883-1EA5-6B47C39BE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E478F-EC13-C1D2-9B9B-090B2E57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96005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Boot &amp; Loading Flow</a:t>
            </a:r>
            <a:endParaRPr lang="ko-KR" altLang="en-US" dirty="0"/>
          </a:p>
        </p:txBody>
      </p:sp>
      <p:sp>
        <p:nvSpPr>
          <p:cNvPr id="3" name="내용 개체 틀 42">
            <a:extLst>
              <a:ext uri="{FF2B5EF4-FFF2-40B4-BE49-F238E27FC236}">
                <a16:creationId xmlns:a16="http://schemas.microsoft.com/office/drawing/2014/main" id="{28E51D1F-B954-1227-2182-5705A3B70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09575"/>
          </a:xfrm>
        </p:spPr>
        <p:txBody>
          <a:bodyPr/>
          <a:lstStyle/>
          <a:p>
            <a:r>
              <a:rPr lang="en-US" altLang="ko-KR" dirty="0"/>
              <a:t>IROM</a:t>
            </a:r>
            <a:r>
              <a:rPr lang="ko-KR" altLang="en-US" dirty="0"/>
              <a:t>으로부터 </a:t>
            </a:r>
            <a:r>
              <a:rPr lang="en-US" altLang="ko-KR" dirty="0"/>
              <a:t>Workload</a:t>
            </a:r>
            <a:r>
              <a:rPr lang="ko-KR" altLang="en-US" dirty="0"/>
              <a:t>까지 무결성이 이어짐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38835-F190-7C0A-A78E-9BA8C70AED91}"/>
              </a:ext>
            </a:extLst>
          </p:cNvPr>
          <p:cNvSpPr txBox="1"/>
          <p:nvPr/>
        </p:nvSpPr>
        <p:spPr>
          <a:xfrm>
            <a:off x="4572000" y="1237463"/>
            <a:ext cx="33954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100" b="1" dirty="0">
                <a:solidFill>
                  <a:srgbClr val="0000FF"/>
                </a:solidFill>
              </a:rPr>
              <a:t>Secure OS, pKVM, pVM, Workload </a:t>
            </a:r>
            <a:r>
              <a:rPr lang="ko-KR" altLang="en-US" sz="1100" b="1" dirty="0">
                <a:solidFill>
                  <a:srgbClr val="0000FF"/>
                </a:solidFill>
              </a:rPr>
              <a:t>모두</a:t>
            </a:r>
            <a:r>
              <a:rPr lang="en-US" altLang="ko-KR" sz="1100" b="1" dirty="0">
                <a:solidFill>
                  <a:srgbClr val="0000FF"/>
                </a:solidFill>
              </a:rPr>
              <a:t> TCB</a:t>
            </a:r>
            <a:r>
              <a:rPr lang="ko-KR" altLang="en-US" sz="1100" b="1" dirty="0">
                <a:solidFill>
                  <a:srgbClr val="0000FF"/>
                </a:solidFill>
              </a:rPr>
              <a:t>에 포함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587F-FBA9-F856-65C8-89ACD45B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99073"/>
            <a:ext cx="6858000" cy="356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51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02AA8-1540-EB9E-DDFA-10027E0D4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Runtime</a:t>
            </a:r>
            <a:r>
              <a:rPr lang="ko-KR" altLang="en-US" dirty="0"/>
              <a:t>중 도메인간 침해 격리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3591921-9650-3B4D-2348-DD9AA26E4CDD}"/>
              </a:ext>
            </a:extLst>
          </p:cNvPr>
          <p:cNvSpPr/>
          <p:nvPr/>
        </p:nvSpPr>
        <p:spPr>
          <a:xfrm>
            <a:off x="2638267" y="1770540"/>
            <a:ext cx="3541110" cy="2148981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FF0000"/>
                </a:solidFill>
              </a:rPr>
              <a:t>업데이트 필요</a:t>
            </a:r>
            <a:endParaRPr lang="en-US" altLang="ko-KR" dirty="0">
              <a:solidFill>
                <a:srgbClr val="FF0000"/>
              </a:solidFill>
            </a:endParaRPr>
          </a:p>
          <a:p>
            <a:pPr algn="ctr"/>
            <a:endParaRPr lang="en-US" altLang="ko-KR" dirty="0">
              <a:solidFill>
                <a:srgbClr val="FF0000"/>
              </a:solidFill>
            </a:endParaRPr>
          </a:p>
          <a:p>
            <a:pPr algn="ctr"/>
            <a:r>
              <a:rPr lang="en-US" altLang="ko-KR" dirty="0">
                <a:solidFill>
                  <a:srgbClr val="FF0000"/>
                </a:solidFill>
              </a:rPr>
              <a:t>S2MPU Stage-2 page</a:t>
            </a:r>
            <a:r>
              <a:rPr lang="ko-KR" altLang="en-US" dirty="0">
                <a:solidFill>
                  <a:srgbClr val="FF0000"/>
                </a:solidFill>
              </a:rPr>
              <a:t>을 사용한 </a:t>
            </a:r>
            <a:r>
              <a:rPr lang="en-US" altLang="ko-KR" dirty="0">
                <a:solidFill>
                  <a:srgbClr val="FF0000"/>
                </a:solidFill>
              </a:rPr>
              <a:t>memory protection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1952FCD-A77E-2777-B0E6-599519B1C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ko-KR" altLang="ko-KR" dirty="0"/>
              <a:t>Stage-2 </a:t>
            </a:r>
            <a:r>
              <a:rPr lang="en-US" altLang="ko-KR" dirty="0"/>
              <a:t>Page Table</a:t>
            </a:r>
            <a:r>
              <a:rPr lang="ko-KR" altLang="ko-KR" dirty="0"/>
              <a:t> 소유권 엄격 통제</a:t>
            </a:r>
            <a:r>
              <a:rPr lang="en-US" altLang="ko-KR" dirty="0"/>
              <a:t> (Exclusive Ownership)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797087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600" dirty="0" smtClean="0">
            <a:solidFill>
              <a:srgbClr val="FF0000"/>
            </a:solidFill>
            <a:highlight>
              <a:srgbClr val="FFFF00"/>
            </a:highlight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5056</TotalTime>
  <Words>1253</Words>
  <Application>Microsoft Office PowerPoint</Application>
  <PresentationFormat>화면 슬라이드 쇼(16:9)</PresentationFormat>
  <Paragraphs>365</Paragraphs>
  <Slides>12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맑은 고딕</vt:lpstr>
      <vt:lpstr>Arial</vt:lpstr>
      <vt:lpstr>Calibri</vt:lpstr>
      <vt:lpstr>Segoe UI</vt:lpstr>
      <vt:lpstr>Wingdings</vt:lpstr>
      <vt:lpstr>디자인 사용자 지정</vt:lpstr>
      <vt:lpstr>Document</vt:lpstr>
      <vt:lpstr>요구사항 분석</vt:lpstr>
      <vt:lpstr>타사 현황</vt:lpstr>
      <vt:lpstr>Secure Vision AI 레퍼런스 시나리오</vt:lpstr>
      <vt:lpstr>Voice Of Stakeholder</vt:lpstr>
      <vt:lpstr>유즈케이스 도출</vt:lpstr>
      <vt:lpstr>Utility Tree</vt:lpstr>
      <vt:lpstr>품질 속성 평가</vt:lpstr>
      <vt:lpstr>VOS &lt;-&gt; AD matrix</vt:lpstr>
      <vt:lpstr>아키텍처 설계</vt:lpstr>
      <vt:lpstr>TCB – Trusted Computing Base</vt:lpstr>
      <vt:lpstr>Secure Boot &amp; Loading Flow</vt:lpstr>
      <vt:lpstr>Runtime중 도메인간 침해 격리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Boram Park</cp:lastModifiedBy>
  <cp:revision>189</cp:revision>
  <dcterms:created xsi:type="dcterms:W3CDTF">2026-06-24T10:41:37Z</dcterms:created>
  <dcterms:modified xsi:type="dcterms:W3CDTF">2026-07-19T03:46:28Z</dcterms:modified>
</cp:coreProperties>
</file>