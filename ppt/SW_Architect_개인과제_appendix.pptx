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97" r:id="rId2"/>
    <p:sldId id="296" r:id="rId3"/>
    <p:sldId id="283" r:id="rId4"/>
    <p:sldId id="284" r:id="rId5"/>
    <p:sldId id="285" r:id="rId6"/>
    <p:sldId id="286" r:id="rId7"/>
    <p:sldId id="287" r:id="rId8"/>
    <p:sldId id="288" r:id="rId9"/>
    <p:sldId id="298" r:id="rId10"/>
    <p:sldId id="301" r:id="rId11"/>
    <p:sldId id="303" r:id="rId12"/>
    <p:sldId id="302" r:id="rId13"/>
    <p:sldId id="300" r:id="rId14"/>
    <p:sldId id="304" r:id="rId15"/>
    <p:sldId id="305" r:id="rId16"/>
    <p:sldId id="30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D25"/>
    <a:srgbClr val="000066"/>
    <a:srgbClr val="001E54"/>
    <a:srgbClr val="C8D5FF"/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1273" autoAdjust="0"/>
  </p:normalViewPr>
  <p:slideViewPr>
    <p:cSldViewPr snapToGrid="0" snapToObjects="1">
      <p:cViewPr varScale="1">
        <p:scale>
          <a:sx n="146" d="100"/>
          <a:sy n="146" d="100"/>
        </p:scale>
        <p:origin x="85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90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87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69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E1A9C-FC98-3A78-5374-58F8EFBD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4052205" cy="409575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25A48-D972-99C6-6D45-5547084F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3300" y="4967018"/>
            <a:ext cx="2057400" cy="14019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0C4C3D73-DF24-43D6-9730-D1B53762B53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2EF4B3-6A60-92A0-F8BB-FBE8CC1887FB}"/>
              </a:ext>
            </a:extLst>
          </p:cNvPr>
          <p:cNvCxnSpPr/>
          <p:nvPr userDrawn="1"/>
        </p:nvCxnSpPr>
        <p:spPr>
          <a:xfrm>
            <a:off x="185966" y="181427"/>
            <a:ext cx="0" cy="35560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397C1-0FFF-9070-F7FD-C37D52E87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299847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buFont typeface="Wingdings" panose="05000000000000000000" pitchFamily="2" charset="2"/>
              <a:buChar char="ü"/>
              <a:defRPr sz="1600" b="1">
                <a:latin typeface="+mn-ea"/>
                <a:ea typeface="+mn-ea"/>
              </a:defRPr>
            </a:lvl1pPr>
            <a:lvl2pPr marL="432000">
              <a:lnSpc>
                <a:spcPct val="120000"/>
              </a:lnSpc>
              <a:buFont typeface="Wingdings" panose="05000000000000000000" pitchFamily="2" charset="2"/>
              <a:buChar char="l"/>
              <a:defRPr sz="1200">
                <a:latin typeface="+mn-ea"/>
                <a:ea typeface="+mn-ea"/>
              </a:defRPr>
            </a:lvl2pPr>
            <a:lvl3pPr marL="532800" indent="-115200">
              <a:buFont typeface="Wingdings" panose="05000000000000000000" pitchFamily="2" charset="2"/>
              <a:buChar char="§"/>
              <a:defRPr sz="1050"/>
            </a:lvl3pPr>
            <a:lvl4pPr marL="864000">
              <a:defRPr sz="700"/>
            </a:lvl4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4305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060EF7-7470-FB9E-1EFC-ED23C2A1915B}"/>
              </a:ext>
            </a:extLst>
          </p:cNvPr>
          <p:cNvSpPr/>
          <p:nvPr userDrawn="1"/>
        </p:nvSpPr>
        <p:spPr>
          <a:xfrm>
            <a:off x="0" y="0"/>
            <a:ext cx="9144000" cy="173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66C22F-BB9B-1FC0-9201-972B6F576BF7}"/>
              </a:ext>
            </a:extLst>
          </p:cNvPr>
          <p:cNvSpPr/>
          <p:nvPr userDrawn="1"/>
        </p:nvSpPr>
        <p:spPr>
          <a:xfrm>
            <a:off x="0" y="2958021"/>
            <a:ext cx="9144000" cy="218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E868DCA2-18CB-49A6-B959-E3CD6EE2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009" y="1945409"/>
            <a:ext cx="5162145" cy="799019"/>
          </a:xfrm>
          <a:solidFill>
            <a:srgbClr val="000D25">
              <a:alpha val="47843"/>
            </a:srgbClr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896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0ECF5-690A-4355-800C-90DC9036C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596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34C767-C6BE-FE36-F8D3-4ABE64605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C3D73-DF24-43D6-9730-D1B53762B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03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66" r:id="rId3"/>
    <p:sldLayoutId id="214748366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006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ptee.readthedocs.io/en/latest/architecture/globalplatform_api.htm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73E8A-5FF4-D1CB-F742-93417709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타사 현황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F0EF36E-84A3-D22B-C69A-65D002FC0C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0532" y="749297"/>
          <a:ext cx="8519912" cy="3787651"/>
        </p:xfrm>
        <a:graphic>
          <a:graphicData uri="http://schemas.openxmlformats.org/drawingml/2006/table">
            <a:tbl>
              <a:tblPr/>
              <a:tblGrid>
                <a:gridCol w="972594">
                  <a:extLst>
                    <a:ext uri="{9D8B030D-6E8A-4147-A177-3AD203B41FA5}">
                      <a16:colId xmlns:a16="http://schemas.microsoft.com/office/drawing/2014/main" val="2848902809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53074573"/>
                    </a:ext>
                  </a:extLst>
                </a:gridCol>
                <a:gridCol w="1329397">
                  <a:extLst>
                    <a:ext uri="{9D8B030D-6E8A-4147-A177-3AD203B41FA5}">
                      <a16:colId xmlns:a16="http://schemas.microsoft.com/office/drawing/2014/main" val="364038947"/>
                    </a:ext>
                  </a:extLst>
                </a:gridCol>
                <a:gridCol w="1329397">
                  <a:extLst>
                    <a:ext uri="{9D8B030D-6E8A-4147-A177-3AD203B41FA5}">
                      <a16:colId xmlns:a16="http://schemas.microsoft.com/office/drawing/2014/main" val="3151439181"/>
                    </a:ext>
                  </a:extLst>
                </a:gridCol>
                <a:gridCol w="2693964">
                  <a:extLst>
                    <a:ext uri="{9D8B030D-6E8A-4147-A177-3AD203B41FA5}">
                      <a16:colId xmlns:a16="http://schemas.microsoft.com/office/drawing/2014/main" val="3238966100"/>
                    </a:ext>
                  </a:extLst>
                </a:gridCol>
              </a:tblGrid>
              <a:tr h="53086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로봇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IoT</a:t>
                      </a:r>
                    </a:p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SoC 제품군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Host OS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Secure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GP 관련 핵심 보안 기술 / 인증</a:t>
                      </a:r>
                      <a:endParaRPr lang="ko-KR" sz="11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07507"/>
                  </a:ext>
                </a:extLst>
              </a:tr>
              <a:tr h="81419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Qualcomm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Robotics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Platform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(RB5, RB3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Qualcomm Linux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(Ubuntu 기반)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QTEE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(Qualcomm TEE)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협회 핵심 회원사로 활동 및 표준 지원 </a:t>
                      </a:r>
                      <a:endParaRPr lang="ko-KR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16703"/>
                  </a:ext>
                </a:extLst>
              </a:tr>
              <a:tr h="81419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NXP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i.MX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시리즈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(i.MX 8, i.MX 9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Embedded Linux</a:t>
                      </a:r>
                      <a:endParaRPr lang="ko-KR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OP-TEE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endParaRPr lang="ko-KR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Proprietary TEE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SESIP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전단계 인증</a:t>
                      </a:r>
                      <a:endParaRPr lang="ko-KR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896755"/>
                  </a:ext>
                </a:extLst>
              </a:tr>
              <a:tr h="81419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TI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AM6x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시리즈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Processor SDK Linux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OP-TEE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PSA Certified 체계 및 SESIP 요구사항을 칩 설계 단계부터 반영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835409"/>
                  </a:ext>
                </a:extLst>
              </a:tr>
              <a:tr h="814197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Nvidia</a:t>
                      </a:r>
                      <a:endParaRPr lang="ko-KR" altLang="en-US" sz="11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Jetson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시리즈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(Orin, Xavier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등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Ubuntu Linux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OP-TEE</a:t>
                      </a:r>
                      <a:endParaRPr lang="ko-KR" altLang="ko-KR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하드웨어 RoT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(Root of Trust) 및 TEE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제공</a:t>
                      </a:r>
                    </a:p>
                  </a:txBody>
                  <a:tcPr marL="108000" marR="108000" marT="10800" marB="1080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0678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FCCF4A-0602-0B2E-883F-4681329571C0}"/>
              </a:ext>
            </a:extLst>
          </p:cNvPr>
          <p:cNvSpPr txBox="1"/>
          <p:nvPr/>
        </p:nvSpPr>
        <p:spPr>
          <a:xfrm>
            <a:off x="6184903" y="2600864"/>
            <a:ext cx="24174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800" dirty="0">
                <a:solidFill>
                  <a:srgbClr val="0000FF"/>
                </a:solidFill>
              </a:rPr>
              <a:t>SESIP</a:t>
            </a:r>
            <a:r>
              <a:rPr lang="ko-KR" altLang="en-US" sz="800" dirty="0">
                <a:solidFill>
                  <a:srgbClr val="0000FF"/>
                </a:solidFill>
              </a:rPr>
              <a:t>인증</a:t>
            </a:r>
            <a:r>
              <a:rPr lang="en-US" altLang="ko-KR" sz="800" dirty="0">
                <a:solidFill>
                  <a:srgbClr val="0000FF"/>
                </a:solidFill>
              </a:rPr>
              <a:t>: </a:t>
            </a:r>
            <a:r>
              <a:rPr lang="ko-KR" altLang="ko-KR" sz="800" dirty="0">
                <a:solidFill>
                  <a:srgbClr val="0000FF"/>
                </a:solidFill>
              </a:rPr>
              <a:t>GlobalPlatform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협회가 주관하는 </a:t>
            </a:r>
            <a:r>
              <a:rPr lang="en-US" altLang="ko-KR" sz="800" dirty="0">
                <a:solidFill>
                  <a:srgbClr val="0000FF"/>
                </a:solidFill>
              </a:rPr>
              <a:t>IoT</a:t>
            </a:r>
            <a:r>
              <a:rPr lang="ko-KR" altLang="en-US" sz="800" dirty="0">
                <a:solidFill>
                  <a:srgbClr val="0000FF"/>
                </a:solidFill>
              </a:rPr>
              <a:t>플랫폼 보안 </a:t>
            </a:r>
            <a:r>
              <a:rPr lang="ko-KR" altLang="en-US" sz="800" b="1" dirty="0">
                <a:solidFill>
                  <a:srgbClr val="0000FF"/>
                </a:solidFill>
              </a:rPr>
              <a:t>평가 표준</a:t>
            </a:r>
            <a:endParaRPr lang="ko-KR" altLang="en-US" sz="600" b="1" dirty="0">
              <a:solidFill>
                <a:srgbClr val="0000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8FF4B-8914-4AA4-EC2D-C09F5B8DBD00}"/>
              </a:ext>
            </a:extLst>
          </p:cNvPr>
          <p:cNvSpPr txBox="1"/>
          <p:nvPr/>
        </p:nvSpPr>
        <p:spPr>
          <a:xfrm>
            <a:off x="6184903" y="3429016"/>
            <a:ext cx="2065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800" dirty="0">
                <a:solidFill>
                  <a:srgbClr val="0000FF"/>
                </a:solidFill>
              </a:rPr>
              <a:t>PSA Certified: </a:t>
            </a:r>
            <a:r>
              <a:rPr lang="ko-KR" altLang="ko-KR" sz="800" dirty="0" err="1">
                <a:solidFill>
                  <a:srgbClr val="0000FF"/>
                </a:solidFill>
              </a:rPr>
              <a:t>GP로</a:t>
            </a:r>
            <a:r>
              <a:rPr lang="ko-KR" altLang="ko-KR" sz="800" dirty="0">
                <a:solidFill>
                  <a:srgbClr val="0000FF"/>
                </a:solidFill>
              </a:rPr>
              <a:t> 거버넌스가 이관된 글로벌 </a:t>
            </a:r>
            <a:r>
              <a:rPr lang="ko-KR" altLang="ko-KR" sz="800" b="1" dirty="0">
                <a:solidFill>
                  <a:srgbClr val="0000FF"/>
                </a:solidFill>
              </a:rPr>
              <a:t>보안 표준</a:t>
            </a:r>
            <a:endParaRPr lang="ko-KR" altLang="en-US" sz="600" b="1" dirty="0">
              <a:solidFill>
                <a:srgbClr val="0000FF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17D8A4-68B7-8695-3D52-E61AB398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896" y="1368761"/>
            <a:ext cx="739559" cy="6070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C4129A-3E56-85D7-4D5D-883A3BB5A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806" y="2221378"/>
            <a:ext cx="624589" cy="5901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7047864-2BD0-9E73-F8C9-4E4241634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187" y="3010244"/>
            <a:ext cx="603825" cy="6118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5E1E02-41D6-E5AF-CF0D-CFD887436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2533" y="3794902"/>
            <a:ext cx="624479" cy="6070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52661C-859B-9166-0DB4-51E3CA74C963}"/>
              </a:ext>
            </a:extLst>
          </p:cNvPr>
          <p:cNvSpPr txBox="1"/>
          <p:nvPr/>
        </p:nvSpPr>
        <p:spPr>
          <a:xfrm>
            <a:off x="2544896" y="1933163"/>
            <a:ext cx="12426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ko-KR" sz="800" dirty="0">
                <a:solidFill>
                  <a:srgbClr val="0000FF"/>
                </a:solidFill>
              </a:rPr>
              <a:t>RB3 </a:t>
            </a:r>
            <a:r>
              <a:rPr lang="ko-KR" altLang="ko-KR" sz="800" dirty="0" err="1">
                <a:solidFill>
                  <a:srgbClr val="0000FF"/>
                </a:solidFill>
              </a:rPr>
              <a:t>Gen</a:t>
            </a:r>
            <a:r>
              <a:rPr lang="ko-KR" altLang="ko-KR" sz="800" dirty="0">
                <a:solidFill>
                  <a:srgbClr val="0000FF"/>
                </a:solidFill>
              </a:rPr>
              <a:t> 2 개발 키트</a:t>
            </a:r>
            <a:endParaRPr lang="ko-KR" altLang="en-US" sz="100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1BAEF-ECB2-2AA7-733B-B2FFED2E3537}"/>
              </a:ext>
            </a:extLst>
          </p:cNvPr>
          <p:cNvSpPr txBox="1"/>
          <p:nvPr/>
        </p:nvSpPr>
        <p:spPr>
          <a:xfrm>
            <a:off x="2622533" y="4359303"/>
            <a:ext cx="1481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800" dirty="0">
                <a:solidFill>
                  <a:srgbClr val="0000FF"/>
                </a:solidFill>
              </a:rPr>
              <a:t>Jetson AGX Orin </a:t>
            </a:r>
            <a:r>
              <a:rPr lang="ko-KR" altLang="en-US" sz="800" dirty="0">
                <a:solidFill>
                  <a:srgbClr val="0000FF"/>
                </a:solidFill>
              </a:rPr>
              <a:t>개발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키트</a:t>
            </a:r>
            <a:endParaRPr lang="ko-KR" altLang="en-US" sz="100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E53B2-87BE-D7BB-AA15-28DF50D84671}"/>
              </a:ext>
            </a:extLst>
          </p:cNvPr>
          <p:cNvSpPr txBox="1"/>
          <p:nvPr/>
        </p:nvSpPr>
        <p:spPr>
          <a:xfrm>
            <a:off x="5120280" y="166913"/>
            <a:ext cx="34821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>
                <a:solidFill>
                  <a:srgbClr val="0000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OP-TEE</a:t>
            </a:r>
            <a:r>
              <a:rPr lang="ko-KR" altLang="en-US" sz="600" b="1" dirty="0">
                <a:solidFill>
                  <a:srgbClr val="0000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는 </a:t>
            </a:r>
            <a:r>
              <a:rPr lang="en-US" altLang="ko-KR" sz="600" b="1" dirty="0">
                <a:solidFill>
                  <a:srgbClr val="0000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GlobalPlatform </a:t>
            </a:r>
            <a:r>
              <a:rPr lang="ko-KR" altLang="en-US" sz="600" b="1" dirty="0">
                <a:solidFill>
                  <a:srgbClr val="0000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표준을 지원함</a:t>
            </a:r>
            <a:endParaRPr lang="en-US" altLang="ko-KR" sz="600" b="1" dirty="0">
              <a:solidFill>
                <a:srgbClr val="0000FF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600" b="1" dirty="0">
                <a:solidFill>
                  <a:srgbClr val="0000FF"/>
                </a:solidFill>
                <a:hlinkClick r:id="rId6"/>
              </a:rPr>
              <a:t>https://optee.readthedocs.io/en/latest/architecture/globalplatform_api.html</a:t>
            </a:r>
            <a:endParaRPr lang="en-US" altLang="ko-KR" sz="600" b="1" dirty="0">
              <a:solidFill>
                <a:srgbClr val="0000FF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600" b="1" dirty="0">
                <a:solidFill>
                  <a:srgbClr val="0000FF"/>
                </a:solidFill>
              </a:rPr>
              <a:t>OP-TEE has support for GlobalPlatform TEE Client API Specification v1.0 (GPD_SPE_007) plus Errata and Precisions 2.0 (GPD_EPR_028) and TEE Internal Core API Specification v1.3.1 (GPD_SPE_010).</a:t>
            </a:r>
          </a:p>
        </p:txBody>
      </p:sp>
    </p:spTree>
    <p:extLst>
      <p:ext uri="{BB962C8B-B14F-4D97-AF65-F5344CB8AC3E}">
        <p14:creationId xmlns:p14="http://schemas.microsoft.com/office/powerpoint/2010/main" val="362359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03B24CFC-9B6E-FF0E-BD91-0CBE11F07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072" y="1120279"/>
            <a:ext cx="5608509" cy="385630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463EB85-C284-ADC6-CF58-D81C11E89C7A}"/>
              </a:ext>
            </a:extLst>
          </p:cNvPr>
          <p:cNvGrpSpPr/>
          <p:nvPr/>
        </p:nvGrpSpPr>
        <p:grpSpPr>
          <a:xfrm>
            <a:off x="384597" y="1845321"/>
            <a:ext cx="2201594" cy="2285622"/>
            <a:chOff x="633046" y="1209330"/>
            <a:chExt cx="2286000" cy="2436056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4DFC57A-7D41-08F2-469D-8D9F00CDB642}"/>
                </a:ext>
              </a:extLst>
            </p:cNvPr>
            <p:cNvSpPr/>
            <p:nvPr/>
          </p:nvSpPr>
          <p:spPr>
            <a:xfrm>
              <a:off x="633046" y="1336432"/>
              <a:ext cx="2286000" cy="2308954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0B2636-9DCF-6F4F-684D-F606677E57C7}"/>
                </a:ext>
              </a:extLst>
            </p:cNvPr>
            <p:cNvSpPr txBox="1"/>
            <p:nvPr/>
          </p:nvSpPr>
          <p:spPr>
            <a:xfrm>
              <a:off x="950934" y="1209330"/>
              <a:ext cx="1650223" cy="338554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tx1"/>
                  </a:solidFill>
                </a:rPr>
                <a:t>고객 요구 사항</a:t>
              </a: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9E4C256-CC7C-E30A-4343-664E0714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5523955" cy="409575"/>
          </a:xfrm>
        </p:spPr>
        <p:txBody>
          <a:bodyPr>
            <a:normAutofit/>
          </a:bodyPr>
          <a:lstStyle/>
          <a:p>
            <a:r>
              <a:rPr lang="en-US" altLang="ko-KR" dirty="0"/>
              <a:t>Secure Vision AI </a:t>
            </a:r>
            <a:r>
              <a:rPr lang="ko-KR" altLang="en-US" dirty="0"/>
              <a:t>레퍼런스 시나리오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0E9D4B-D61E-777A-3C23-8C938B5C4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409575"/>
          </a:xfrm>
        </p:spPr>
        <p:txBody>
          <a:bodyPr/>
          <a:lstStyle/>
          <a:p>
            <a:r>
              <a:rPr lang="en-US" altLang="ko-KR" dirty="0"/>
              <a:t>Framework </a:t>
            </a:r>
            <a:r>
              <a:rPr lang="ko-KR" altLang="en-US" dirty="0"/>
              <a:t>개발을 위해 고객 요구사항 반영하여 레퍼런스 시나리오를 우선 선정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F82A223-4EB3-E080-9357-E119B0AA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180190" y="2779575"/>
            <a:ext cx="1659113" cy="6946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7458940-30C7-4555-E0F6-7464B7CE0F32}"/>
              </a:ext>
            </a:extLst>
          </p:cNvPr>
          <p:cNvSpPr txBox="1"/>
          <p:nvPr/>
        </p:nvSpPr>
        <p:spPr>
          <a:xfrm>
            <a:off x="5444197" y="2499606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b="1" dirty="0">
                <a:solidFill>
                  <a:srgbClr val="0000FF"/>
                </a:solidFill>
              </a:rPr>
              <a:t>영상 자산 보호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B5985B-8EFD-4044-8814-F77D1FBFB179}"/>
              </a:ext>
            </a:extLst>
          </p:cNvPr>
          <p:cNvSpPr txBox="1"/>
          <p:nvPr/>
        </p:nvSpPr>
        <p:spPr>
          <a:xfrm>
            <a:off x="6506308" y="3297626"/>
            <a:ext cx="7296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b="1" dirty="0">
                <a:solidFill>
                  <a:srgbClr val="0000FF"/>
                </a:solidFill>
              </a:rPr>
              <a:t>AI</a:t>
            </a:r>
            <a:r>
              <a:rPr lang="ko-KR" altLang="en-US" sz="800" b="1" dirty="0">
                <a:solidFill>
                  <a:srgbClr val="0000FF"/>
                </a:solidFill>
              </a:rPr>
              <a:t> 자산 보호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E67523-2775-647C-0BBC-A6629BDD48A2}"/>
              </a:ext>
            </a:extLst>
          </p:cNvPr>
          <p:cNvSpPr txBox="1"/>
          <p:nvPr/>
        </p:nvSpPr>
        <p:spPr>
          <a:xfrm>
            <a:off x="4487894" y="3915499"/>
            <a:ext cx="15183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b="1" dirty="0">
                <a:solidFill>
                  <a:srgbClr val="0000FF"/>
                </a:solidFill>
              </a:rPr>
              <a:t>GlobalPlatform </a:t>
            </a:r>
            <a:r>
              <a:rPr lang="ko-KR" altLang="en-US" sz="800" b="1" dirty="0">
                <a:solidFill>
                  <a:srgbClr val="0000FF"/>
                </a:solidFill>
              </a:rPr>
              <a:t>표준 규격 준수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F6302-384D-A1FD-EB30-8F0D1D10EDF9}"/>
              </a:ext>
            </a:extLst>
          </p:cNvPr>
          <p:cNvSpPr txBox="1"/>
          <p:nvPr/>
        </p:nvSpPr>
        <p:spPr>
          <a:xfrm>
            <a:off x="5760720" y="1395848"/>
            <a:ext cx="20441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v"/>
            </a:pPr>
            <a:r>
              <a:rPr lang="ko-KR" altLang="en-US" sz="600" b="1" dirty="0">
                <a:solidFill>
                  <a:srgbClr val="0000FF"/>
                </a:solidFill>
              </a:rPr>
              <a:t>가정 </a:t>
            </a:r>
            <a:r>
              <a:rPr lang="en-US" altLang="ko-KR" sz="600" b="1" dirty="0">
                <a:solidFill>
                  <a:srgbClr val="0000FF"/>
                </a:solidFill>
              </a:rPr>
              <a:t>: Camera Service</a:t>
            </a:r>
            <a:r>
              <a:rPr lang="ko-KR" altLang="en-US" sz="600" b="1" dirty="0">
                <a:solidFill>
                  <a:srgbClr val="0000FF"/>
                </a:solidFill>
              </a:rPr>
              <a:t>와 </a:t>
            </a:r>
            <a:r>
              <a:rPr lang="en-US" altLang="ko-KR" sz="600" b="1" dirty="0">
                <a:solidFill>
                  <a:srgbClr val="0000FF"/>
                </a:solidFill>
              </a:rPr>
              <a:t>AI Service  </a:t>
            </a:r>
            <a:r>
              <a:rPr lang="ko-KR" altLang="en-US" sz="600" b="1" dirty="0">
                <a:solidFill>
                  <a:srgbClr val="0000FF"/>
                </a:solidFill>
              </a:rPr>
              <a:t>개발팀이 다르다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FA026B8-58E4-862D-1306-87B788B4A5A0}"/>
              </a:ext>
            </a:extLst>
          </p:cNvPr>
          <p:cNvSpPr/>
          <p:nvPr/>
        </p:nvSpPr>
        <p:spPr>
          <a:xfrm>
            <a:off x="1591894" y="3136486"/>
            <a:ext cx="721770" cy="67150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10800" tIns="10800" rIns="10800" bIns="10800" rtlCol="0" anchor="ctr"/>
          <a:lstStyle/>
          <a:p>
            <a:pPr algn="ctr"/>
            <a:r>
              <a:rPr lang="en-US" altLang="ko-KR" sz="800" b="1" dirty="0"/>
              <a:t>R-4. GlobalPlatform </a:t>
            </a:r>
            <a:r>
              <a:rPr lang="ko-KR" altLang="en-US" sz="800" b="1" dirty="0"/>
              <a:t>표준 규격 준수 요구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DD62AE-2D92-0481-9FA3-105081F094DD}"/>
              </a:ext>
            </a:extLst>
          </p:cNvPr>
          <p:cNvGrpSpPr/>
          <p:nvPr/>
        </p:nvGrpSpPr>
        <p:grpSpPr>
          <a:xfrm>
            <a:off x="690749" y="2282221"/>
            <a:ext cx="1622915" cy="1525774"/>
            <a:chOff x="6249526" y="2978864"/>
            <a:chExt cx="1622915" cy="2014160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16FEAA5-C410-68D4-53F7-335F9494231D}"/>
                </a:ext>
              </a:extLst>
            </p:cNvPr>
            <p:cNvSpPr/>
            <p:nvPr/>
          </p:nvSpPr>
          <p:spPr>
            <a:xfrm>
              <a:off x="6249526" y="2978864"/>
              <a:ext cx="721769" cy="79195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lIns="10800" tIns="10800" rIns="10800" bIns="10800" rtlCol="0" anchor="t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+mj-ea"/>
                </a:rPr>
                <a:t>R-1.</a:t>
              </a:r>
            </a:p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+mj-ea"/>
                </a:rPr>
                <a:t>영상</a:t>
              </a:r>
              <a:r>
                <a:rPr lang="en-US" altLang="ko-KR" sz="800" b="1" dirty="0">
                  <a:solidFill>
                    <a:schemeClr val="bg1"/>
                  </a:solidFill>
                  <a:latin typeface="+mj-ea"/>
                </a:rPr>
                <a:t>/AI/IP </a:t>
              </a:r>
              <a:r>
                <a:rPr lang="ko-KR" altLang="en-US" sz="800" b="1" dirty="0">
                  <a:solidFill>
                    <a:schemeClr val="bg1"/>
                  </a:solidFill>
                  <a:latin typeface="+mj-ea"/>
                </a:rPr>
                <a:t>자산 보호 지원 요구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BE09F-AFC1-9930-969F-8720D11C4D19}"/>
                </a:ext>
              </a:extLst>
            </p:cNvPr>
            <p:cNvSpPr/>
            <p:nvPr/>
          </p:nvSpPr>
          <p:spPr>
            <a:xfrm>
              <a:off x="7150672" y="2978864"/>
              <a:ext cx="721769" cy="79195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lIns="10800" tIns="10800" rIns="10800" bIns="10800" rtlCol="0" anchor="t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+mj-ea"/>
                </a:rPr>
                <a:t>R-2.</a:t>
              </a:r>
            </a:p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+mj-ea"/>
                </a:rPr>
                <a:t>고성능 </a:t>
              </a:r>
              <a:r>
                <a:rPr lang="en-US" altLang="ko-KR" sz="800" b="1" dirty="0">
                  <a:solidFill>
                    <a:schemeClr val="bg1"/>
                  </a:solidFill>
                  <a:latin typeface="+mj-ea"/>
                </a:rPr>
                <a:t>HW Accel </a:t>
              </a:r>
              <a:r>
                <a:rPr lang="ko-KR" altLang="en-US" sz="800" b="1" dirty="0">
                  <a:solidFill>
                    <a:schemeClr val="bg1"/>
                  </a:solidFill>
                  <a:latin typeface="+mj-ea"/>
                </a:rPr>
                <a:t>지원 요구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BE755B93-0059-5C35-6456-CA3F1380E2CB}"/>
                </a:ext>
              </a:extLst>
            </p:cNvPr>
            <p:cNvSpPr/>
            <p:nvPr/>
          </p:nvSpPr>
          <p:spPr>
            <a:xfrm>
              <a:off x="6249526" y="4089563"/>
              <a:ext cx="721769" cy="903461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lIns="10800" tIns="10800" rIns="10800" bIns="10800" rtlCol="0" anchor="t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+mj-ea"/>
                </a:rPr>
                <a:t>R-3.</a:t>
              </a:r>
            </a:p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+mj-ea"/>
                </a:rPr>
                <a:t>유연한 시나리오 지원 요구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40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044D-DFA0-365F-66D1-BD60C555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246EB-53B4-2300-FCF2-A4E7AFDE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Voice Of Stakeholder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5F2A575-F1CB-7685-EE31-212DAE214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375298"/>
              </p:ext>
            </p:extLst>
          </p:nvPr>
        </p:nvGraphicFramePr>
        <p:xfrm>
          <a:off x="411058" y="745756"/>
          <a:ext cx="8036591" cy="3995062"/>
        </p:xfrm>
        <a:graphic>
          <a:graphicData uri="http://schemas.openxmlformats.org/drawingml/2006/table">
            <a:tbl>
              <a:tblPr/>
              <a:tblGrid>
                <a:gridCol w="1263789">
                  <a:extLst>
                    <a:ext uri="{9D8B030D-6E8A-4147-A177-3AD203B41FA5}">
                      <a16:colId xmlns:a16="http://schemas.microsoft.com/office/drawing/2014/main" val="3594864705"/>
                    </a:ext>
                  </a:extLst>
                </a:gridCol>
                <a:gridCol w="2427308">
                  <a:extLst>
                    <a:ext uri="{9D8B030D-6E8A-4147-A177-3AD203B41FA5}">
                      <a16:colId xmlns:a16="http://schemas.microsoft.com/office/drawing/2014/main" val="985975414"/>
                    </a:ext>
                  </a:extLst>
                </a:gridCol>
                <a:gridCol w="4345494">
                  <a:extLst>
                    <a:ext uri="{9D8B030D-6E8A-4147-A177-3AD203B41FA5}">
                      <a16:colId xmlns:a16="http://schemas.microsoft.com/office/drawing/2014/main" val="4171208268"/>
                    </a:ext>
                  </a:extLst>
                </a:gridCol>
              </a:tblGrid>
              <a:tr h="191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Stakeholder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747901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VOS-01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로봇 제조사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Host 침해 시에도 영상/모델/추론 데이터가 노출되지 않아야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737673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VOS-02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로봇 제조사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Camera/AI HW 가속을 보안 기능과 일반 기능이 함께 사용해야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003288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VOS-03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로봇 제조사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Android 의존 없이 Yocto/Ubuntu 기반 Linux에서 동작해야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83432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VOS-04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로봇 제조사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보안 기능의 전력/메모리 오버헤드는 탑재 가능 수준이어야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050004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VOS-05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상품 기획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신규 보안 시나리오를 Framework 수정 없이 수용해야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469074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VOS-06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과제 PM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2026-1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-3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까지 제한된 인력으로 E2E 데모를 완료해야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335037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VOS-07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내부 Security 개발자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Secure Camera와 Secure AI 도메인은 독립적으로 동시 운용되어야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116098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VOS-08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SOC 설계 부서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Camera/AI HW 사용 중 DMA 격리와 잔류 데이터 소거가 필요하다.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7509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VOS-09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내부 Security 개발자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도메인 간 데이터 전달은 노출 없이 빠르게 이뤄져야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627050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VOS-10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내부 Hypervisor 개발자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기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포팅된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pKVM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(EL2)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TCB는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작게 유지 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402205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VOS-11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내부 Security 개발자 (SRCX, Secure OS 이식)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Secure OS 이식 인터페이스가 안정적으로 정의되어야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46368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VOS-12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내부 Security 개발자 (기존 TrustZone 공존)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기존 TrustZone TEE 기능과 SMC 경로가 유지되어야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154335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VOS-13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검증 부서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Host 침해 시 격리 유지 여부를 객관적으로 검증할 수 있어야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094116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VOS-14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로봇 앱 개발자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pVM API는 비보안 전문가도 사용할 만큼 단순해야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495943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VOS-15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상품 기획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개인정보/규제 대응을 위한 기술적 격리 증빙이 필요하다.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76158"/>
                  </a:ext>
                </a:extLst>
              </a:tr>
              <a:tr h="237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VOS-16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내부 Security 개발자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pVM 장애가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Host와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다른 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pVM에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전파되지 않아야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290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460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B373A-A742-A37C-C8FA-E9B0595E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유즈케이스</a:t>
            </a:r>
            <a:r>
              <a:rPr lang="ko-KR" altLang="en-US" dirty="0"/>
              <a:t> 도출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C96B8-1E0C-49D6-8210-3C5382D119F7}"/>
              </a:ext>
            </a:extLst>
          </p:cNvPr>
          <p:cNvSpPr txBox="1"/>
          <p:nvPr/>
        </p:nvSpPr>
        <p:spPr>
          <a:xfrm>
            <a:off x="5902417" y="3363913"/>
            <a:ext cx="15183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050" dirty="0"/>
              <a:t>&lt; </a:t>
            </a:r>
            <a:r>
              <a:rPr lang="ko-KR" altLang="en-US" sz="1050" dirty="0" err="1"/>
              <a:t>유즈케이스</a:t>
            </a:r>
            <a:r>
              <a:rPr lang="en-US" altLang="ko-KR" sz="1050" dirty="0"/>
              <a:t>  </a:t>
            </a:r>
            <a:r>
              <a:rPr lang="ko-KR" altLang="en-US" sz="1050" dirty="0"/>
              <a:t>명세서</a:t>
            </a:r>
            <a:r>
              <a:rPr lang="en-US" altLang="ko-KR" sz="1050" dirty="0"/>
              <a:t>&gt; </a:t>
            </a:r>
            <a:endParaRPr lang="ko-KR" altLang="en-US" sz="105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8ED02F2-2096-70BF-2581-F4037779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543926"/>
          </a:xfrm>
        </p:spPr>
        <p:txBody>
          <a:bodyPr/>
          <a:lstStyle/>
          <a:p>
            <a:r>
              <a:rPr lang="ko-KR" altLang="en-US" dirty="0" err="1"/>
              <a:t>유즈케이스를</a:t>
            </a:r>
            <a:r>
              <a:rPr lang="ko-KR" altLang="en-US" dirty="0"/>
              <a:t> 통해 기능 요구사항 도출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AF7896-6868-5DD1-4FBC-3F8902725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04" y="1519309"/>
            <a:ext cx="3654680" cy="3089617"/>
          </a:xfrm>
          <a:prstGeom prst="rect">
            <a:avLst/>
          </a:prstGeom>
        </p:spPr>
      </p:pic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C46D0A4F-083C-C9A4-5139-06C9CD4DD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668240"/>
              </p:ext>
            </p:extLst>
          </p:nvPr>
        </p:nvGraphicFramePr>
        <p:xfrm>
          <a:off x="6204399" y="227195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14400" imgH="792431" progId="Word.Document.12">
                  <p:embed/>
                </p:oleObj>
              </mc:Choice>
              <mc:Fallback>
                <p:oleObj name="Document" showAsIcon="1" r:id="rId3" imgW="914400" imgH="7924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4399" y="227195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105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DF490-8EB9-3E6B-8734-CCC05A24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5657598" cy="409575"/>
          </a:xfrm>
        </p:spPr>
        <p:txBody>
          <a:bodyPr>
            <a:normAutofit/>
          </a:bodyPr>
          <a:lstStyle/>
          <a:p>
            <a:r>
              <a:rPr lang="en-US" altLang="ko-KR" dirty="0"/>
              <a:t>Utility Tree</a:t>
            </a:r>
            <a:endParaRPr lang="ko-KR" altLang="en-US" dirty="0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6C8564C9-FE02-F29C-2344-B61D28AEBC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482594"/>
              </p:ext>
            </p:extLst>
          </p:nvPr>
        </p:nvGraphicFramePr>
        <p:xfrm>
          <a:off x="7024631" y="1839117"/>
          <a:ext cx="1587783" cy="2090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553418" imgH="8628090" progId="Word.Document.12">
                  <p:embed/>
                </p:oleObj>
              </mc:Choice>
              <mc:Fallback>
                <p:oleObj name="Document" r:id="rId2" imgW="6553418" imgH="86280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24631" y="1839117"/>
                        <a:ext cx="1587783" cy="2090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F5BF3-2473-53AE-7000-BA9D16F46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2998478"/>
          </a:xfrm>
        </p:spPr>
        <p:txBody>
          <a:bodyPr/>
          <a:lstStyle/>
          <a:p>
            <a:r>
              <a:rPr lang="en-US" altLang="ko-KR" dirty="0"/>
              <a:t>Utility Tree</a:t>
            </a:r>
            <a:r>
              <a:rPr lang="ko-KR" altLang="en-US" dirty="0"/>
              <a:t>를 이용하여 품질 속성 도출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7741D25-8B78-0443-815F-1449DFD4F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65" y="1717715"/>
            <a:ext cx="6597326" cy="252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7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CBA3-27F1-C107-F5A7-A77A5F40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속성 평가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4F1CE17-A47C-D24C-E62E-E113DF98A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71960"/>
              </p:ext>
            </p:extLst>
          </p:nvPr>
        </p:nvGraphicFramePr>
        <p:xfrm>
          <a:off x="523396" y="848366"/>
          <a:ext cx="7758832" cy="34467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863">
                  <a:extLst>
                    <a:ext uri="{9D8B030D-6E8A-4147-A177-3AD203B41FA5}">
                      <a16:colId xmlns:a16="http://schemas.microsoft.com/office/drawing/2014/main" val="421462267"/>
                    </a:ext>
                  </a:extLst>
                </a:gridCol>
                <a:gridCol w="5192009">
                  <a:extLst>
                    <a:ext uri="{9D8B030D-6E8A-4147-A177-3AD203B41FA5}">
                      <a16:colId xmlns:a16="http://schemas.microsoft.com/office/drawing/2014/main" val="192891183"/>
                    </a:ext>
                  </a:extLst>
                </a:gridCol>
                <a:gridCol w="406320">
                  <a:extLst>
                    <a:ext uri="{9D8B030D-6E8A-4147-A177-3AD203B41FA5}">
                      <a16:colId xmlns:a16="http://schemas.microsoft.com/office/drawing/2014/main" val="1874532877"/>
                    </a:ext>
                  </a:extLst>
                </a:gridCol>
                <a:gridCol w="406320">
                  <a:extLst>
                    <a:ext uri="{9D8B030D-6E8A-4147-A177-3AD203B41FA5}">
                      <a16:colId xmlns:a16="http://schemas.microsoft.com/office/drawing/2014/main" val="2868964725"/>
                    </a:ext>
                  </a:extLst>
                </a:gridCol>
                <a:gridCol w="406320">
                  <a:extLst>
                    <a:ext uri="{9D8B030D-6E8A-4147-A177-3AD203B41FA5}">
                      <a16:colId xmlns:a16="http://schemas.microsoft.com/office/drawing/2014/main" val="2226572675"/>
                    </a:ext>
                  </a:extLst>
                </a:gridCol>
              </a:tblGrid>
              <a:tr h="306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품질 속성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중요도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난이도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우선순위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469146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성능 (반환 시간)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카메라 영상 입력부터 Host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Application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전달 완료까지의 평균 시간(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ms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)이 목표 시간을 만족해야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44848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&lt;=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카메라 영상 입력부터 Host 전달 완료까지의 평균 시간(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ms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)] KPI: 10ms (720p, RGB24, AI 추론 구간 제외)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641643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성능 (메모리 사용량)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다중 시나리오가 운용 중일 때 사용되는 메모리 사용량을 가능한 낮게 유지해야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23893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다중 시나리오에 사용되는 총 메모리 크기.] KPI: 낮을수록 좋음 (시나리오에 따라 사용량이 다름으로 상대 평가)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156256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신뢰성 (고장 회피)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결함 테스트에서 시스템에서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Critical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고장이 발생되면 안된다.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361816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고장으로 이어지지 않은 테스트 수, B: 전체 테스트 수] KPI: 100%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684768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보안성 (접근 통제)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도메인 간 전달되는 데이터는 시스템에 의해서 접근 통제되어야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798009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접근 통제된 기밀 데이터 항목 수, B: 접근 통제가 요구되는 기밀 데이터 항목 수] KPI: 100%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578885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유지보수성 (모듈 결합도)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신규 요구사항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추가시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다른 모듈에 영향을 주지 않는 모듈의 비율이 최대가 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035298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[X = A/B. A: 영향을 주지 않는 모듈 수, B: 전체 모듈 수] KPI: 높을수록 좋음 (상대 평가)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633233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유지보수성 (모듈 재사용)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신규 시나리오 추가 시 전체 자산의 100%가 재사용 가능하도록 설계/구축되어야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H</a:t>
                      </a:r>
                      <a:endParaRPr lang="ko-KR" sz="7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35015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재사용되는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모듈수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, B: 전체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모듈수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] KPI: 100%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805488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이식성 (SOC 변경)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SoC 변경에 따라 변경되는 모듈이 없어야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  <a:endParaRPr lang="ko-KR" sz="7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622335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변경되는 모듈 수, B: 전체 모듈 수] KPI: 0%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655052"/>
                  </a:ext>
                </a:extLst>
              </a:tr>
              <a:tr h="19629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이식성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(OS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update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OS update에 따라 변경되는 모듈 수를 최소화하여야 한다.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M</a:t>
                      </a:r>
                      <a:endParaRPr lang="ko-KR" sz="70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689106"/>
                  </a:ext>
                </a:extLst>
              </a:tr>
              <a:tr h="196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. A: OS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update시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변경이 필요한 모듈 수, B: 전체 </a:t>
                      </a:r>
                      <a:r>
                        <a:rPr lang="ko-KR" sz="7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모듈수</a:t>
                      </a:r>
                      <a:r>
                        <a:rPr lang="ko-KR" sz="700" b="0" i="0" u="none" strike="noStrike" dirty="0">
                          <a:solidFill>
                            <a:srgbClr val="333333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] KPI: 낮을수록 좋음 (상대평가)</a:t>
                      </a: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358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71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9FA2E-DB42-2B97-7821-FD1180FF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VOS &lt;-&gt; AD</a:t>
            </a:r>
            <a:r>
              <a:rPr lang="ko-KR" altLang="en-US" dirty="0"/>
              <a:t> </a:t>
            </a:r>
            <a:r>
              <a:rPr lang="en-US" altLang="ko-KR" dirty="0"/>
              <a:t>matrix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3068690-801D-BBFA-8081-B04EEDF3F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371844"/>
              </p:ext>
            </p:extLst>
          </p:nvPr>
        </p:nvGraphicFramePr>
        <p:xfrm>
          <a:off x="485334" y="1139485"/>
          <a:ext cx="8269869" cy="3678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7749">
                  <a:extLst>
                    <a:ext uri="{9D8B030D-6E8A-4147-A177-3AD203B41FA5}">
                      <a16:colId xmlns:a16="http://schemas.microsoft.com/office/drawing/2014/main" val="1149177542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3866760694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1479597408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1785814550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3347868613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889759460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2129834184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249145514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2491048535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32095547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2744932543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527167149"/>
                    </a:ext>
                  </a:extLst>
                </a:gridCol>
                <a:gridCol w="628510">
                  <a:extLst>
                    <a:ext uri="{9D8B030D-6E8A-4147-A177-3AD203B41FA5}">
                      <a16:colId xmlns:a16="http://schemas.microsoft.com/office/drawing/2014/main" val="2244196224"/>
                    </a:ext>
                  </a:extLst>
                </a:gridCol>
              </a:tblGrid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 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FR-01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FR-02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FR-03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FR-04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FR-05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FR-06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QA-01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QA-02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QA-03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QA-04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CS-01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CS-02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070012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050365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93440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96081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품질속성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아님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014694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076866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일정/인력 관련 프로젝트 관리 사항으로 구조 설계에서 제외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637055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37920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473578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521916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550771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454134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930589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품질속성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아님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9787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API 문서화 요구는 구조 설계에서 제외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37338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799497"/>
                  </a:ext>
                </a:extLst>
              </a:tr>
              <a:tr h="2163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VOS-16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900474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242498F-14C9-59BA-FE9B-0CBA3DA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2998478"/>
          </a:xfrm>
        </p:spPr>
        <p:txBody>
          <a:bodyPr/>
          <a:lstStyle/>
          <a:p>
            <a:r>
              <a:rPr lang="en-US" altLang="ko-KR" dirty="0"/>
              <a:t>VOS</a:t>
            </a:r>
            <a:r>
              <a:rPr lang="ko-KR" altLang="en-US" dirty="0"/>
              <a:t>가 모두 </a:t>
            </a:r>
            <a:r>
              <a:rPr lang="en-US" altLang="ko-KR" dirty="0"/>
              <a:t>AD</a:t>
            </a:r>
            <a:r>
              <a:rPr lang="ko-KR" altLang="en-US" dirty="0"/>
              <a:t>에 매칭됨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22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D0DCF-8DE5-2F7C-82EE-1F7A5243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TCB – Trusted Computing Base</a:t>
            </a:r>
            <a:endParaRPr lang="ko-KR" altLang="en-US" dirty="0"/>
          </a:p>
        </p:txBody>
      </p: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3CAD032A-2C20-49FD-58BF-8B83775B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6"/>
            <a:ext cx="8181521" cy="4110786"/>
          </a:xfrm>
        </p:spPr>
        <p:txBody>
          <a:bodyPr/>
          <a:lstStyle/>
          <a:p>
            <a:r>
              <a:rPr lang="en-US" altLang="ko-KR" dirty="0"/>
              <a:t>TCB?</a:t>
            </a:r>
          </a:p>
          <a:p>
            <a:pPr lvl="1"/>
            <a:r>
              <a:rPr lang="ko-KR" altLang="en-US" dirty="0"/>
              <a:t>시스템의 보안 정책 집행에 책임이 있는 모든 하드웨어</a:t>
            </a:r>
            <a:r>
              <a:rPr lang="en-US" altLang="ko-KR" dirty="0"/>
              <a:t>, </a:t>
            </a:r>
            <a:r>
              <a:rPr lang="ko-KR" altLang="en-US" dirty="0"/>
              <a:t>펌웨어</a:t>
            </a:r>
            <a:r>
              <a:rPr lang="en-US" altLang="ko-KR" dirty="0"/>
              <a:t>, </a:t>
            </a:r>
            <a:r>
              <a:rPr lang="ko-KR" altLang="en-US" dirty="0"/>
              <a:t>소프트웨어 구성 요소의 총집합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경계가 작고 단순해야 함</a:t>
            </a:r>
            <a:r>
              <a:rPr lang="en-US" altLang="ko-KR" dirty="0"/>
              <a:t>. -&gt; </a:t>
            </a:r>
            <a:r>
              <a:rPr lang="ko-KR" altLang="en-US" dirty="0"/>
              <a:t>크고 복잡하면 침투 표면이 넓어짐</a:t>
            </a:r>
            <a:endParaRPr lang="en-US" altLang="ko-KR" dirty="0"/>
          </a:p>
          <a:p>
            <a:pPr lvl="1"/>
            <a:r>
              <a:rPr lang="ko-KR" altLang="en-US" dirty="0"/>
              <a:t>신뢰 경계를 넘는 모든 상호작용은 검증 대상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검증 완료 후 릴리즈되면 실행 시 항상 무결성이 보장되어야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시스템에서 </a:t>
            </a:r>
            <a:r>
              <a:rPr lang="en-US" altLang="ko-KR" dirty="0"/>
              <a:t>pKVM, pVM,</a:t>
            </a:r>
            <a:r>
              <a:rPr lang="ko-KR" altLang="en-US" dirty="0"/>
              <a:t> </a:t>
            </a:r>
            <a:r>
              <a:rPr lang="en-US" altLang="ko-KR" dirty="0"/>
              <a:t>Workload</a:t>
            </a:r>
            <a:r>
              <a:rPr lang="ko-KR" altLang="en-US" dirty="0"/>
              <a:t>는 </a:t>
            </a:r>
            <a:r>
              <a:rPr lang="en-US" altLang="ko-KR" dirty="0"/>
              <a:t>TCB</a:t>
            </a:r>
            <a:r>
              <a:rPr lang="ko-KR" altLang="en-US" dirty="0"/>
              <a:t>에 포함 </a:t>
            </a:r>
            <a:r>
              <a:rPr lang="en-US" altLang="ko-KR" dirty="0"/>
              <a:t>(</a:t>
            </a:r>
            <a:r>
              <a:rPr lang="ko-KR" altLang="en-US" dirty="0"/>
              <a:t>다음 페이지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3B73ED83-4411-3674-2DD0-48E5684C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488" y="2892856"/>
            <a:ext cx="2760963" cy="830628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803D99AD-7F27-9BE9-C501-8D1B15DEF877}"/>
              </a:ext>
            </a:extLst>
          </p:cNvPr>
          <p:cNvGrpSpPr/>
          <p:nvPr/>
        </p:nvGrpSpPr>
        <p:grpSpPr>
          <a:xfrm>
            <a:off x="944669" y="1414644"/>
            <a:ext cx="7358400" cy="420687"/>
            <a:chOff x="944669" y="1414644"/>
            <a:chExt cx="7358400" cy="479343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92DDF79-E02E-7BA3-8B49-FDC812ED69A7}"/>
                </a:ext>
              </a:extLst>
            </p:cNvPr>
            <p:cNvSpPr/>
            <p:nvPr/>
          </p:nvSpPr>
          <p:spPr>
            <a:xfrm>
              <a:off x="944669" y="1425987"/>
              <a:ext cx="2208458" cy="468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신뢰할 만 한 것들</a:t>
              </a: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2E62397-2629-E7B4-F154-8E82AA2F9673}"/>
                </a:ext>
              </a:extLst>
            </p:cNvPr>
            <p:cNvSpPr/>
            <p:nvPr/>
          </p:nvSpPr>
          <p:spPr>
            <a:xfrm>
              <a:off x="3519640" y="1425987"/>
              <a:ext cx="2208458" cy="468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올바르게 동작하는 것들</a:t>
              </a: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D76B81D2-64C8-6D5D-2E0B-27E7ACE954AA}"/>
                </a:ext>
              </a:extLst>
            </p:cNvPr>
            <p:cNvSpPr/>
            <p:nvPr/>
          </p:nvSpPr>
          <p:spPr>
            <a:xfrm>
              <a:off x="6094611" y="1414644"/>
              <a:ext cx="2208458" cy="468000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검증 대상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78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7EC2-A20E-3883-1EA5-6B47C39B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E478F-EC13-C1D2-9B9B-090B2E57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5960053" cy="409575"/>
          </a:xfrm>
        </p:spPr>
        <p:txBody>
          <a:bodyPr>
            <a:normAutofit/>
          </a:bodyPr>
          <a:lstStyle/>
          <a:p>
            <a:r>
              <a:rPr lang="en-US" altLang="ko-KR" dirty="0"/>
              <a:t>Secure Boot &amp; Loading Flow</a:t>
            </a:r>
            <a:endParaRPr lang="ko-KR" altLang="en-US" dirty="0"/>
          </a:p>
        </p:txBody>
      </p:sp>
      <p:sp>
        <p:nvSpPr>
          <p:cNvPr id="3" name="내용 개체 틀 42">
            <a:extLst>
              <a:ext uri="{FF2B5EF4-FFF2-40B4-BE49-F238E27FC236}">
                <a16:creationId xmlns:a16="http://schemas.microsoft.com/office/drawing/2014/main" id="{28E51D1F-B954-1227-2182-5705A3B70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6"/>
            <a:ext cx="8181521" cy="409575"/>
          </a:xfrm>
        </p:spPr>
        <p:txBody>
          <a:bodyPr/>
          <a:lstStyle/>
          <a:p>
            <a:r>
              <a:rPr lang="en-US" altLang="ko-KR" dirty="0"/>
              <a:t>IROM</a:t>
            </a:r>
            <a:r>
              <a:rPr lang="ko-KR" altLang="en-US" dirty="0"/>
              <a:t>으로부터 </a:t>
            </a:r>
            <a:r>
              <a:rPr lang="en-US" altLang="ko-KR" dirty="0"/>
              <a:t>Workload</a:t>
            </a:r>
            <a:r>
              <a:rPr lang="ko-KR" altLang="en-US" dirty="0"/>
              <a:t>까지 무결성이 이어짐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38835-F190-7C0A-A78E-9BA8C70AED91}"/>
              </a:ext>
            </a:extLst>
          </p:cNvPr>
          <p:cNvSpPr txBox="1"/>
          <p:nvPr/>
        </p:nvSpPr>
        <p:spPr>
          <a:xfrm>
            <a:off x="4572000" y="1237463"/>
            <a:ext cx="3395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100" b="1" dirty="0">
                <a:solidFill>
                  <a:srgbClr val="0000FF"/>
                </a:solidFill>
              </a:rPr>
              <a:t>Secure OS, pKVM, pVM, Workload </a:t>
            </a:r>
            <a:r>
              <a:rPr lang="ko-KR" altLang="en-US" sz="1100" b="1" dirty="0">
                <a:solidFill>
                  <a:srgbClr val="0000FF"/>
                </a:solidFill>
              </a:rPr>
              <a:t>모두</a:t>
            </a:r>
            <a:r>
              <a:rPr lang="en-US" altLang="ko-KR" sz="1100" b="1" dirty="0">
                <a:solidFill>
                  <a:srgbClr val="0000FF"/>
                </a:solidFill>
              </a:rPr>
              <a:t> TCB</a:t>
            </a:r>
            <a:r>
              <a:rPr lang="ko-KR" altLang="en-US" sz="1100" b="1" dirty="0">
                <a:solidFill>
                  <a:srgbClr val="0000FF"/>
                </a:solidFill>
              </a:rPr>
              <a:t>에 포함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F1587F-FBA9-F856-65C8-89ACD45B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99073"/>
            <a:ext cx="6858000" cy="356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5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2D165-3956-3F85-75FD-48ECC549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 Path</a:t>
            </a:r>
            <a:r>
              <a:rPr lang="ko-KR" altLang="en-US" dirty="0"/>
              <a:t>의 메타정보 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17EC3-36CB-898F-D914-9FECF37A7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6"/>
            <a:ext cx="8181521" cy="3779595"/>
          </a:xfrm>
        </p:spPr>
        <p:txBody>
          <a:bodyPr/>
          <a:lstStyle/>
          <a:p>
            <a:r>
              <a:rPr lang="ko-KR" altLang="en-US" dirty="0"/>
              <a:t>메타정보로 얻을 수 있는 정보</a:t>
            </a:r>
            <a:endParaRPr lang="en-US" altLang="ko-KR" dirty="0"/>
          </a:p>
          <a:p>
            <a:pPr lvl="1"/>
            <a:r>
              <a:rPr lang="en-US" altLang="ko-KR" dirty="0"/>
              <a:t>Camera Case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AI Case</a:t>
            </a:r>
          </a:p>
          <a:p>
            <a:pPr lvl="2"/>
            <a:r>
              <a:rPr lang="ko-KR" altLang="en-US" dirty="0"/>
              <a:t>모델의 메타 정보가 유출되면</a:t>
            </a:r>
            <a:r>
              <a:rPr lang="en-US" altLang="ko-KR" dirty="0"/>
              <a:t>, </a:t>
            </a:r>
            <a:r>
              <a:rPr lang="ko-KR" altLang="en-US" dirty="0"/>
              <a:t>관찰을 통해 </a:t>
            </a:r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architecture</a:t>
            </a:r>
            <a:r>
              <a:rPr lang="ko-KR" altLang="en-US" dirty="0"/>
              <a:t>가 노출될 수 있음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Host</a:t>
            </a:r>
            <a:r>
              <a:rPr lang="ko-KR" altLang="en-US" dirty="0"/>
              <a:t>에서 메타 정보 </a:t>
            </a:r>
            <a:r>
              <a:rPr lang="en-US" altLang="ko-KR" dirty="0">
                <a:solidFill>
                  <a:srgbClr val="FF0000"/>
                </a:solidFill>
              </a:rPr>
              <a:t>tampering(</a:t>
            </a:r>
            <a:r>
              <a:rPr lang="ko-KR" altLang="en-US" dirty="0">
                <a:solidFill>
                  <a:srgbClr val="FF0000"/>
                </a:solidFill>
              </a:rPr>
              <a:t>변조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r>
              <a:rPr lang="ko-KR" altLang="en-US" dirty="0"/>
              <a:t>도 가능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8423BD0-620B-626E-3289-7E288BB13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11222"/>
              </p:ext>
            </p:extLst>
          </p:nvPr>
        </p:nvGraphicFramePr>
        <p:xfrm>
          <a:off x="555951" y="1412461"/>
          <a:ext cx="4991100" cy="2118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9100">
                  <a:extLst>
                    <a:ext uri="{9D8B030D-6E8A-4147-A177-3AD203B41FA5}">
                      <a16:colId xmlns:a16="http://schemas.microsoft.com/office/drawing/2014/main" val="28398571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109553101"/>
                    </a:ext>
                  </a:extLst>
                </a:gridCol>
              </a:tblGrid>
              <a:tr h="2118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u="none" strike="noStrike" dirty="0">
                          <a:effectLst/>
                        </a:rPr>
                        <a:t>노출 정보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u="none" strike="noStrike" dirty="0">
                          <a:effectLst/>
                        </a:rPr>
                        <a:t>추론 가능한 정보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297794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>
                          <a:effectLst/>
                        </a:rPr>
                        <a:t>CAPTURE/START/STOP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카메라가 언제 사용되는지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404455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dirty="0" err="1">
                          <a:effectLst/>
                        </a:rPr>
                        <a:t>sensor_id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 pitchFamily="50" charset="-127"/>
                        <a:ea typeface="Arial Unicode MS" panose="020B06040202020202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front/rear/robot arm camera 등 어떤 카메라인지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45599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width/height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영상 해상도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99563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fps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촬영 속도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687261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pixel format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RGB/YUV/</a:t>
                      </a:r>
                      <a:r>
                        <a:rPr lang="ko-KR" sz="1000" u="none" strike="noStrike" dirty="0" err="1">
                          <a:effectLst/>
                        </a:rPr>
                        <a:t>depth</a:t>
                      </a:r>
                      <a:r>
                        <a:rPr lang="ko-KR" sz="1000" u="none" strike="noStrike" dirty="0">
                          <a:effectLst/>
                        </a:rPr>
                        <a:t> 등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302822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exposure/gain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주변 밝기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087963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frame</a:t>
                      </a:r>
                      <a:r>
                        <a:rPr lang="ko-KR" sz="1000" u="none" strike="noStrike" dirty="0">
                          <a:effectLst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</a:rPr>
                        <a:t>count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촬영량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734443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</a:rPr>
                        <a:t>buffer size/stride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영상 포맷 추정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758283"/>
                  </a:ext>
                </a:extLst>
              </a:tr>
              <a:tr h="211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timestamp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작업 발생 시점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10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11300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3DA2DF4A-E835-B4CB-B818-2E7496EB9C56}"/>
              </a:ext>
            </a:extLst>
          </p:cNvPr>
          <p:cNvGrpSpPr/>
          <p:nvPr/>
        </p:nvGrpSpPr>
        <p:grpSpPr>
          <a:xfrm>
            <a:off x="5719098" y="1295932"/>
            <a:ext cx="3237898" cy="3205130"/>
            <a:chOff x="285703" y="1329617"/>
            <a:chExt cx="3502367" cy="346692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EC7617E-5806-043F-6D3F-FC9332C99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649" y="1701595"/>
              <a:ext cx="3120674" cy="1549687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D2745B5-53B6-FF87-21EA-BACD2A7B0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703" y="3515537"/>
              <a:ext cx="3502367" cy="1281003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6D5D86DD-03C6-5128-12CF-5DAFB09E9EA5}"/>
                </a:ext>
              </a:extLst>
            </p:cNvPr>
            <p:cNvSpPr/>
            <p:nvPr/>
          </p:nvSpPr>
          <p:spPr>
            <a:xfrm>
              <a:off x="1054463" y="1638391"/>
              <a:ext cx="1945680" cy="586998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7518DCBC-6DF2-19BB-0913-F9EF651FC0AE}"/>
                </a:ext>
              </a:extLst>
            </p:cNvPr>
            <p:cNvSpPr/>
            <p:nvPr/>
          </p:nvSpPr>
          <p:spPr>
            <a:xfrm flipH="1">
              <a:off x="895188" y="3688099"/>
              <a:ext cx="2214958" cy="560356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9099FFB5-FE48-DE95-F643-BDAB3E9BEFB3}"/>
                </a:ext>
              </a:extLst>
            </p:cNvPr>
            <p:cNvSpPr/>
            <p:nvPr/>
          </p:nvSpPr>
          <p:spPr>
            <a:xfrm>
              <a:off x="650397" y="1372383"/>
              <a:ext cx="302508" cy="129910"/>
            </a:xfrm>
            <a:prstGeom prst="rightArrow">
              <a:avLst/>
            </a:prstGeom>
            <a:solidFill>
              <a:srgbClr val="FF0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1728C7-D1A1-E81F-ABE0-96DCAA5D2A7C}"/>
                </a:ext>
              </a:extLst>
            </p:cNvPr>
            <p:cNvSpPr txBox="1"/>
            <p:nvPr/>
          </p:nvSpPr>
          <p:spPr>
            <a:xfrm>
              <a:off x="960925" y="1329617"/>
              <a:ext cx="70884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800" dirty="0"/>
                <a:t>Control Path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335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F2BC0-12C6-4CDF-E077-8324A084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4848706" cy="409575"/>
          </a:xfrm>
        </p:spPr>
        <p:txBody>
          <a:bodyPr>
            <a:normAutofit/>
          </a:bodyPr>
          <a:lstStyle/>
          <a:p>
            <a:r>
              <a:rPr lang="ko-KR" altLang="en-US" dirty="0"/>
              <a:t>보안 품질속성에 적합한 정량 </a:t>
            </a:r>
            <a:r>
              <a:rPr lang="ko-KR" altLang="en-US" dirty="0" err="1"/>
              <a:t>메트릭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60AEC-DF6D-9D34-D62A-BD8F4E543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671235"/>
          </a:xfrm>
        </p:spPr>
        <p:txBody>
          <a:bodyPr/>
          <a:lstStyle/>
          <a:p>
            <a:r>
              <a:rPr lang="ko-KR" altLang="en-US" sz="1050" b="0" dirty="0"/>
              <a:t>보안 침해가 </a:t>
            </a:r>
            <a:r>
              <a:rPr lang="ko-KR" altLang="ko-KR" sz="1050" b="0" dirty="0"/>
              <a:t>100만 건 중 1건 발생한다고 하더라도, 그 1건의 취약점을 반복 재현할 수 있다면 매우 심각한 보안 취약점</a:t>
            </a:r>
            <a:endParaRPr lang="en-US" altLang="ko-KR" sz="1050" b="0" dirty="0"/>
          </a:p>
          <a:p>
            <a:r>
              <a:rPr lang="ko-KR" altLang="ko-KR" sz="1050" b="0" dirty="0"/>
              <a:t>보안 품질속성에서는 다음과 같은 </a:t>
            </a:r>
            <a:r>
              <a:rPr lang="en-US" altLang="ko-KR" sz="1050" b="0" dirty="0"/>
              <a:t>Matric</a:t>
            </a:r>
            <a:r>
              <a:rPr lang="ko-KR" altLang="ko-KR" sz="1050" b="0" dirty="0"/>
              <a:t>을 사용하는 것이 더 적절</a:t>
            </a:r>
            <a:endParaRPr lang="en-US" altLang="ko-KR" sz="1050" b="0" dirty="0"/>
          </a:p>
          <a:p>
            <a:endParaRPr lang="ko-KR" altLang="en-US" sz="105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957822-331B-43E7-6BB6-41D4D7E15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545766"/>
              </p:ext>
            </p:extLst>
          </p:nvPr>
        </p:nvGraphicFramePr>
        <p:xfrm>
          <a:off x="628649" y="1477287"/>
          <a:ext cx="8100354" cy="2809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960">
                  <a:extLst>
                    <a:ext uri="{9D8B030D-6E8A-4147-A177-3AD203B41FA5}">
                      <a16:colId xmlns:a16="http://schemas.microsoft.com/office/drawing/2014/main" val="1574263597"/>
                    </a:ext>
                  </a:extLst>
                </a:gridCol>
                <a:gridCol w="1730326">
                  <a:extLst>
                    <a:ext uri="{9D8B030D-6E8A-4147-A177-3AD203B41FA5}">
                      <a16:colId xmlns:a16="http://schemas.microsoft.com/office/drawing/2014/main" val="2020050073"/>
                    </a:ext>
                  </a:extLst>
                </a:gridCol>
                <a:gridCol w="4586068">
                  <a:extLst>
                    <a:ext uri="{9D8B030D-6E8A-4147-A177-3AD203B41FA5}">
                      <a16:colId xmlns:a16="http://schemas.microsoft.com/office/drawing/2014/main" val="2649423994"/>
                    </a:ext>
                  </a:extLst>
                </a:gridCol>
              </a:tblGrid>
              <a:tr h="3016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altLang="ko-KR" sz="1050" b="1" i="0" kern="1200" dirty="0">
                          <a:solidFill>
                            <a:schemeClr val="bg1"/>
                          </a:solidFill>
                          <a:effectLst/>
                          <a:latin typeface="-apple-system"/>
                          <a:ea typeface="+mn-ea"/>
                          <a:cs typeface="+mn-cs"/>
                        </a:rPr>
                        <a:t>ISO/IEC 25010:2023</a:t>
                      </a:r>
                    </a:p>
                    <a:p>
                      <a:pPr algn="ctr">
                        <a:buNone/>
                      </a:pPr>
                      <a:r>
                        <a:rPr lang="it-IT" altLang="ko-KR" sz="1050" b="1" i="0" kern="1200" dirty="0">
                          <a:solidFill>
                            <a:schemeClr val="bg1"/>
                          </a:solidFill>
                          <a:effectLst/>
                          <a:latin typeface="-apple-system"/>
                          <a:ea typeface="+mn-ea"/>
                          <a:cs typeface="+mn-cs"/>
                        </a:rPr>
                        <a:t>Quality Attribute</a:t>
                      </a:r>
                      <a:endParaRPr lang="ko-KR" altLang="en-US" sz="1050" b="1" i="0" kern="1200" dirty="0">
                        <a:solidFill>
                          <a:schemeClr val="bg1"/>
                        </a:solidFill>
                        <a:effectLst/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1" i="0" kern="1200" dirty="0">
                          <a:solidFill>
                            <a:schemeClr val="bg1"/>
                          </a:solidFill>
                          <a:effectLst/>
                          <a:latin typeface="-apple-system"/>
                          <a:ea typeface="+mn-ea"/>
                          <a:cs typeface="+mn-cs"/>
                        </a:rPr>
                        <a:t>Matric</a:t>
                      </a:r>
                      <a:endParaRPr lang="ko-KR" altLang="en-US" sz="1050" b="1" i="0" kern="1200" dirty="0">
                        <a:solidFill>
                          <a:schemeClr val="bg1"/>
                        </a:solidFill>
                        <a:effectLst/>
                        <a:latin typeface="-apple-system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050" b="1" dirty="0">
                          <a:solidFill>
                            <a:schemeClr val="bg1"/>
                          </a:solidFill>
                          <a:effectLst/>
                        </a:rPr>
                        <a:t>정량 기준</a:t>
                      </a:r>
                      <a:endParaRPr lang="ko-KR" sz="1050" b="1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1470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- Resistance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공격 </a:t>
                      </a:r>
                      <a:r>
                        <a:rPr lang="ko-KR" sz="1050" dirty="0" err="1">
                          <a:effectLst/>
                        </a:rPr>
                        <a:t>차단률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탐지된 비인가 접근 차단율 ≥ 99.99%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961915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– Authenticity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인증 정확도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정상 사용자 인증 성공률 ≥ 99.999%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504906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– Integrity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무결성 </a:t>
                      </a:r>
                      <a:r>
                        <a:rPr lang="ko-KR" sz="1050" dirty="0" err="1">
                          <a:effectLst/>
                        </a:rPr>
                        <a:t>검증률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중요 메시지 및 명령 무결성 검증률 = 100%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838080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– Resistance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보안 이벤트 탐지 시간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공격 발생 후 3초 이내 탐지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41586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– Resistance</a:t>
                      </a:r>
                      <a:endParaRPr lang="ko-KR" alt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격리 시간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보안 침해 탐지 후 5초 이내 해당 노드 격리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34545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– Resistance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복구 시간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침해 노드 격리 후 정상 서비스 복구 ≤ 30초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920444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– Resistance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취약점 관리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 err="1">
                          <a:effectLst/>
                        </a:rPr>
                        <a:t>Critical</a:t>
                      </a:r>
                      <a:r>
                        <a:rPr lang="ko-KR" sz="1050" dirty="0">
                          <a:effectLst/>
                        </a:rPr>
                        <a:t> 취약점 발견 후 24시간 이내 조치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368126"/>
                  </a:ext>
                </a:extLst>
              </a:tr>
              <a:tr h="3016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5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Security - Accountability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>
                          <a:effectLst/>
                        </a:rPr>
                        <a:t>보안 로그 완전성</a:t>
                      </a:r>
                      <a:endParaRPr lang="ko-KR" sz="105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050" dirty="0">
                          <a:effectLst/>
                        </a:rPr>
                        <a:t>중요 보안 이벤트 </a:t>
                      </a:r>
                      <a:r>
                        <a:rPr lang="ko-KR" sz="1050" dirty="0" err="1">
                          <a:effectLst/>
                        </a:rPr>
                        <a:t>기록률</a:t>
                      </a:r>
                      <a:r>
                        <a:rPr lang="ko-KR" sz="1050" dirty="0">
                          <a:effectLst/>
                        </a:rPr>
                        <a:t> = 100%</a:t>
                      </a:r>
                      <a:endParaRPr lang="ko-KR" sz="105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33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975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42E71-075C-226F-AF72-D791AB4C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</a:t>
            </a:r>
            <a:r>
              <a:rPr lang="en-US" altLang="ko-KR" dirty="0"/>
              <a:t>DP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E10A295-7B45-1D6B-9EC5-434D6321D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322645"/>
              </p:ext>
            </p:extLst>
          </p:nvPr>
        </p:nvGraphicFramePr>
        <p:xfrm>
          <a:off x="333374" y="720724"/>
          <a:ext cx="8529273" cy="2336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072">
                  <a:extLst>
                    <a:ext uri="{9D8B030D-6E8A-4147-A177-3AD203B41FA5}">
                      <a16:colId xmlns:a16="http://schemas.microsoft.com/office/drawing/2014/main" val="363059223"/>
                    </a:ext>
                  </a:extLst>
                </a:gridCol>
                <a:gridCol w="3320166">
                  <a:extLst>
                    <a:ext uri="{9D8B030D-6E8A-4147-A177-3AD203B41FA5}">
                      <a16:colId xmlns:a16="http://schemas.microsoft.com/office/drawing/2014/main" val="4292649216"/>
                    </a:ext>
                  </a:extLst>
                </a:gridCol>
                <a:gridCol w="4579035">
                  <a:extLst>
                    <a:ext uri="{9D8B030D-6E8A-4147-A177-3AD203B41FA5}">
                      <a16:colId xmlns:a16="http://schemas.microsoft.com/office/drawing/2014/main" val="512140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DP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32843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시스템의 보안 정책 신뢰를 위한 신뢰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854258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접근 통제 일관성을 위한 보안 정책 및 권한 집행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735000"/>
                  </a:ext>
                </a:extLst>
              </a:tr>
              <a:tr h="310855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pVM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 골격 설계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pVM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다루는 코드가 멈추거나 잘못 동작하면 공용 실행 흐름이 막혀 다른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pVM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Host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기능도 함께 중단될 수 있다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738535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Workload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706872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pVM-TEE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 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870650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작은 파일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pVM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영구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977016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Host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저장소를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pVM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VFS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연결하는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과제 설계의 범위 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341018"/>
                  </a:ext>
                </a:extLst>
              </a:tr>
              <a:tr h="22921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31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02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2A6CF-8E5D-15AD-9E48-67F7648C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1810B-FD6B-AFD4-90C3-45F29775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ATE, AVA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6B0A405-E7E5-03FB-870D-A58F7ABF6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388" y="721467"/>
            <a:ext cx="8114012" cy="3843499"/>
          </a:xfrm>
        </p:spPr>
        <p:txBody>
          <a:bodyPr/>
          <a:lstStyle/>
          <a:p>
            <a:r>
              <a:rPr lang="en-US" altLang="ko-KR" dirty="0"/>
              <a:t>EAL4(</a:t>
            </a:r>
            <a:r>
              <a:rPr lang="ko-KR" altLang="en-US" dirty="0"/>
              <a:t>설계부터 </a:t>
            </a:r>
            <a:r>
              <a:rPr lang="ko-KR" altLang="en-US" dirty="0" err="1"/>
              <a:t>쳬계적으로</a:t>
            </a:r>
            <a:r>
              <a:rPr lang="ko-KR" altLang="en-US" dirty="0"/>
              <a:t> 검증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50F45D8-F308-4F26-6993-C3BD6A241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323542"/>
              </p:ext>
            </p:extLst>
          </p:nvPr>
        </p:nvGraphicFramePr>
        <p:xfrm>
          <a:off x="4619656" y="1239387"/>
          <a:ext cx="3092025" cy="3262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675">
                  <a:extLst>
                    <a:ext uri="{9D8B030D-6E8A-4147-A177-3AD203B41FA5}">
                      <a16:colId xmlns:a16="http://schemas.microsoft.com/office/drawing/2014/main" val="2781179650"/>
                    </a:ext>
                  </a:extLst>
                </a:gridCol>
                <a:gridCol w="1030675">
                  <a:extLst>
                    <a:ext uri="{9D8B030D-6E8A-4147-A177-3AD203B41FA5}">
                      <a16:colId xmlns:a16="http://schemas.microsoft.com/office/drawing/2014/main" val="3630589722"/>
                    </a:ext>
                  </a:extLst>
                </a:gridCol>
                <a:gridCol w="1030675">
                  <a:extLst>
                    <a:ext uri="{9D8B030D-6E8A-4147-A177-3AD203B41FA5}">
                      <a16:colId xmlns:a16="http://schemas.microsoft.com/office/drawing/2014/main" val="2646064199"/>
                    </a:ext>
                  </a:extLst>
                </a:gridCol>
              </a:tblGrid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보증 클래스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EAL4 요구 항목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의미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501518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ADV – </a:t>
                      </a:r>
                      <a:r>
                        <a:rPr lang="ko-KR" sz="700" dirty="0" err="1"/>
                        <a:t>Development</a:t>
                      </a:r>
                      <a:endParaRPr lang="ko-KR" sz="700" dirty="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ADV_ARC.1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보안 아키텍처 설명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428874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ADV_FSP.4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완전한 보안 기능 명세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181928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ADV_IMP.1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TSF 구현 표현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784253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ADV_TDS.3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모듈 수준 설계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864575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AGD – Guidance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AGD_OPE.1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운영자/사용자 가이드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125958"/>
                  </a:ext>
                </a:extLst>
              </a:tr>
              <a:tr h="2509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AGD_PRE.1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안전한 설치·초기화 절차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529875"/>
                  </a:ext>
                </a:extLst>
              </a:tr>
              <a:tr h="25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 – Life-cycle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ALC_CMC.4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형상관리 자동화 및 릴리스 관리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372263"/>
                  </a:ext>
                </a:extLst>
              </a:tr>
              <a:tr h="2509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ALC_CMS.4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문제 추적을 포함한 형상관리 범위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980967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ALC_DEL.1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안전한 제품 전달 절차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300305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ALC_DVS.1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개발 환경 보안 대책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98021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 dirty="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ALC_LCD.1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개발 생명주기 모델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458419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ALC_TAT.1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개발 도구 관리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70167"/>
                  </a:ext>
                </a:extLst>
              </a:tr>
              <a:tr h="25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ASE – Security Target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ASE_*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Security Target 작성 및 검증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445103"/>
                  </a:ext>
                </a:extLst>
              </a:tr>
              <a:tr h="250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ATE – </a:t>
                      </a:r>
                      <a:r>
                        <a:rPr lang="ko-KR" sz="700" dirty="0" err="1"/>
                        <a:t>Tests</a:t>
                      </a:r>
                      <a:endParaRPr lang="ko-KR" sz="700" dirty="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ATE_COV.2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보안 요구사항-테스트 커버리지 분석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671673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ATE_DPT.1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설계 기반 테스트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775495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ATE_FUN.1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개발자 기능 테스트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1569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700" dirty="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ATE_IND.2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평가기관 독립 테스트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120813"/>
                  </a:ext>
                </a:extLst>
              </a:tr>
              <a:tr h="143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AVA – </a:t>
                      </a:r>
                      <a:r>
                        <a:rPr lang="ko-KR" sz="700" dirty="0" err="1"/>
                        <a:t>Vulnerability</a:t>
                      </a:r>
                      <a:endParaRPr lang="ko-KR" sz="700" dirty="0"/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AVA_VAN.3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집중적인 취약점 분석</a:t>
                      </a:r>
                    </a:p>
                  </a:txBody>
                  <a:tcPr marL="35850" marR="35850" marT="17925" marB="179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60637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EF82DE-5C81-9C99-C65F-882ADD777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65881"/>
              </p:ext>
            </p:extLst>
          </p:nvPr>
        </p:nvGraphicFramePr>
        <p:xfrm>
          <a:off x="552656" y="1246522"/>
          <a:ext cx="3536020" cy="24010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005">
                  <a:extLst>
                    <a:ext uri="{9D8B030D-6E8A-4147-A177-3AD203B41FA5}">
                      <a16:colId xmlns:a16="http://schemas.microsoft.com/office/drawing/2014/main" val="3504725756"/>
                    </a:ext>
                  </a:extLst>
                </a:gridCol>
                <a:gridCol w="884005">
                  <a:extLst>
                    <a:ext uri="{9D8B030D-6E8A-4147-A177-3AD203B41FA5}">
                      <a16:colId xmlns:a16="http://schemas.microsoft.com/office/drawing/2014/main" val="625659574"/>
                    </a:ext>
                  </a:extLst>
                </a:gridCol>
                <a:gridCol w="884005">
                  <a:extLst>
                    <a:ext uri="{9D8B030D-6E8A-4147-A177-3AD203B41FA5}">
                      <a16:colId xmlns:a16="http://schemas.microsoft.com/office/drawing/2014/main" val="2341294007"/>
                    </a:ext>
                  </a:extLst>
                </a:gridCol>
                <a:gridCol w="884005">
                  <a:extLst>
                    <a:ext uri="{9D8B030D-6E8A-4147-A177-3AD203B41FA5}">
                      <a16:colId xmlns:a16="http://schemas.microsoft.com/office/drawing/2014/main" val="3289051576"/>
                    </a:ext>
                  </a:extLst>
                </a:gridCol>
              </a:tblGrid>
              <a:tr h="14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레벨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공식적 성격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핵심 의미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검증 수준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043184"/>
                  </a:ext>
                </a:extLst>
              </a:tr>
              <a:tr h="25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EAL1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Functionally</a:t>
                      </a:r>
                      <a:r>
                        <a:rPr lang="ko-KR" sz="700" dirty="0"/>
                        <a:t> </a:t>
                      </a:r>
                      <a:r>
                        <a:rPr lang="ko-KR" sz="700" dirty="0" err="1"/>
                        <a:t>Tested</a:t>
                      </a:r>
                      <a:endParaRPr lang="ko-KR" sz="700" dirty="0"/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기능적으로 테스트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기본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944975"/>
                  </a:ext>
                </a:extLst>
              </a:tr>
              <a:tr h="25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EAL2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Structurally Tested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구조를 고려한 테스트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낮음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458441"/>
                  </a:ext>
                </a:extLst>
              </a:tr>
              <a:tr h="36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EAL3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Methodically</a:t>
                      </a:r>
                      <a:r>
                        <a:rPr lang="ko-KR" sz="700" dirty="0"/>
                        <a:t> </a:t>
                      </a:r>
                      <a:r>
                        <a:rPr lang="ko-KR" sz="700" dirty="0" err="1"/>
                        <a:t>Tested</a:t>
                      </a:r>
                      <a:r>
                        <a:rPr lang="ko-KR" sz="700" dirty="0"/>
                        <a:t> and </a:t>
                      </a:r>
                      <a:r>
                        <a:rPr lang="ko-KR" sz="700" dirty="0" err="1"/>
                        <a:t>Checked</a:t>
                      </a:r>
                      <a:endParaRPr lang="ko-KR" sz="700" dirty="0"/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체계적 테스트/검토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중간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042364"/>
                  </a:ext>
                </a:extLst>
              </a:tr>
              <a:tr h="36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EAL4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/>
                        <a:t>Methodically</a:t>
                      </a:r>
                      <a:r>
                        <a:rPr lang="ko-KR" sz="700" dirty="0"/>
                        <a:t> </a:t>
                      </a:r>
                      <a:r>
                        <a:rPr lang="ko-KR" sz="700" dirty="0" err="1"/>
                        <a:t>Designed</a:t>
                      </a:r>
                      <a:r>
                        <a:rPr lang="ko-KR" sz="700" dirty="0"/>
                        <a:t>, </a:t>
                      </a:r>
                      <a:r>
                        <a:rPr lang="ko-KR" sz="700" dirty="0" err="1"/>
                        <a:t>Tested</a:t>
                      </a:r>
                      <a:r>
                        <a:rPr lang="ko-KR" sz="700" dirty="0"/>
                        <a:t> and </a:t>
                      </a:r>
                      <a:r>
                        <a:rPr lang="ko-KR" sz="700" dirty="0" err="1"/>
                        <a:t>Reviewed</a:t>
                      </a:r>
                      <a:endParaRPr lang="ko-KR" sz="700" dirty="0"/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설계부터 체계적으로 검증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중상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146513"/>
                  </a:ext>
                </a:extLst>
              </a:tr>
              <a:tr h="36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EAL5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Semiformally Designed and Tested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반정형 설계 및 테스트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높음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321532"/>
                  </a:ext>
                </a:extLst>
              </a:tr>
              <a:tr h="36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EAL6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Semiformally Verified Design and Tested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반정형 설계 검증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매우 높음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184206"/>
                  </a:ext>
                </a:extLst>
              </a:tr>
              <a:tr h="253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EAL7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Formally Verified Design and Tested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/>
                        <a:t>형식적 검증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/>
                        <a:t>최고</a:t>
                      </a:r>
                    </a:p>
                  </a:txBody>
                  <a:tcPr marL="50189" marR="50189" marT="25095" marB="250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892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323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9A2C-75C8-0A6C-06C8-F633233F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842A5-BEBB-EC31-7168-0D564F29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6234373" cy="409575"/>
          </a:xfrm>
        </p:spPr>
        <p:txBody>
          <a:bodyPr>
            <a:normAutofit/>
          </a:bodyPr>
          <a:lstStyle/>
          <a:p>
            <a:r>
              <a:rPr lang="en-US" altLang="ko-KR" dirty="0"/>
              <a:t>RPMB (Replay Protected Memory Block)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37DEF75-A7F5-2253-A8B4-568FBDA3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388" y="721467"/>
            <a:ext cx="8114012" cy="3843499"/>
          </a:xfrm>
        </p:spPr>
        <p:txBody>
          <a:bodyPr/>
          <a:lstStyle/>
          <a:p>
            <a:r>
              <a:rPr lang="ko-KR" altLang="en-US" sz="1200" dirty="0"/>
              <a:t>데이터의 위조와 이전 데이터의 재사용을 탐지</a:t>
            </a:r>
            <a:endParaRPr lang="en-US" altLang="ko-KR" sz="1200" dirty="0"/>
          </a:p>
          <a:p>
            <a:r>
              <a:rPr lang="ko-KR" altLang="en-US" sz="1200" dirty="0"/>
              <a:t>핵심요소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C100A6-13C2-976D-9C02-F14339599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65810"/>
              </p:ext>
            </p:extLst>
          </p:nvPr>
        </p:nvGraphicFramePr>
        <p:xfrm>
          <a:off x="514994" y="1400571"/>
          <a:ext cx="8114012" cy="1360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7861">
                  <a:extLst>
                    <a:ext uri="{9D8B030D-6E8A-4147-A177-3AD203B41FA5}">
                      <a16:colId xmlns:a16="http://schemas.microsoft.com/office/drawing/2014/main" val="1961150165"/>
                    </a:ext>
                  </a:extLst>
                </a:gridCol>
                <a:gridCol w="2609557">
                  <a:extLst>
                    <a:ext uri="{9D8B030D-6E8A-4147-A177-3AD203B41FA5}">
                      <a16:colId xmlns:a16="http://schemas.microsoft.com/office/drawing/2014/main" val="653072366"/>
                    </a:ext>
                  </a:extLst>
                </a:gridCol>
                <a:gridCol w="4156594">
                  <a:extLst>
                    <a:ext uri="{9D8B030D-6E8A-4147-A177-3AD203B41FA5}">
                      <a16:colId xmlns:a16="http://schemas.microsoft.com/office/drawing/2014/main" val="1779645293"/>
                    </a:ext>
                  </a:extLst>
                </a:gridCol>
              </a:tblGrid>
              <a:tr h="174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chemeClr val="bg1"/>
                          </a:solidFill>
                          <a:effectLst/>
                        </a:rPr>
                        <a:t>요소</a:t>
                      </a:r>
                      <a:endParaRPr lang="ko-KR" sz="900" b="1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생성 및 관리 주체</a:t>
                      </a:r>
                      <a:endParaRPr lang="ko-KR" sz="900" b="1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900" b="1" dirty="0">
                          <a:solidFill>
                            <a:schemeClr val="bg1"/>
                          </a:solidFill>
                          <a:effectLst/>
                        </a:rPr>
                        <a:t>역할</a:t>
                      </a:r>
                      <a:endParaRPr lang="ko-KR" sz="900" b="1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109503"/>
                  </a:ext>
                </a:extLst>
              </a:tr>
              <a:tr h="286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 dirty="0" err="1">
                          <a:effectLst/>
                        </a:rPr>
                        <a:t>Authentication</a:t>
                      </a:r>
                      <a:r>
                        <a:rPr lang="ko-KR" sz="900" dirty="0">
                          <a:effectLst/>
                        </a:rPr>
                        <a:t> </a:t>
                      </a:r>
                      <a:r>
                        <a:rPr lang="ko-KR" sz="900" dirty="0" err="1">
                          <a:effectLst/>
                        </a:rPr>
                        <a:t>Key</a:t>
                      </a:r>
                      <a:endParaRPr lang="ko-KR" sz="90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RPMB</a:t>
                      </a: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장치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소프트웨어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 dirty="0">
                          <a:effectLst/>
                        </a:rPr>
                        <a:t>요청과 응답의 인증에 사용</a:t>
                      </a:r>
                      <a:endParaRPr lang="en-US" altLang="ko-KR" sz="9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629408"/>
                  </a:ext>
                </a:extLst>
              </a:tr>
              <a:tr h="286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 dirty="0">
                          <a:effectLst/>
                        </a:rPr>
                        <a:t>HMAC-SHA256</a:t>
                      </a:r>
                      <a:endParaRPr lang="ko-KR" sz="90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소프트웨어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쓰기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RPMB</a:t>
                      </a: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장치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읽기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 b="1" dirty="0">
                          <a:solidFill>
                            <a:srgbClr val="0000FF"/>
                          </a:solidFill>
                          <a:effectLst/>
                        </a:rPr>
                        <a:t>올바른 주체</a:t>
                      </a:r>
                      <a:r>
                        <a:rPr lang="ko-KR" sz="900" dirty="0">
                          <a:effectLst/>
                        </a:rPr>
                        <a:t>에게서 </a:t>
                      </a:r>
                      <a:r>
                        <a:rPr lang="ko-KR" altLang="ko-KR" sz="900" dirty="0">
                          <a:effectLst/>
                        </a:rPr>
                        <a:t>데이터가 </a:t>
                      </a:r>
                      <a:r>
                        <a:rPr lang="ko-KR" sz="900" dirty="0">
                          <a:effectLst/>
                        </a:rPr>
                        <a:t>왔고 변경되지 않았는지 확인</a:t>
                      </a:r>
                      <a:endParaRPr lang="ko-KR" sz="900" b="0" i="0" dirty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548259"/>
                  </a:ext>
                </a:extLst>
              </a:tr>
              <a:tr h="286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>
                          <a:effectLst/>
                        </a:rPr>
                        <a:t>Write Counter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RPMB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장치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 b="1" dirty="0">
                          <a:solidFill>
                            <a:srgbClr val="0000FF"/>
                          </a:solidFill>
                          <a:effectLst/>
                        </a:rPr>
                        <a:t>쓰기가 성공할 때마다 증가</a:t>
                      </a:r>
                      <a:r>
                        <a:rPr lang="ko-KR" sz="900" dirty="0">
                          <a:effectLst/>
                        </a:rPr>
                        <a:t>. 과거 쓰기 요청의 </a:t>
                      </a:r>
                      <a:r>
                        <a:rPr lang="ko-KR" sz="900" b="0" dirty="0">
                          <a:solidFill>
                            <a:schemeClr val="tx1"/>
                          </a:solidFill>
                          <a:effectLst/>
                        </a:rPr>
                        <a:t>재사용을 차단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610003"/>
                  </a:ext>
                </a:extLst>
              </a:tr>
              <a:tr h="286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>
                          <a:effectLst/>
                        </a:rPr>
                        <a:t>Nonce</a:t>
                      </a:r>
                      <a:endParaRPr lang="ko-KR" sz="900" b="0" i="0">
                        <a:solidFill>
                          <a:srgbClr val="000000"/>
                        </a:solidFill>
                        <a:effectLst/>
                        <a:latin typeface="-apple-system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소프트웨어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900" b="1" dirty="0">
                          <a:solidFill>
                            <a:srgbClr val="0000FF"/>
                          </a:solidFill>
                          <a:effectLst/>
                        </a:rPr>
                        <a:t>읽기 요청마다 새로 생성</a:t>
                      </a:r>
                      <a:r>
                        <a:rPr lang="ko-KR" sz="900" dirty="0">
                          <a:effectLst/>
                        </a:rPr>
                        <a:t>하는 임의 값. 과거 읽기 응답의 재사용을 탐지</a:t>
                      </a:r>
                      <a:endParaRPr lang="ko-KR" altLang="en-US" sz="9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181636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4980F438-F4CE-FE66-B246-1579528C9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9" y="2884402"/>
            <a:ext cx="2331168" cy="18562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663E947-3A9A-E963-8403-16D723A4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356" y="2884402"/>
            <a:ext cx="3197782" cy="19893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F34605-7DCF-EDA1-92E2-F72248461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282" y="3396153"/>
            <a:ext cx="1635421" cy="112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80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C208D-2C82-5AAC-79F9-14B273AC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6555921" cy="409575"/>
          </a:xfrm>
        </p:spPr>
        <p:txBody>
          <a:bodyPr>
            <a:normAutofit/>
          </a:bodyPr>
          <a:lstStyle/>
          <a:p>
            <a:r>
              <a:rPr lang="en-US" altLang="ko-KR" dirty="0"/>
              <a:t>DMA HW</a:t>
            </a:r>
            <a:r>
              <a:rPr lang="ko-KR" altLang="en-US" dirty="0"/>
              <a:t>의 </a:t>
            </a:r>
            <a:r>
              <a:rPr lang="en-US" altLang="ko-KR" dirty="0"/>
              <a:t>Protected</a:t>
            </a:r>
            <a:r>
              <a:rPr lang="ko-KR" altLang="en-US" dirty="0"/>
              <a:t> </a:t>
            </a:r>
            <a:r>
              <a:rPr lang="en-US" altLang="ko-KR" dirty="0"/>
              <a:t>Memory </a:t>
            </a:r>
            <a:r>
              <a:rPr lang="ko-KR" altLang="en-US" dirty="0"/>
              <a:t>침해 방지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7C955F-8AA2-8DA5-636A-C9C563D14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721467"/>
            <a:ext cx="8181521" cy="800356"/>
          </a:xfrm>
        </p:spPr>
        <p:txBody>
          <a:bodyPr/>
          <a:lstStyle/>
          <a:p>
            <a:r>
              <a:rPr lang="en-US" altLang="ko-KR" dirty="0"/>
              <a:t>VID</a:t>
            </a:r>
            <a:r>
              <a:rPr lang="ko-KR" altLang="en-US" dirty="0"/>
              <a:t>기반의 하드웨어 </a:t>
            </a:r>
            <a:r>
              <a:rPr lang="en-US" altLang="ko-KR" dirty="0"/>
              <a:t>2</a:t>
            </a:r>
            <a:r>
              <a:rPr lang="ko-KR" altLang="en-US" dirty="0"/>
              <a:t>단계 보안 체계</a:t>
            </a:r>
            <a:r>
              <a:rPr lang="en-US" altLang="ko-KR" dirty="0"/>
              <a:t>(VGEN &amp; S2MPU)</a:t>
            </a:r>
            <a:r>
              <a:rPr lang="ko-KR" altLang="en-US" dirty="0"/>
              <a:t>를 적용하여 </a:t>
            </a:r>
            <a:r>
              <a:rPr lang="en-US" altLang="ko-KR" dirty="0"/>
              <a:t>Host</a:t>
            </a:r>
            <a:r>
              <a:rPr lang="ko-KR" altLang="en-US" dirty="0"/>
              <a:t>와 </a:t>
            </a:r>
            <a:r>
              <a:rPr lang="en-US" altLang="ko-KR" dirty="0"/>
              <a:t>pVM</a:t>
            </a:r>
            <a:r>
              <a:rPr lang="ko-KR" altLang="en-US" dirty="0"/>
              <a:t>간의 </a:t>
            </a:r>
            <a:r>
              <a:rPr lang="en-US" altLang="ko-KR" dirty="0"/>
              <a:t>DMA </a:t>
            </a:r>
            <a:r>
              <a:rPr lang="ko-KR" altLang="en-US" dirty="0"/>
              <a:t>메모리 상호 침범을 원천 차단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54786-4C42-F9C0-C199-FBF3CC10E12D}"/>
              </a:ext>
            </a:extLst>
          </p:cNvPr>
          <p:cNvSpPr txBox="1"/>
          <p:nvPr/>
        </p:nvSpPr>
        <p:spPr>
          <a:xfrm>
            <a:off x="5657892" y="2779864"/>
            <a:ext cx="2623959" cy="626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800" b="1" dirty="0">
                <a:solidFill>
                  <a:srgbClr val="0000FF"/>
                </a:solidFill>
              </a:rPr>
              <a:t>VGEN </a:t>
            </a:r>
            <a:r>
              <a:rPr lang="ko-KR" altLang="en-US" sz="800" b="1" dirty="0">
                <a:solidFill>
                  <a:srgbClr val="0000FF"/>
                </a:solidFill>
              </a:rPr>
              <a:t>에서 </a:t>
            </a:r>
            <a:r>
              <a:rPr lang="en-US" altLang="ko-KR" sz="800" b="1" dirty="0">
                <a:solidFill>
                  <a:srgbClr val="0000FF"/>
                </a:solidFill>
              </a:rPr>
              <a:t>VID</a:t>
            </a:r>
            <a:r>
              <a:rPr lang="ko-KR" altLang="en-US" sz="800" b="1" dirty="0">
                <a:solidFill>
                  <a:srgbClr val="0000FF"/>
                </a:solidFill>
              </a:rPr>
              <a:t>를 </a:t>
            </a:r>
            <a:r>
              <a:rPr lang="en-US" altLang="ko-KR" sz="800" b="1" dirty="0">
                <a:solidFill>
                  <a:srgbClr val="0000FF"/>
                </a:solidFill>
              </a:rPr>
              <a:t>switch</a:t>
            </a:r>
            <a:r>
              <a:rPr lang="ko-KR" altLang="en-US" sz="800" b="1" dirty="0">
                <a:solidFill>
                  <a:srgbClr val="0000FF"/>
                </a:solidFill>
              </a:rPr>
              <a:t>하여</a:t>
            </a:r>
            <a:endParaRPr lang="en-US" altLang="ko-KR" sz="800" b="1" dirty="0">
              <a:solidFill>
                <a:srgbClr val="0000FF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800" b="1" dirty="0">
                <a:solidFill>
                  <a:srgbClr val="0000FF"/>
                </a:solidFill>
              </a:rPr>
              <a:t>Stage</a:t>
            </a:r>
            <a:r>
              <a:rPr lang="ko-KR" altLang="en-US" sz="800" b="1" dirty="0">
                <a:solidFill>
                  <a:srgbClr val="0000FF"/>
                </a:solidFill>
              </a:rPr>
              <a:t> </a:t>
            </a:r>
            <a:r>
              <a:rPr lang="en-US" altLang="ko-KR" sz="800" b="1" dirty="0">
                <a:solidFill>
                  <a:srgbClr val="0000FF"/>
                </a:solidFill>
              </a:rPr>
              <a:t>2</a:t>
            </a:r>
            <a:r>
              <a:rPr lang="ko-KR" altLang="en-US" sz="800" b="1" dirty="0">
                <a:solidFill>
                  <a:srgbClr val="0000FF"/>
                </a:solidFill>
              </a:rPr>
              <a:t> </a:t>
            </a:r>
            <a:r>
              <a:rPr lang="en-US" altLang="ko-KR" sz="800" b="1" dirty="0">
                <a:solidFill>
                  <a:srgbClr val="0000FF"/>
                </a:solidFill>
              </a:rPr>
              <a:t>MMU</a:t>
            </a:r>
            <a:r>
              <a:rPr lang="ko-KR" altLang="en-US" sz="800" b="1" dirty="0">
                <a:solidFill>
                  <a:srgbClr val="0000FF"/>
                </a:solidFill>
              </a:rPr>
              <a:t>가 참조하는 </a:t>
            </a:r>
            <a:r>
              <a:rPr lang="en-US" altLang="ko-KR" sz="800" b="1" dirty="0">
                <a:solidFill>
                  <a:srgbClr val="0000FF"/>
                </a:solidFill>
              </a:rPr>
              <a:t>Page Table</a:t>
            </a:r>
            <a:r>
              <a:rPr lang="ko-KR" altLang="en-US" sz="800" b="1" dirty="0">
                <a:solidFill>
                  <a:srgbClr val="0000FF"/>
                </a:solidFill>
              </a:rPr>
              <a:t>이 달라지고</a:t>
            </a:r>
            <a:endParaRPr lang="en-US" altLang="ko-KR" sz="800" b="1" dirty="0">
              <a:solidFill>
                <a:srgbClr val="0000FF"/>
              </a:solidFill>
            </a:endParaRPr>
          </a:p>
          <a:p>
            <a:pPr algn="l">
              <a:lnSpc>
                <a:spcPct val="150000"/>
              </a:lnSpc>
            </a:pPr>
            <a:r>
              <a:rPr lang="ko-KR" altLang="en-US" sz="800" b="1" dirty="0">
                <a:solidFill>
                  <a:srgbClr val="0000FF"/>
                </a:solidFill>
              </a:rPr>
              <a:t>이로 인해 </a:t>
            </a:r>
            <a:r>
              <a:rPr lang="en-US" altLang="ko-KR" sz="800" b="1" dirty="0">
                <a:solidFill>
                  <a:srgbClr val="0000FF"/>
                </a:solidFill>
              </a:rPr>
              <a:t>Access</a:t>
            </a:r>
            <a:r>
              <a:rPr lang="ko-KR" altLang="en-US" sz="800" b="1" dirty="0">
                <a:solidFill>
                  <a:srgbClr val="0000FF"/>
                </a:solidFill>
              </a:rPr>
              <a:t>하는 메모리가 달라짐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D33359-1111-7C12-13F0-83283F57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445" y="1710947"/>
            <a:ext cx="3927927" cy="287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83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22812-CB6C-ED19-CA29-EADB8969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65" y="166913"/>
            <a:ext cx="5386795" cy="409575"/>
          </a:xfrm>
        </p:spPr>
        <p:txBody>
          <a:bodyPr/>
          <a:lstStyle/>
          <a:p>
            <a:r>
              <a:rPr lang="en-US" altLang="ko-KR" dirty="0"/>
              <a:t>ARM Exception Level (EL)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9A216-F6D1-99E7-2C9B-797231F73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CPU </a:t>
            </a:r>
            <a:r>
              <a:rPr lang="ko-KR" altLang="en-US" dirty="0"/>
              <a:t>권한과 격리를 나누는 </a:t>
            </a:r>
            <a:r>
              <a:rPr lang="en-US" altLang="ko-KR" dirty="0"/>
              <a:t>4</a:t>
            </a:r>
            <a:r>
              <a:rPr lang="ko-KR" altLang="en-US" dirty="0"/>
              <a:t>단계 실행 계층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EL</a:t>
            </a:r>
            <a:r>
              <a:rPr lang="ko-KR" altLang="en-US" dirty="0"/>
              <a:t>간 전환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6F1C25C-F0A3-5EE1-D07E-796F5D4FA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758577"/>
              </p:ext>
            </p:extLst>
          </p:nvPr>
        </p:nvGraphicFramePr>
        <p:xfrm>
          <a:off x="701040" y="1232082"/>
          <a:ext cx="3237411" cy="125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581">
                  <a:extLst>
                    <a:ext uri="{9D8B030D-6E8A-4147-A177-3AD203B41FA5}">
                      <a16:colId xmlns:a16="http://schemas.microsoft.com/office/drawing/2014/main" val="3242671622"/>
                    </a:ext>
                  </a:extLst>
                </a:gridCol>
                <a:gridCol w="1262590">
                  <a:extLst>
                    <a:ext uri="{9D8B030D-6E8A-4147-A177-3AD203B41FA5}">
                      <a16:colId xmlns:a16="http://schemas.microsoft.com/office/drawing/2014/main" val="1101510208"/>
                    </a:ext>
                  </a:extLst>
                </a:gridCol>
                <a:gridCol w="1504240">
                  <a:extLst>
                    <a:ext uri="{9D8B030D-6E8A-4147-A177-3AD203B41FA5}">
                      <a16:colId xmlns:a16="http://schemas.microsoft.com/office/drawing/2014/main" val="2473124378"/>
                    </a:ext>
                  </a:extLst>
                </a:gridCol>
              </a:tblGrid>
              <a:tr h="1750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EL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책임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주체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1244"/>
                  </a:ext>
                </a:extLst>
              </a:tr>
              <a:tr h="1750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EL0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Business Logic </a:t>
                      </a:r>
                      <a:r>
                        <a:rPr lang="ko-KR" altLang="en-US" sz="1050" dirty="0"/>
                        <a:t>실행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Application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623894"/>
                  </a:ext>
                </a:extLst>
              </a:tr>
              <a:tr h="1750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EL1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OS </a:t>
                      </a:r>
                      <a:r>
                        <a:rPr lang="ko-KR" altLang="en-US" sz="1050" dirty="0"/>
                        <a:t>자원 통제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Kernel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39469"/>
                  </a:ext>
                </a:extLst>
              </a:tr>
              <a:tr h="1750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EL2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VM </a:t>
                      </a:r>
                      <a:r>
                        <a:rPr lang="ko-KR" altLang="en-US" sz="1050" dirty="0"/>
                        <a:t>격리 통제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Hypervisor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502907"/>
                  </a:ext>
                </a:extLst>
              </a:tr>
              <a:tr h="1186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EL3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최상위 보안 통제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Secure Monitor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188894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50CEE31D-CAF9-0040-0E76-A5582DF7BE92}"/>
              </a:ext>
            </a:extLst>
          </p:cNvPr>
          <p:cNvSpPr/>
          <p:nvPr/>
        </p:nvSpPr>
        <p:spPr>
          <a:xfrm>
            <a:off x="283106" y="1731794"/>
            <a:ext cx="285749" cy="5159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5EA35-E181-EFA2-AAC4-710C46EC3D03}"/>
              </a:ext>
            </a:extLst>
          </p:cNvPr>
          <p:cNvSpPr txBox="1"/>
          <p:nvPr/>
        </p:nvSpPr>
        <p:spPr>
          <a:xfrm>
            <a:off x="143691" y="2266406"/>
            <a:ext cx="5645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 dirty="0">
                <a:solidFill>
                  <a:srgbClr val="0000FF"/>
                </a:solidFill>
              </a:rPr>
              <a:t>높은 권한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E54AF-92FD-3AB0-C50F-7D19B7968DDA}"/>
              </a:ext>
            </a:extLst>
          </p:cNvPr>
          <p:cNvSpPr txBox="1"/>
          <p:nvPr/>
        </p:nvSpPr>
        <p:spPr>
          <a:xfrm>
            <a:off x="143691" y="1513111"/>
            <a:ext cx="5645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700" dirty="0">
                <a:solidFill>
                  <a:srgbClr val="0000FF"/>
                </a:solidFill>
              </a:rPr>
              <a:t>낮은 권한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CFDBBE2-C293-BE33-8D75-5F95736B7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60732"/>
            <a:ext cx="3678310" cy="22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9349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" dirty="0" smtClean="0">
            <a:solidFill>
              <a:srgbClr val="FF0000"/>
            </a:solidFill>
            <a:highlight>
              <a:srgbClr val="FFFF00"/>
            </a:highlight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6215</TotalTime>
  <Words>2009</Words>
  <Application>Microsoft Office PowerPoint</Application>
  <PresentationFormat>화면 슬라이드 쇼(16:9)</PresentationFormat>
  <Paragraphs>567</Paragraphs>
  <Slides>16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-apple-system</vt:lpstr>
      <vt:lpstr>Arial Unicode MS</vt:lpstr>
      <vt:lpstr>맑은 고딕</vt:lpstr>
      <vt:lpstr>Arial</vt:lpstr>
      <vt:lpstr>Calibri</vt:lpstr>
      <vt:lpstr>Segoe UI</vt:lpstr>
      <vt:lpstr>Wingdings</vt:lpstr>
      <vt:lpstr>디자인 사용자 지정</vt:lpstr>
      <vt:lpstr>Document</vt:lpstr>
      <vt:lpstr>타사 현황</vt:lpstr>
      <vt:lpstr>Secure Vision AI 레퍼런스 시나리오</vt:lpstr>
      <vt:lpstr>Voice Of Stakeholder</vt:lpstr>
      <vt:lpstr>유즈케이스 도출</vt:lpstr>
      <vt:lpstr>Utility Tree</vt:lpstr>
      <vt:lpstr>품질 속성 평가</vt:lpstr>
      <vt:lpstr>VOS &lt;-&gt; AD matrix</vt:lpstr>
      <vt:lpstr>TCB – Trusted Computing Base</vt:lpstr>
      <vt:lpstr>Secure Boot &amp; Loading Flow</vt:lpstr>
      <vt:lpstr>Control Path의 메타정보 노출</vt:lpstr>
      <vt:lpstr>보안 품질속성에 적합한 정량 메트릭</vt:lpstr>
      <vt:lpstr>추가 DP</vt:lpstr>
      <vt:lpstr>ATE, AVA</vt:lpstr>
      <vt:lpstr>RPMB (Replay Protected Memory Block)</vt:lpstr>
      <vt:lpstr>DMA HW의 Protected Memory 침해 방지 방법</vt:lpstr>
      <vt:lpstr>ARM Exception Level (EL)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Boram Park</cp:lastModifiedBy>
  <cp:revision>228</cp:revision>
  <dcterms:created xsi:type="dcterms:W3CDTF">2026-06-24T10:41:37Z</dcterms:created>
  <dcterms:modified xsi:type="dcterms:W3CDTF">2026-08-31T07:15:31Z</dcterms:modified>
</cp:coreProperties>
</file>