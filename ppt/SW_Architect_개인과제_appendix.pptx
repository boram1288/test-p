
<file path=[Content_Types].xml><?xml version="1.0" encoding="utf-8"?>
<Types xmlns="http://schemas.openxmlformats.org/package/2006/content-types">
  <Default Extension="docx" ContentType="application/vnd.openxmlformats-officedocument.wordprocessingml.document"/>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0" r:id="rId1"/>
  </p:sldMasterIdLst>
  <p:notesMasterIdLst>
    <p:notesMasterId r:id="rId19"/>
  </p:notesMasterIdLst>
  <p:sldIdLst>
    <p:sldId id="297" r:id="rId2"/>
    <p:sldId id="310" r:id="rId3"/>
    <p:sldId id="309" r:id="rId4"/>
    <p:sldId id="283" r:id="rId5"/>
    <p:sldId id="284" r:id="rId6"/>
    <p:sldId id="285" r:id="rId7"/>
    <p:sldId id="286" r:id="rId8"/>
    <p:sldId id="287" r:id="rId9"/>
    <p:sldId id="288" r:id="rId10"/>
    <p:sldId id="298" r:id="rId11"/>
    <p:sldId id="301" r:id="rId12"/>
    <p:sldId id="303" r:id="rId13"/>
    <p:sldId id="302" r:id="rId14"/>
    <p:sldId id="300" r:id="rId15"/>
    <p:sldId id="304" r:id="rId16"/>
    <p:sldId id="305" r:id="rId17"/>
    <p:sldId id="306" r:id="rId18"/>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0D25"/>
    <a:srgbClr val="000066"/>
    <a:srgbClr val="001E54"/>
    <a:srgbClr val="C8D5FF"/>
    <a:srgbClr val="00E5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024" autoAdjust="0"/>
    <p:restoredTop sz="91273" autoAdjust="0"/>
  </p:normalViewPr>
  <p:slideViewPr>
    <p:cSldViewPr snapToGrid="0" snapToObjects="1">
      <p:cViewPr varScale="1">
        <p:scale>
          <a:sx n="146" d="100"/>
          <a:sy n="146" d="100"/>
        </p:scale>
        <p:origin x="858" y="114"/>
      </p:cViewPr>
      <p:guideLst/>
    </p:cSldViewPr>
  </p:slideViewPr>
  <p:notesTextViewPr>
    <p:cViewPr>
      <p:scale>
        <a:sx n="3" d="2"/>
        <a:sy n="3" d="2"/>
      </p:scale>
      <p:origin x="0" y="0"/>
    </p:cViewPr>
  </p:notesTextViewPr>
  <p:notesViewPr>
    <p:cSldViewPr snapToGrid="0" snapToObjects="1">
      <p:cViewPr varScale="1">
        <p:scale>
          <a:sx n="62" d="100"/>
          <a:sy n="62" d="100"/>
        </p:scale>
        <p:origin x="3562"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470901678"/>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구역 머리글">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158776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슬라이드">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7369772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ppendix">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9AE1A9C-FC98-3A78-5374-58F8EFBD3DFA}"/>
              </a:ext>
            </a:extLst>
          </p:cNvPr>
          <p:cNvSpPr>
            <a:spLocks noGrp="1"/>
          </p:cNvSpPr>
          <p:nvPr>
            <p:ph type="title"/>
          </p:nvPr>
        </p:nvSpPr>
        <p:spPr>
          <a:xfrm>
            <a:off x="236765" y="166913"/>
            <a:ext cx="4052205" cy="409575"/>
          </a:xfrm>
        </p:spPr>
        <p:txBody>
          <a:bodyPr>
            <a:normAutofit/>
          </a:bodyPr>
          <a:lstStyle>
            <a:lvl1pPr>
              <a:defRPr sz="2200">
                <a:solidFill>
                  <a:schemeClr val="tx1"/>
                </a:solidFill>
              </a:defRPr>
            </a:lvl1pPr>
          </a:lstStyle>
          <a:p>
            <a:r>
              <a:rPr lang="ko-KR" altLang="en-US" dirty="0"/>
              <a:t>마스터 제목 스타일 편집</a:t>
            </a:r>
          </a:p>
        </p:txBody>
      </p:sp>
      <p:sp>
        <p:nvSpPr>
          <p:cNvPr id="6" name="슬라이드 번호 개체 틀 5">
            <a:extLst>
              <a:ext uri="{FF2B5EF4-FFF2-40B4-BE49-F238E27FC236}">
                <a16:creationId xmlns:a16="http://schemas.microsoft.com/office/drawing/2014/main" id="{9DE25A48-D972-99C6-6D45-5547084FB1C3}"/>
              </a:ext>
            </a:extLst>
          </p:cNvPr>
          <p:cNvSpPr>
            <a:spLocks noGrp="1"/>
          </p:cNvSpPr>
          <p:nvPr>
            <p:ph type="sldNum" sz="quarter" idx="12"/>
          </p:nvPr>
        </p:nvSpPr>
        <p:spPr>
          <a:xfrm>
            <a:off x="3543300" y="4967018"/>
            <a:ext cx="2057400" cy="140195"/>
          </a:xfrm>
        </p:spPr>
        <p:txBody>
          <a:bodyPr/>
          <a:lstStyle>
            <a:lvl1pPr algn="ctr">
              <a:defRPr/>
            </a:lvl1pPr>
          </a:lstStyle>
          <a:p>
            <a:pPr algn="ctr"/>
            <a:fld id="{0C4C3D73-DF24-43D6-9730-D1B53762B53A}" type="slidenum">
              <a:rPr lang="ko-KR" altLang="en-US" smtClean="0"/>
              <a:pPr/>
              <a:t>‹#›</a:t>
            </a:fld>
            <a:endParaRPr lang="ko-KR" altLang="en-US"/>
          </a:p>
        </p:txBody>
      </p:sp>
      <p:cxnSp>
        <p:nvCxnSpPr>
          <p:cNvPr id="22" name="직선 연결선 21">
            <a:extLst>
              <a:ext uri="{FF2B5EF4-FFF2-40B4-BE49-F238E27FC236}">
                <a16:creationId xmlns:a16="http://schemas.microsoft.com/office/drawing/2014/main" id="{B92EF4B3-6A60-92A0-F8BB-FBE8CC1887FB}"/>
              </a:ext>
            </a:extLst>
          </p:cNvPr>
          <p:cNvCxnSpPr/>
          <p:nvPr userDrawn="1"/>
        </p:nvCxnSpPr>
        <p:spPr>
          <a:xfrm>
            <a:off x="185966" y="181427"/>
            <a:ext cx="0" cy="355600"/>
          </a:xfrm>
          <a:prstGeom prst="line">
            <a:avLst/>
          </a:prstGeom>
          <a:ln w="57150">
            <a:solidFill>
              <a:srgbClr val="FFC000"/>
            </a:solidFill>
          </a:ln>
        </p:spPr>
        <p:style>
          <a:lnRef idx="1">
            <a:schemeClr val="accent1"/>
          </a:lnRef>
          <a:fillRef idx="0">
            <a:schemeClr val="accent1"/>
          </a:fillRef>
          <a:effectRef idx="0">
            <a:schemeClr val="accent1"/>
          </a:effectRef>
          <a:fontRef idx="minor">
            <a:schemeClr val="tx1"/>
          </a:fontRef>
        </p:style>
      </p:cxnSp>
      <p:sp>
        <p:nvSpPr>
          <p:cNvPr id="3" name="내용 개체 틀 2">
            <a:extLst>
              <a:ext uri="{FF2B5EF4-FFF2-40B4-BE49-F238E27FC236}">
                <a16:creationId xmlns:a16="http://schemas.microsoft.com/office/drawing/2014/main" id="{A1D397C1-0FFF-9070-F7FD-C37D52E875A3}"/>
              </a:ext>
            </a:extLst>
          </p:cNvPr>
          <p:cNvSpPr>
            <a:spLocks noGrp="1"/>
          </p:cNvSpPr>
          <p:nvPr>
            <p:ph idx="1"/>
          </p:nvPr>
        </p:nvSpPr>
        <p:spPr>
          <a:xfrm>
            <a:off x="333829" y="721467"/>
            <a:ext cx="8181521" cy="2998478"/>
          </a:xfrm>
          <a:prstGeom prst="rect">
            <a:avLst/>
          </a:prstGeom>
        </p:spPr>
        <p:txBody>
          <a:bodyPr/>
          <a:lstStyle>
            <a:lvl1pPr>
              <a:lnSpc>
                <a:spcPct val="120000"/>
              </a:lnSpc>
              <a:buFont typeface="Wingdings" panose="05000000000000000000" pitchFamily="2" charset="2"/>
              <a:buChar char="ü"/>
              <a:defRPr sz="1600" b="1">
                <a:latin typeface="+mn-ea"/>
                <a:ea typeface="+mn-ea"/>
              </a:defRPr>
            </a:lvl1pPr>
            <a:lvl2pPr marL="432000">
              <a:lnSpc>
                <a:spcPct val="120000"/>
              </a:lnSpc>
              <a:buFont typeface="Wingdings" panose="05000000000000000000" pitchFamily="2" charset="2"/>
              <a:buChar char="l"/>
              <a:defRPr sz="1200">
                <a:latin typeface="+mn-ea"/>
                <a:ea typeface="+mn-ea"/>
              </a:defRPr>
            </a:lvl2pPr>
            <a:lvl3pPr marL="532800" indent="-115200">
              <a:buFont typeface="Wingdings" panose="05000000000000000000" pitchFamily="2" charset="2"/>
              <a:buChar char="§"/>
              <a:defRPr sz="1050"/>
            </a:lvl3pPr>
            <a:lvl4pPr marL="864000">
              <a:defRPr sz="700"/>
            </a:lvl4pPr>
          </a:lstStyle>
          <a:p>
            <a:pPr lvl="0"/>
            <a:r>
              <a:rPr lang="ko-KR" altLang="en-US" dirty="0"/>
              <a:t>마스터 텍스트 스타일을 편집하려면 클릭</a:t>
            </a:r>
          </a:p>
          <a:p>
            <a:pPr lvl="1"/>
            <a:r>
              <a:rPr lang="ko-KR" altLang="en-US" dirty="0"/>
              <a:t>두 번째 수준</a:t>
            </a:r>
            <a:endParaRPr lang="en-US" altLang="ko-KR" dirty="0"/>
          </a:p>
          <a:p>
            <a:pPr lvl="2"/>
            <a:r>
              <a:rPr lang="ko-KR" altLang="en-US" dirty="0"/>
              <a:t>세번째 수준</a:t>
            </a:r>
          </a:p>
        </p:txBody>
      </p:sp>
    </p:spTree>
    <p:extLst>
      <p:ext uri="{BB962C8B-B14F-4D97-AF65-F5344CB8AC3E}">
        <p14:creationId xmlns:p14="http://schemas.microsoft.com/office/powerpoint/2010/main" val="14430531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제목 슬라이드">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직사각형 6">
            <a:extLst>
              <a:ext uri="{FF2B5EF4-FFF2-40B4-BE49-F238E27FC236}">
                <a16:creationId xmlns:a16="http://schemas.microsoft.com/office/drawing/2014/main" id="{0D060EF7-7470-FB9E-1EFC-ED23C2A1915B}"/>
              </a:ext>
            </a:extLst>
          </p:cNvPr>
          <p:cNvSpPr/>
          <p:nvPr userDrawn="1"/>
        </p:nvSpPr>
        <p:spPr>
          <a:xfrm>
            <a:off x="0" y="0"/>
            <a:ext cx="9144000" cy="1731817"/>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8" name="직사각형 7">
            <a:extLst>
              <a:ext uri="{FF2B5EF4-FFF2-40B4-BE49-F238E27FC236}">
                <a16:creationId xmlns:a16="http://schemas.microsoft.com/office/drawing/2014/main" id="{AA66C22F-BB9B-1FC0-9201-972B6F576BF7}"/>
              </a:ext>
            </a:extLst>
          </p:cNvPr>
          <p:cNvSpPr/>
          <p:nvPr userDrawn="1"/>
        </p:nvSpPr>
        <p:spPr>
          <a:xfrm>
            <a:off x="0" y="2958021"/>
            <a:ext cx="9144000" cy="2185477"/>
          </a:xfrm>
          <a:prstGeom prst="rect">
            <a:avLst/>
          </a:prstGeom>
          <a:solidFill>
            <a:schemeClr val="bg1"/>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a:p>
        </p:txBody>
      </p:sp>
      <p:sp>
        <p:nvSpPr>
          <p:cNvPr id="11" name="제목 1">
            <a:extLst>
              <a:ext uri="{FF2B5EF4-FFF2-40B4-BE49-F238E27FC236}">
                <a16:creationId xmlns:a16="http://schemas.microsoft.com/office/drawing/2014/main" id="{E868DCA2-18CB-49A6-B959-E3CD6EE233A8}"/>
              </a:ext>
            </a:extLst>
          </p:cNvPr>
          <p:cNvSpPr>
            <a:spLocks noGrp="1"/>
          </p:cNvSpPr>
          <p:nvPr>
            <p:ph type="title"/>
          </p:nvPr>
        </p:nvSpPr>
        <p:spPr>
          <a:xfrm>
            <a:off x="1738009" y="1945409"/>
            <a:ext cx="5162145" cy="799019"/>
          </a:xfrm>
          <a:solidFill>
            <a:srgbClr val="000D25">
              <a:alpha val="47843"/>
            </a:srgbClr>
          </a:solidFill>
          <a:ln>
            <a:noFill/>
          </a:ln>
        </p:spPr>
        <p:txBody>
          <a:bodyPr anchor="ctr">
            <a:normAutofit/>
          </a:bodyPr>
          <a:lstStyle>
            <a:lvl1pPr algn="ctr">
              <a:defRPr sz="3200">
                <a:solidFill>
                  <a:schemeClr val="bg1"/>
                </a:solidFill>
              </a:defRPr>
            </a:lvl1pPr>
          </a:lstStyle>
          <a:p>
            <a:r>
              <a:rPr lang="ko-KR" altLang="en-US" dirty="0"/>
              <a:t>마스터 제목 스타일 편집</a:t>
            </a:r>
          </a:p>
        </p:txBody>
      </p:sp>
    </p:spTree>
    <p:extLst>
      <p:ext uri="{BB962C8B-B14F-4D97-AF65-F5344CB8AC3E}">
        <p14:creationId xmlns:p14="http://schemas.microsoft.com/office/powerpoint/2010/main" val="26896187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0D20ECF5-690A-4355-800C-90DC9036C876}"/>
              </a:ext>
            </a:extLst>
          </p:cNvPr>
          <p:cNvSpPr>
            <a:spLocks noGrp="1"/>
          </p:cNvSpPr>
          <p:nvPr>
            <p:ph type="title"/>
          </p:nvPr>
        </p:nvSpPr>
        <p:spPr>
          <a:xfrm>
            <a:off x="628650" y="274638"/>
            <a:ext cx="7886700" cy="596219"/>
          </a:xfrm>
          <a:prstGeom prst="rect">
            <a:avLst/>
          </a:prstGeom>
        </p:spPr>
        <p:txBody>
          <a:bodyPr vert="horz" lIns="91440" tIns="45720" rIns="91440" bIns="45720" rtlCol="0" anchor="ctr">
            <a:normAutofit/>
          </a:bodyPr>
          <a:lstStyle/>
          <a:p>
            <a:r>
              <a:rPr lang="ko-KR" altLang="en-US" dirty="0"/>
              <a:t>마스터 제목 스타일 편집</a:t>
            </a:r>
          </a:p>
        </p:txBody>
      </p:sp>
      <p:sp>
        <p:nvSpPr>
          <p:cNvPr id="6" name="슬라이드 번호 개체 틀 5">
            <a:extLst>
              <a:ext uri="{FF2B5EF4-FFF2-40B4-BE49-F238E27FC236}">
                <a16:creationId xmlns:a16="http://schemas.microsoft.com/office/drawing/2014/main" id="{7E34C767-C6BE-FE36-F8D3-4ABE64605B42}"/>
              </a:ext>
            </a:extLst>
          </p:cNvPr>
          <p:cNvSpPr>
            <a:spLocks noGrp="1"/>
          </p:cNvSpPr>
          <p:nvPr>
            <p:ph type="sldNum" sz="quarter" idx="4"/>
          </p:nvPr>
        </p:nvSpPr>
        <p:spPr>
          <a:xfrm>
            <a:off x="6457950" y="4767263"/>
            <a:ext cx="2057400" cy="274637"/>
          </a:xfrm>
          <a:prstGeom prst="rect">
            <a:avLst/>
          </a:prstGeom>
        </p:spPr>
        <p:txBody>
          <a:bodyPr vert="horz" lIns="91440" tIns="45720" rIns="91440" bIns="45720" rtlCol="0" anchor="ctr"/>
          <a:lstStyle>
            <a:lvl1pPr algn="r">
              <a:defRPr sz="1200">
                <a:solidFill>
                  <a:schemeClr val="tx1">
                    <a:tint val="75000"/>
                  </a:schemeClr>
                </a:solidFill>
              </a:defRPr>
            </a:lvl1pPr>
          </a:lstStyle>
          <a:p>
            <a:fld id="{0C4C3D73-DF24-43D6-9730-D1B53762B53A}" type="slidenum">
              <a:rPr lang="ko-KR" altLang="en-US" smtClean="0"/>
              <a:t>‹#›</a:t>
            </a:fld>
            <a:endParaRPr lang="ko-KR" altLang="en-US"/>
          </a:p>
        </p:txBody>
      </p:sp>
    </p:spTree>
    <p:extLst>
      <p:ext uri="{BB962C8B-B14F-4D97-AF65-F5344CB8AC3E}">
        <p14:creationId xmlns:p14="http://schemas.microsoft.com/office/powerpoint/2010/main" val="4058039593"/>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66" r:id="rId3"/>
    <p:sldLayoutId id="2147483665" r:id="rId4"/>
  </p:sldLayoutIdLst>
  <p:txStyles>
    <p:titleStyle>
      <a:lvl1pPr algn="l" defTabSz="914400" rtl="0" eaLnBrk="1" latinLnBrk="1" hangingPunct="1">
        <a:lnSpc>
          <a:spcPct val="90000"/>
        </a:lnSpc>
        <a:spcBef>
          <a:spcPct val="0"/>
        </a:spcBef>
        <a:buNone/>
        <a:defRPr sz="2400" b="1" kern="1200">
          <a:solidFill>
            <a:srgbClr val="000066"/>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hyperlink" Target="https://optee.readthedocs.io/en/latest/architecture/globalplatform_api.html" TargetMode="External"/><Relationship Id="rId5" Type="http://schemas.openxmlformats.org/officeDocument/2006/relationships/image" Target="../media/image6.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hyperlink" Target="https://eur-lex.europa.eu/legal-content/EN/TXT/?uri=CELEX%3A02019R2144-20220706" TargetMode="External"/><Relationship Id="rId2" Type="http://schemas.openxmlformats.org/officeDocument/2006/relationships/hyperlink" Target="https://eur-lex.europa.eu/legal-content/en/TXT/?qid=1767721066212&amp;uri=CELEX%3A32024R1689&amp;utm_source" TargetMode="Externa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package" Target="../embeddings/Microsoft_Word_Document.docx"/><Relationship Id="rId2" Type="http://schemas.openxmlformats.org/officeDocument/2006/relationships/image" Target="../media/image9.png"/><Relationship Id="rId1" Type="http://schemas.openxmlformats.org/officeDocument/2006/relationships/slideLayout" Target="../slideLayouts/slideLayout3.xml"/><Relationship Id="rId4" Type="http://schemas.openxmlformats.org/officeDocument/2006/relationships/image" Target="../media/image10.emf"/></Relationships>
</file>

<file path=ppt/slides/_rels/slide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package" Target="../embeddings/Microsoft_Word_Document1.docx"/><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3.xml"/><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9F73E8A-5FF4-D1CB-F742-934177095EDD}"/>
              </a:ext>
            </a:extLst>
          </p:cNvPr>
          <p:cNvSpPr>
            <a:spLocks noGrp="1"/>
          </p:cNvSpPr>
          <p:nvPr>
            <p:ph type="title"/>
          </p:nvPr>
        </p:nvSpPr>
        <p:spPr>
          <a:xfrm>
            <a:off x="236765" y="166913"/>
            <a:ext cx="4681401" cy="409575"/>
          </a:xfrm>
        </p:spPr>
        <p:txBody>
          <a:bodyPr>
            <a:normAutofit/>
          </a:bodyPr>
          <a:lstStyle/>
          <a:p>
            <a:r>
              <a:rPr lang="en-US" altLang="ko-KR" dirty="0"/>
              <a:t>GlobalPlatform </a:t>
            </a:r>
            <a:r>
              <a:rPr lang="ko-KR" altLang="en-US" dirty="0"/>
              <a:t>표준 지원 </a:t>
            </a:r>
            <a:r>
              <a:rPr lang="en-US" altLang="ko-KR" dirty="0"/>
              <a:t>- </a:t>
            </a:r>
            <a:r>
              <a:rPr lang="ko-KR" altLang="en-US" dirty="0"/>
              <a:t>타사 현황</a:t>
            </a:r>
          </a:p>
        </p:txBody>
      </p:sp>
      <p:graphicFrame>
        <p:nvGraphicFramePr>
          <p:cNvPr id="4" name="내용 개체 틀 3">
            <a:extLst>
              <a:ext uri="{FF2B5EF4-FFF2-40B4-BE49-F238E27FC236}">
                <a16:creationId xmlns:a16="http://schemas.microsoft.com/office/drawing/2014/main" id="{4F0EF36E-84A3-D22B-C69A-65D002FC0CD7}"/>
              </a:ext>
            </a:extLst>
          </p:cNvPr>
          <p:cNvGraphicFramePr>
            <a:graphicFrameLocks noGrp="1"/>
          </p:cNvGraphicFramePr>
          <p:nvPr>
            <p:ph idx="1"/>
            <p:extLst>
              <p:ext uri="{D42A27DB-BD31-4B8C-83A1-F6EECF244321}">
                <p14:modId xmlns:p14="http://schemas.microsoft.com/office/powerpoint/2010/main" val="1833104245"/>
              </p:ext>
            </p:extLst>
          </p:nvPr>
        </p:nvGraphicFramePr>
        <p:xfrm>
          <a:off x="300532" y="749297"/>
          <a:ext cx="8519912" cy="3787651"/>
        </p:xfrm>
        <a:graphic>
          <a:graphicData uri="http://schemas.openxmlformats.org/drawingml/2006/table">
            <a:tbl>
              <a:tblPr/>
              <a:tblGrid>
                <a:gridCol w="972594">
                  <a:extLst>
                    <a:ext uri="{9D8B030D-6E8A-4147-A177-3AD203B41FA5}">
                      <a16:colId xmlns:a16="http://schemas.microsoft.com/office/drawing/2014/main" val="2848902809"/>
                    </a:ext>
                  </a:extLst>
                </a:gridCol>
                <a:gridCol w="2194560">
                  <a:extLst>
                    <a:ext uri="{9D8B030D-6E8A-4147-A177-3AD203B41FA5}">
                      <a16:colId xmlns:a16="http://schemas.microsoft.com/office/drawing/2014/main" val="153074573"/>
                    </a:ext>
                  </a:extLst>
                </a:gridCol>
                <a:gridCol w="1329397">
                  <a:extLst>
                    <a:ext uri="{9D8B030D-6E8A-4147-A177-3AD203B41FA5}">
                      <a16:colId xmlns:a16="http://schemas.microsoft.com/office/drawing/2014/main" val="364038947"/>
                    </a:ext>
                  </a:extLst>
                </a:gridCol>
                <a:gridCol w="1329397">
                  <a:extLst>
                    <a:ext uri="{9D8B030D-6E8A-4147-A177-3AD203B41FA5}">
                      <a16:colId xmlns:a16="http://schemas.microsoft.com/office/drawing/2014/main" val="3151439181"/>
                    </a:ext>
                  </a:extLst>
                </a:gridCol>
                <a:gridCol w="2693964">
                  <a:extLst>
                    <a:ext uri="{9D8B030D-6E8A-4147-A177-3AD203B41FA5}">
                      <a16:colId xmlns:a16="http://schemas.microsoft.com/office/drawing/2014/main" val="3238966100"/>
                    </a:ext>
                  </a:extLst>
                </a:gridCol>
              </a:tblGrid>
              <a:tr h="530863">
                <a:tc>
                  <a:txBody>
                    <a:bodyPr/>
                    <a:lstStyle/>
                    <a:p>
                      <a:pPr marL="0" marR="0" algn="ctr" rtl="0">
                        <a:lnSpc>
                          <a:spcPct val="100000"/>
                        </a:lnSpc>
                        <a:spcAft>
                          <a:spcPts val="0"/>
                        </a:spcAft>
                        <a:buNone/>
                      </a:pPr>
                      <a:r>
                        <a:rPr lang="ko-KR" sz="1100" b="1" dirty="0">
                          <a:solidFill>
                            <a:schemeClr val="tx1"/>
                          </a:solidFill>
                          <a:effectLst/>
                          <a:latin typeface="+mn-ea"/>
                          <a:ea typeface="+mn-ea"/>
                        </a:rPr>
                        <a:t>제조사</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lnSpc>
                          <a:spcPct val="100000"/>
                        </a:lnSpc>
                        <a:spcAft>
                          <a:spcPts val="600"/>
                        </a:spcAft>
                        <a:buNone/>
                      </a:pPr>
                      <a:r>
                        <a:rPr lang="ko-KR" sz="1100" b="1" dirty="0">
                          <a:solidFill>
                            <a:schemeClr val="tx1"/>
                          </a:solidFill>
                          <a:effectLst/>
                          <a:latin typeface="+mn-ea"/>
                          <a:ea typeface="+mn-ea"/>
                        </a:rPr>
                        <a:t>SoC 제품군</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lnSpc>
                          <a:spcPct val="100000"/>
                        </a:lnSpc>
                        <a:spcAft>
                          <a:spcPts val="0"/>
                        </a:spcAft>
                        <a:buNone/>
                      </a:pPr>
                      <a:r>
                        <a:rPr lang="en-US" altLang="ko-KR" sz="1100" b="1" dirty="0">
                          <a:solidFill>
                            <a:schemeClr val="tx1"/>
                          </a:solidFill>
                          <a:effectLst/>
                          <a:latin typeface="+mn-ea"/>
                          <a:ea typeface="+mn-ea"/>
                        </a:rPr>
                        <a:t>Host OS</a:t>
                      </a:r>
                      <a:endParaRPr lang="ko-KR" sz="1100" b="1" dirty="0">
                        <a:solidFill>
                          <a:schemeClr val="tx1"/>
                        </a:solidFill>
                        <a:effectLst/>
                        <a:latin typeface="+mn-ea"/>
                        <a:ea typeface="+mn-ea"/>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lnSpc>
                          <a:spcPct val="100000"/>
                        </a:lnSpc>
                        <a:spcAft>
                          <a:spcPts val="0"/>
                        </a:spcAft>
                        <a:buNone/>
                      </a:pPr>
                      <a:r>
                        <a:rPr lang="en-US" altLang="ko-KR" sz="1100" b="1" dirty="0">
                          <a:solidFill>
                            <a:schemeClr val="tx1"/>
                          </a:solidFill>
                          <a:effectLst/>
                          <a:latin typeface="+mn-ea"/>
                          <a:ea typeface="+mn-ea"/>
                        </a:rPr>
                        <a:t>Secure</a:t>
                      </a:r>
                      <a:r>
                        <a:rPr lang="ko-KR" altLang="en-US" sz="1100" b="1" dirty="0">
                          <a:solidFill>
                            <a:schemeClr val="tx1"/>
                          </a:solidFill>
                          <a:effectLst/>
                          <a:latin typeface="+mn-ea"/>
                          <a:ea typeface="+mn-ea"/>
                        </a:rPr>
                        <a:t> </a:t>
                      </a:r>
                      <a:r>
                        <a:rPr lang="en-US" altLang="ko-KR" sz="1100" b="1" dirty="0">
                          <a:solidFill>
                            <a:schemeClr val="tx1"/>
                          </a:solidFill>
                          <a:effectLst/>
                          <a:latin typeface="+mn-ea"/>
                          <a:ea typeface="+mn-ea"/>
                        </a:rPr>
                        <a:t>OS</a:t>
                      </a:r>
                      <a:endParaRPr lang="ko-KR" sz="1100" b="1" dirty="0">
                        <a:solidFill>
                          <a:schemeClr val="tx1"/>
                        </a:solidFill>
                        <a:effectLst/>
                        <a:latin typeface="+mn-ea"/>
                        <a:ea typeface="+mn-ea"/>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tc>
                  <a:txBody>
                    <a:bodyPr/>
                    <a:lstStyle/>
                    <a:p>
                      <a:pPr marL="0" marR="0" algn="ctr" rtl="0">
                        <a:lnSpc>
                          <a:spcPct val="100000"/>
                        </a:lnSpc>
                        <a:spcAft>
                          <a:spcPts val="0"/>
                        </a:spcAft>
                        <a:buNone/>
                      </a:pPr>
                      <a:r>
                        <a:rPr lang="ko-KR" altLang="ko-KR" sz="1100" b="1" dirty="0">
                          <a:solidFill>
                            <a:schemeClr val="tx1"/>
                          </a:solidFill>
                          <a:latin typeface="+mn-ea"/>
                          <a:ea typeface="+mn-ea"/>
                        </a:rPr>
                        <a:t>GP 관련 핵심 보안 기술 / 인증</a:t>
                      </a:r>
                      <a:endParaRPr lang="ko-KR" sz="1100" b="1" dirty="0">
                        <a:solidFill>
                          <a:schemeClr val="tx1"/>
                        </a:solidFill>
                        <a:effectLst/>
                        <a:latin typeface="+mn-ea"/>
                        <a:ea typeface="+mn-ea"/>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62407507"/>
                  </a:ext>
                </a:extLst>
              </a:tr>
              <a:tr h="814197">
                <a:tc>
                  <a:txBody>
                    <a:bodyPr/>
                    <a:lstStyle/>
                    <a:p>
                      <a:pPr marL="0" marR="0" algn="ctr" rtl="0">
                        <a:lnSpc>
                          <a:spcPct val="100000"/>
                        </a:lnSpc>
                        <a:spcAft>
                          <a:spcPts val="0"/>
                        </a:spcAft>
                        <a:buNone/>
                      </a:pPr>
                      <a:r>
                        <a:rPr lang="en-US" altLang="ko-KR" sz="1100" b="1" kern="1200" dirty="0">
                          <a:solidFill>
                            <a:schemeClr val="tx1"/>
                          </a:solidFill>
                          <a:latin typeface="+mn-ea"/>
                          <a:ea typeface="+mn-ea"/>
                          <a:cs typeface="+mn-cs"/>
                        </a:rPr>
                        <a:t>Qualcomm</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Robotics</a:t>
                      </a:r>
                      <a:r>
                        <a:rPr lang="ko-KR" altLang="en-US" sz="1100" b="0" kern="1200" dirty="0">
                          <a:solidFill>
                            <a:schemeClr val="tx1"/>
                          </a:solidFill>
                          <a:latin typeface="+mn-ea"/>
                          <a:ea typeface="+mn-ea"/>
                          <a:cs typeface="+mn-cs"/>
                        </a:rPr>
                        <a:t> </a:t>
                      </a:r>
                      <a:r>
                        <a:rPr lang="en-US" altLang="ko-KR" sz="1100" b="0" kern="1200" dirty="0">
                          <a:solidFill>
                            <a:schemeClr val="tx1"/>
                          </a:solidFill>
                          <a:latin typeface="+mn-ea"/>
                          <a:ea typeface="+mn-ea"/>
                          <a:cs typeface="+mn-cs"/>
                        </a:rPr>
                        <a:t>Platform</a:t>
                      </a:r>
                      <a:endParaRPr lang="ko-KR" altLang="en-US" sz="1100" b="0" kern="1200" dirty="0">
                        <a:solidFill>
                          <a:schemeClr val="tx1"/>
                        </a:solidFill>
                        <a:latin typeface="+mn-ea"/>
                        <a:ea typeface="+mn-ea"/>
                        <a:cs typeface="+mn-cs"/>
                      </a:endParaRPr>
                    </a:p>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(RB5, RB3 </a:t>
                      </a:r>
                      <a:r>
                        <a:rPr lang="ko-KR" altLang="en-US" sz="1100" b="0" kern="1200" dirty="0">
                          <a:solidFill>
                            <a:schemeClr val="tx1"/>
                          </a:solidFill>
                          <a:latin typeface="+mn-ea"/>
                          <a:ea typeface="+mn-ea"/>
                          <a:cs typeface="+mn-cs"/>
                        </a:rPr>
                        <a:t>등</a:t>
                      </a:r>
                      <a:r>
                        <a:rPr lang="en-US" altLang="ko-KR" sz="1100" b="0" kern="1200" dirty="0">
                          <a:solidFill>
                            <a:schemeClr val="tx1"/>
                          </a:solidFill>
                          <a:latin typeface="+mn-ea"/>
                          <a:ea typeface="+mn-ea"/>
                          <a:cs typeface="+mn-cs"/>
                        </a:rPr>
                        <a:t>)</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Qualcomm Linux</a:t>
                      </a:r>
                      <a:br>
                        <a:rPr lang="en-US" altLang="ko-KR" sz="1100" b="0" kern="1200" dirty="0">
                          <a:solidFill>
                            <a:schemeClr val="tx1"/>
                          </a:solidFill>
                          <a:latin typeface="+mn-ea"/>
                          <a:ea typeface="+mn-ea"/>
                          <a:cs typeface="+mn-cs"/>
                        </a:rPr>
                      </a:br>
                      <a:r>
                        <a:rPr lang="ko-KR" altLang="ko-KR" sz="1100" b="0" kern="1200" dirty="0">
                          <a:solidFill>
                            <a:schemeClr val="tx1"/>
                          </a:solidFill>
                          <a:latin typeface="+mn-ea"/>
                          <a:ea typeface="+mn-ea"/>
                          <a:cs typeface="+mn-cs"/>
                        </a:rPr>
                        <a:t>(Ubuntu 기반)</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QTEE</a:t>
                      </a:r>
                      <a:br>
                        <a:rPr lang="en-US" altLang="ko-KR" sz="1100" b="0" kern="1200" dirty="0">
                          <a:solidFill>
                            <a:schemeClr val="tx1"/>
                          </a:solidFill>
                          <a:latin typeface="+mn-ea"/>
                          <a:ea typeface="+mn-ea"/>
                          <a:cs typeface="+mn-cs"/>
                        </a:rPr>
                      </a:br>
                      <a:r>
                        <a:rPr lang="ko-KR" altLang="ko-KR" sz="1100" b="0" kern="1200" dirty="0">
                          <a:solidFill>
                            <a:schemeClr val="tx1"/>
                          </a:solidFill>
                          <a:latin typeface="+mn-ea"/>
                          <a:ea typeface="+mn-ea"/>
                          <a:cs typeface="+mn-cs"/>
                        </a:rPr>
                        <a:t>(Qualcomm TEE)</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GP </a:t>
                      </a:r>
                      <a:r>
                        <a:rPr lang="ko-KR" altLang="en-US" sz="1100" b="0" kern="1200" dirty="0">
                          <a:solidFill>
                            <a:schemeClr val="tx1"/>
                          </a:solidFill>
                          <a:latin typeface="+mn-ea"/>
                          <a:ea typeface="+mn-ea"/>
                          <a:cs typeface="+mn-cs"/>
                        </a:rPr>
                        <a:t>협회 핵심 회원사로 활동 및 표준 지원 </a:t>
                      </a:r>
                      <a:endParaRPr lang="ko-KR"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105016703"/>
                  </a:ext>
                </a:extLst>
              </a:tr>
              <a:tr h="814197">
                <a:tc>
                  <a:txBody>
                    <a:bodyPr/>
                    <a:lstStyle/>
                    <a:p>
                      <a:pPr marL="0" marR="0" algn="ctr" rtl="0">
                        <a:lnSpc>
                          <a:spcPct val="100000"/>
                        </a:lnSpc>
                        <a:spcAft>
                          <a:spcPts val="0"/>
                        </a:spcAft>
                        <a:buNone/>
                      </a:pPr>
                      <a:r>
                        <a:rPr lang="en-US" altLang="ko-KR" sz="1100" b="1" kern="1200" dirty="0">
                          <a:solidFill>
                            <a:schemeClr val="tx1"/>
                          </a:solidFill>
                          <a:latin typeface="+mn-ea"/>
                          <a:ea typeface="+mn-ea"/>
                          <a:cs typeface="+mn-cs"/>
                        </a:rPr>
                        <a:t>NXP</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i.MX </a:t>
                      </a:r>
                      <a:r>
                        <a:rPr lang="ko-KR" altLang="en-US" sz="1100" b="0" kern="1200" dirty="0">
                          <a:solidFill>
                            <a:schemeClr val="tx1"/>
                          </a:solidFill>
                          <a:latin typeface="+mn-ea"/>
                          <a:ea typeface="+mn-ea"/>
                          <a:cs typeface="+mn-cs"/>
                        </a:rPr>
                        <a:t>시리즈</a:t>
                      </a:r>
                      <a:r>
                        <a:rPr lang="en-US" altLang="ko-KR" sz="1100" b="0" kern="1200" dirty="0">
                          <a:solidFill>
                            <a:schemeClr val="tx1"/>
                          </a:solidFill>
                          <a:latin typeface="+mn-ea"/>
                          <a:ea typeface="+mn-ea"/>
                          <a:cs typeface="+mn-cs"/>
                        </a:rPr>
                        <a:t> </a:t>
                      </a:r>
                    </a:p>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(i.MX 8, i.MX 9 </a:t>
                      </a:r>
                      <a:r>
                        <a:rPr lang="ko-KR" altLang="en-US" sz="1100" b="0" kern="1200" dirty="0">
                          <a:solidFill>
                            <a:schemeClr val="tx1"/>
                          </a:solidFill>
                          <a:latin typeface="+mn-ea"/>
                          <a:ea typeface="+mn-ea"/>
                          <a:cs typeface="+mn-cs"/>
                        </a:rPr>
                        <a:t>등</a:t>
                      </a:r>
                      <a:r>
                        <a:rPr lang="en-US" altLang="ko-KR" sz="1100" b="0" kern="1200" dirty="0">
                          <a:solidFill>
                            <a:schemeClr val="tx1"/>
                          </a:solidFill>
                          <a:latin typeface="+mn-ea"/>
                          <a:ea typeface="+mn-ea"/>
                          <a:cs typeface="+mn-cs"/>
                        </a:rPr>
                        <a:t>)</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algn="ctr">
                        <a:lnSpc>
                          <a:spcPct val="100000"/>
                        </a:lnSpc>
                      </a:pPr>
                      <a:r>
                        <a:rPr lang="en-US" altLang="ko-KR" sz="1100" b="0" kern="1200" dirty="0">
                          <a:solidFill>
                            <a:schemeClr val="tx1"/>
                          </a:solidFill>
                          <a:latin typeface="+mn-ea"/>
                          <a:ea typeface="+mn-ea"/>
                          <a:cs typeface="+mn-cs"/>
                        </a:rPr>
                        <a:t>Embedded Linux</a:t>
                      </a:r>
                      <a:endParaRPr lang="ko-KR"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OP-TEE</a:t>
                      </a:r>
                      <a:r>
                        <a:rPr lang="en-US" altLang="ko-KR" sz="1100" b="0" kern="1200" dirty="0">
                          <a:solidFill>
                            <a:schemeClr val="tx1"/>
                          </a:solidFill>
                          <a:latin typeface="+mn-ea"/>
                          <a:ea typeface="+mn-ea"/>
                          <a:cs typeface="+mn-cs"/>
                        </a:rPr>
                        <a:t> /</a:t>
                      </a:r>
                      <a:endParaRPr lang="ko-KR" altLang="ko-KR" sz="1100" b="0" kern="1200" dirty="0">
                        <a:solidFill>
                          <a:schemeClr val="tx1"/>
                        </a:solidFill>
                        <a:latin typeface="+mn-ea"/>
                        <a:ea typeface="+mn-ea"/>
                        <a:cs typeface="+mn-cs"/>
                      </a:endParaRPr>
                    </a:p>
                    <a:p>
                      <a:pPr marL="0" marR="0" algn="ctr"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Proprietary TEE</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SESIP </a:t>
                      </a:r>
                      <a:r>
                        <a:rPr lang="ko-KR" altLang="en-US" sz="1100" b="0" kern="1200" dirty="0">
                          <a:solidFill>
                            <a:schemeClr val="tx1"/>
                          </a:solidFill>
                          <a:latin typeface="+mn-ea"/>
                          <a:ea typeface="+mn-ea"/>
                          <a:cs typeface="+mn-cs"/>
                        </a:rPr>
                        <a:t>전단계 인증</a:t>
                      </a:r>
                      <a:endParaRPr lang="ko-KR"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1496896755"/>
                  </a:ext>
                </a:extLst>
              </a:tr>
              <a:tr h="814197">
                <a:tc>
                  <a:txBody>
                    <a:bodyPr/>
                    <a:lstStyle/>
                    <a:p>
                      <a:pPr marL="0" marR="0" algn="ctr" rtl="0">
                        <a:lnSpc>
                          <a:spcPct val="100000"/>
                        </a:lnSpc>
                        <a:spcAft>
                          <a:spcPts val="0"/>
                        </a:spcAft>
                        <a:buNone/>
                      </a:pPr>
                      <a:r>
                        <a:rPr lang="en-US" altLang="ko-KR" sz="1100" b="1" kern="1200" dirty="0">
                          <a:solidFill>
                            <a:schemeClr val="tx1"/>
                          </a:solidFill>
                          <a:latin typeface="+mn-ea"/>
                          <a:ea typeface="+mn-ea"/>
                          <a:cs typeface="+mn-cs"/>
                        </a:rPr>
                        <a:t>TI</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rtl="0">
                        <a:lnSpc>
                          <a:spcPct val="100000"/>
                        </a:lnSpc>
                        <a:spcAft>
                          <a:spcPts val="0"/>
                        </a:spcAft>
                        <a:buNone/>
                      </a:pPr>
                      <a:r>
                        <a:rPr lang="en-US" altLang="ko-KR" sz="1100" b="0" kern="1200" dirty="0">
                          <a:solidFill>
                            <a:schemeClr val="tx1"/>
                          </a:solidFill>
                          <a:latin typeface="+mn-ea"/>
                          <a:ea typeface="+mn-ea"/>
                          <a:cs typeface="+mn-cs"/>
                        </a:rPr>
                        <a:t>AM6x </a:t>
                      </a:r>
                      <a:r>
                        <a:rPr lang="ko-KR" altLang="en-US" sz="1100" b="0" kern="1200" dirty="0">
                          <a:solidFill>
                            <a:schemeClr val="tx1"/>
                          </a:solidFill>
                          <a:latin typeface="+mn-ea"/>
                          <a:ea typeface="+mn-ea"/>
                          <a:cs typeface="+mn-cs"/>
                        </a:rPr>
                        <a:t>시리즈</a:t>
                      </a:r>
                      <a:endParaRPr lang="en-US"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rtl="0">
                        <a:lnSpc>
                          <a:spcPct val="100000"/>
                        </a:lnSpc>
                        <a:spcAft>
                          <a:spcPts val="0"/>
                        </a:spcAft>
                        <a:buNone/>
                      </a:pPr>
                      <a:r>
                        <a:rPr lang="ko-KR" altLang="ko-KR" sz="1100" b="0" kern="1200" dirty="0">
                          <a:solidFill>
                            <a:schemeClr val="tx1"/>
                          </a:solidFill>
                          <a:latin typeface="+mn-ea"/>
                          <a:ea typeface="+mn-ea"/>
                          <a:cs typeface="+mn-cs"/>
                        </a:rPr>
                        <a:t>Processor SDK Linux</a:t>
                      </a:r>
                      <a:endParaRPr lang="ko-KR" altLang="en-US"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ctr"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OP-TEE</a:t>
                      </a:r>
                      <a:endParaRPr lang="ko-KR" altLang="en-US"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PSA Certified 체계 및 SESIP 요구사항을 칩 설계 단계부터 반영</a:t>
                      </a:r>
                      <a:endParaRPr lang="ko-KR" altLang="en-US"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4093835409"/>
                  </a:ext>
                </a:extLst>
              </a:tr>
              <a:tr h="814197">
                <a:tc>
                  <a:txBody>
                    <a:bodyPr/>
                    <a:lstStyle/>
                    <a:p>
                      <a:pPr marL="0" marR="0" algn="ctr" rtl="0">
                        <a:lnSpc>
                          <a:spcPct val="100000"/>
                        </a:lnSpc>
                        <a:spcAft>
                          <a:spcPts val="0"/>
                        </a:spcAft>
                        <a:buNone/>
                      </a:pPr>
                      <a:r>
                        <a:rPr lang="en-US" altLang="ko-KR" sz="1100" b="1" kern="1200" dirty="0">
                          <a:solidFill>
                            <a:schemeClr val="tx1"/>
                          </a:solidFill>
                          <a:latin typeface="+mn-ea"/>
                          <a:ea typeface="+mn-ea"/>
                          <a:cs typeface="+mn-cs"/>
                        </a:rPr>
                        <a:t>Nvidia</a:t>
                      </a:r>
                      <a:endParaRPr lang="ko-KR" altLang="en-US" sz="1100" b="1"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Jetson</a:t>
                      </a:r>
                      <a:r>
                        <a:rPr lang="ko-KR" altLang="en-US" sz="1100" b="0" kern="1200" dirty="0">
                          <a:solidFill>
                            <a:schemeClr val="tx1"/>
                          </a:solidFill>
                          <a:latin typeface="+mn-ea"/>
                          <a:ea typeface="+mn-ea"/>
                          <a:cs typeface="+mn-cs"/>
                        </a:rPr>
                        <a:t> 시리즈</a:t>
                      </a:r>
                      <a:r>
                        <a:rPr lang="en-US" altLang="ko-KR" sz="1100" b="0" kern="1200" dirty="0">
                          <a:solidFill>
                            <a:schemeClr val="tx1"/>
                          </a:solidFill>
                          <a:latin typeface="+mn-ea"/>
                          <a:ea typeface="+mn-ea"/>
                          <a:cs typeface="+mn-cs"/>
                        </a:rPr>
                        <a:t> </a:t>
                      </a:r>
                    </a:p>
                    <a:p>
                      <a:pPr marL="0" marR="0" algn="l" defTabSz="914400" rtl="0" eaLnBrk="1" latinLnBrk="1" hangingPunct="1">
                        <a:lnSpc>
                          <a:spcPct val="100000"/>
                        </a:lnSpc>
                        <a:spcAft>
                          <a:spcPts val="600"/>
                        </a:spcAft>
                        <a:buNone/>
                      </a:pPr>
                      <a:r>
                        <a:rPr lang="en-US" altLang="ko-KR" sz="1100" b="0" kern="1200" dirty="0">
                          <a:solidFill>
                            <a:schemeClr val="tx1"/>
                          </a:solidFill>
                          <a:latin typeface="+mn-ea"/>
                          <a:ea typeface="+mn-ea"/>
                          <a:cs typeface="+mn-cs"/>
                        </a:rPr>
                        <a:t>(Orin, Xavier</a:t>
                      </a:r>
                      <a:r>
                        <a:rPr lang="ko-KR" altLang="en-US" sz="1100" b="0" kern="1200" dirty="0">
                          <a:solidFill>
                            <a:schemeClr val="tx1"/>
                          </a:solidFill>
                          <a:latin typeface="+mn-ea"/>
                          <a:ea typeface="+mn-ea"/>
                          <a:cs typeface="+mn-cs"/>
                        </a:rPr>
                        <a:t> 등</a:t>
                      </a:r>
                      <a:r>
                        <a:rPr lang="en-US" altLang="ko-KR" sz="1100" b="0" kern="1200" dirty="0">
                          <a:solidFill>
                            <a:schemeClr val="tx1"/>
                          </a:solidFill>
                          <a:latin typeface="+mn-ea"/>
                          <a:ea typeface="+mn-ea"/>
                          <a:cs typeface="+mn-cs"/>
                        </a:rPr>
                        <a:t>)</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0"/>
                        </a:spcAft>
                        <a:buClrTx/>
                        <a:buSzTx/>
                        <a:buFontTx/>
                        <a:buNone/>
                        <a:tabLst/>
                        <a:defRPr/>
                      </a:pPr>
                      <a:r>
                        <a:rPr lang="ko-KR" altLang="ko-KR" sz="1100" b="0" kern="1200" dirty="0">
                          <a:solidFill>
                            <a:schemeClr val="tx1"/>
                          </a:solidFill>
                          <a:latin typeface="+mn-ea"/>
                          <a:ea typeface="+mn-ea"/>
                          <a:cs typeface="+mn-cs"/>
                        </a:rPr>
                        <a:t>Ubuntu Linux</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lvl="0" indent="0" algn="ctr" defTabSz="914400" rtl="0" eaLnBrk="1" fontAlgn="auto" latinLnBrk="1" hangingPunct="1">
                        <a:lnSpc>
                          <a:spcPct val="100000"/>
                        </a:lnSpc>
                        <a:spcBef>
                          <a:spcPts val="0"/>
                        </a:spcBef>
                        <a:spcAft>
                          <a:spcPts val="600"/>
                        </a:spcAft>
                        <a:buClrTx/>
                        <a:buSzTx/>
                        <a:buFontTx/>
                        <a:buNone/>
                        <a:tabLst/>
                        <a:defRPr/>
                      </a:pPr>
                      <a:r>
                        <a:rPr lang="en-US" altLang="ko-KR" sz="1100" b="0" kern="1200" dirty="0">
                          <a:solidFill>
                            <a:schemeClr val="tx1"/>
                          </a:solidFill>
                          <a:latin typeface="+mn-ea"/>
                          <a:ea typeface="+mn-ea"/>
                          <a:cs typeface="+mn-cs"/>
                        </a:rPr>
                        <a:t>OP-TEE</a:t>
                      </a:r>
                      <a:endParaRPr lang="ko-KR" altLang="ko-KR" sz="1100" b="0" kern="1200" dirty="0">
                        <a:solidFill>
                          <a:schemeClr val="tx1"/>
                        </a:solidFill>
                        <a:latin typeface="+mn-ea"/>
                        <a:ea typeface="+mn-ea"/>
                        <a:cs typeface="+mn-cs"/>
                      </a:endParaRP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tc>
                  <a:txBody>
                    <a:bodyPr/>
                    <a:lstStyle/>
                    <a:p>
                      <a:pPr marL="0" marR="0" algn="l" defTabSz="914400" rtl="0" eaLnBrk="1" latinLnBrk="1" hangingPunct="1">
                        <a:lnSpc>
                          <a:spcPct val="100000"/>
                        </a:lnSpc>
                        <a:spcAft>
                          <a:spcPts val="600"/>
                        </a:spcAft>
                        <a:buNone/>
                      </a:pPr>
                      <a:r>
                        <a:rPr lang="ko-KR" altLang="ko-KR" sz="1100" b="0" kern="1200" dirty="0">
                          <a:solidFill>
                            <a:schemeClr val="tx1"/>
                          </a:solidFill>
                          <a:latin typeface="+mn-ea"/>
                          <a:ea typeface="+mn-ea"/>
                          <a:cs typeface="+mn-cs"/>
                        </a:rPr>
                        <a:t>하드웨어 RoT</a:t>
                      </a:r>
                      <a:r>
                        <a:rPr lang="en-US" altLang="ko-KR" sz="1100" b="0" kern="1200" dirty="0">
                          <a:solidFill>
                            <a:schemeClr val="tx1"/>
                          </a:solidFill>
                          <a:latin typeface="+mn-ea"/>
                          <a:ea typeface="+mn-ea"/>
                          <a:cs typeface="+mn-cs"/>
                        </a:rPr>
                        <a:t> </a:t>
                      </a:r>
                      <a:r>
                        <a:rPr lang="ko-KR" altLang="ko-KR" sz="1100" b="0" kern="1200" dirty="0">
                          <a:solidFill>
                            <a:schemeClr val="tx1"/>
                          </a:solidFill>
                          <a:latin typeface="+mn-ea"/>
                          <a:ea typeface="+mn-ea"/>
                          <a:cs typeface="+mn-cs"/>
                        </a:rPr>
                        <a:t>(Root of Trust) 및 TEE</a:t>
                      </a:r>
                      <a:r>
                        <a:rPr lang="en-US" altLang="ko-KR" sz="1100" b="0" kern="1200" dirty="0">
                          <a:solidFill>
                            <a:schemeClr val="tx1"/>
                          </a:solidFill>
                          <a:latin typeface="+mn-ea"/>
                          <a:ea typeface="+mn-ea"/>
                          <a:cs typeface="+mn-cs"/>
                        </a:rPr>
                        <a:t> </a:t>
                      </a:r>
                      <a:r>
                        <a:rPr lang="ko-KR" altLang="en-US" sz="1100" b="0" kern="1200" dirty="0">
                          <a:solidFill>
                            <a:schemeClr val="tx1"/>
                          </a:solidFill>
                          <a:latin typeface="+mn-ea"/>
                          <a:ea typeface="+mn-ea"/>
                          <a:cs typeface="+mn-cs"/>
                        </a:rPr>
                        <a:t>제공</a:t>
                      </a:r>
                    </a:p>
                  </a:txBody>
                  <a:tcPr marL="108000" marR="108000" marT="10800" marB="10800" anchor="ctr">
                    <a:lnL w="7620" cap="flat" cmpd="sng" algn="ctr">
                      <a:solidFill>
                        <a:srgbClr val="C4C7C5"/>
                      </a:solidFill>
                      <a:prstDash val="solid"/>
                      <a:round/>
                      <a:headEnd type="none" w="med" len="med"/>
                      <a:tailEnd type="none" w="med" len="med"/>
                    </a:lnL>
                    <a:lnR w="7620" cap="flat" cmpd="sng" algn="ctr">
                      <a:solidFill>
                        <a:srgbClr val="C4C7C5"/>
                      </a:solidFill>
                      <a:prstDash val="solid"/>
                      <a:round/>
                      <a:headEnd type="none" w="med" len="med"/>
                      <a:tailEnd type="none" w="med" len="med"/>
                    </a:lnR>
                    <a:lnT w="7620" cap="flat" cmpd="sng" algn="ctr">
                      <a:solidFill>
                        <a:srgbClr val="C4C7C5"/>
                      </a:solidFill>
                      <a:prstDash val="solid"/>
                      <a:round/>
                      <a:headEnd type="none" w="med" len="med"/>
                      <a:tailEnd type="none" w="med" len="med"/>
                    </a:lnT>
                    <a:lnB w="7620" cap="flat" cmpd="sng" algn="ctr">
                      <a:solidFill>
                        <a:srgbClr val="C4C7C5"/>
                      </a:solidFill>
                      <a:prstDash val="solid"/>
                      <a:round/>
                      <a:headEnd type="none" w="med" len="med"/>
                      <a:tailEnd type="none" w="med" len="med"/>
                    </a:lnB>
                    <a:noFill/>
                  </a:tcPr>
                </a:tc>
                <a:extLst>
                  <a:ext uri="{0D108BD9-81ED-4DB2-BD59-A6C34878D82A}">
                    <a16:rowId xmlns:a16="http://schemas.microsoft.com/office/drawing/2014/main" val="2493067805"/>
                  </a:ext>
                </a:extLst>
              </a:tr>
            </a:tbl>
          </a:graphicData>
        </a:graphic>
      </p:graphicFrame>
      <p:sp>
        <p:nvSpPr>
          <p:cNvPr id="5" name="TextBox 4">
            <a:extLst>
              <a:ext uri="{FF2B5EF4-FFF2-40B4-BE49-F238E27FC236}">
                <a16:creationId xmlns:a16="http://schemas.microsoft.com/office/drawing/2014/main" id="{8DFCCF4A-0602-0B2E-883F-4681329571C0}"/>
              </a:ext>
            </a:extLst>
          </p:cNvPr>
          <p:cNvSpPr txBox="1"/>
          <p:nvPr/>
        </p:nvSpPr>
        <p:spPr>
          <a:xfrm>
            <a:off x="6184903" y="2600864"/>
            <a:ext cx="2417492" cy="338554"/>
          </a:xfrm>
          <a:prstGeom prst="rect">
            <a:avLst/>
          </a:prstGeom>
          <a:noFill/>
        </p:spPr>
        <p:txBody>
          <a:bodyPr wrap="square" rtlCol="0">
            <a:spAutoFit/>
          </a:bodyPr>
          <a:lstStyle/>
          <a:p>
            <a:pPr marL="171450" indent="-171450">
              <a:buFont typeface="Wingdings" panose="05000000000000000000" pitchFamily="2" charset="2"/>
              <a:buChar char="v"/>
            </a:pPr>
            <a:r>
              <a:rPr lang="en-US" altLang="ko-KR" sz="800" dirty="0">
                <a:solidFill>
                  <a:srgbClr val="0000FF"/>
                </a:solidFill>
              </a:rPr>
              <a:t>SESIP</a:t>
            </a:r>
            <a:r>
              <a:rPr lang="ko-KR" altLang="en-US" sz="800" dirty="0">
                <a:solidFill>
                  <a:srgbClr val="0000FF"/>
                </a:solidFill>
              </a:rPr>
              <a:t>인증</a:t>
            </a:r>
            <a:r>
              <a:rPr lang="en-US" altLang="ko-KR" sz="800" dirty="0">
                <a:solidFill>
                  <a:srgbClr val="0000FF"/>
                </a:solidFill>
              </a:rPr>
              <a:t>: </a:t>
            </a:r>
            <a:r>
              <a:rPr lang="ko-KR" altLang="ko-KR" sz="800" dirty="0">
                <a:solidFill>
                  <a:srgbClr val="0000FF"/>
                </a:solidFill>
              </a:rPr>
              <a:t>GlobalPlatform</a:t>
            </a:r>
            <a:r>
              <a:rPr lang="en-US" altLang="ko-KR" sz="800" dirty="0">
                <a:solidFill>
                  <a:srgbClr val="0000FF"/>
                </a:solidFill>
              </a:rPr>
              <a:t> </a:t>
            </a:r>
            <a:r>
              <a:rPr lang="ko-KR" altLang="en-US" sz="800" dirty="0">
                <a:solidFill>
                  <a:srgbClr val="0000FF"/>
                </a:solidFill>
              </a:rPr>
              <a:t>협회가 주관하는 </a:t>
            </a:r>
            <a:r>
              <a:rPr lang="en-US" altLang="ko-KR" sz="800" dirty="0">
                <a:solidFill>
                  <a:srgbClr val="0000FF"/>
                </a:solidFill>
              </a:rPr>
              <a:t>IoT</a:t>
            </a:r>
            <a:r>
              <a:rPr lang="ko-KR" altLang="en-US" sz="800" dirty="0">
                <a:solidFill>
                  <a:srgbClr val="0000FF"/>
                </a:solidFill>
              </a:rPr>
              <a:t>플랫폼 보안 </a:t>
            </a:r>
            <a:r>
              <a:rPr lang="ko-KR" altLang="en-US" sz="800" b="1" dirty="0">
                <a:solidFill>
                  <a:srgbClr val="0000FF"/>
                </a:solidFill>
              </a:rPr>
              <a:t>평가 표준</a:t>
            </a:r>
            <a:endParaRPr lang="ko-KR" altLang="en-US" sz="600" b="1" dirty="0">
              <a:solidFill>
                <a:srgbClr val="0000FF"/>
              </a:solidFill>
            </a:endParaRPr>
          </a:p>
        </p:txBody>
      </p:sp>
      <p:sp>
        <p:nvSpPr>
          <p:cNvPr id="6" name="TextBox 5">
            <a:extLst>
              <a:ext uri="{FF2B5EF4-FFF2-40B4-BE49-F238E27FC236}">
                <a16:creationId xmlns:a16="http://schemas.microsoft.com/office/drawing/2014/main" id="{BE08FF4B-8914-4AA4-EC2D-C09F5B8DBD00}"/>
              </a:ext>
            </a:extLst>
          </p:cNvPr>
          <p:cNvSpPr txBox="1"/>
          <p:nvPr/>
        </p:nvSpPr>
        <p:spPr>
          <a:xfrm>
            <a:off x="6184903" y="3429016"/>
            <a:ext cx="2065799" cy="338554"/>
          </a:xfrm>
          <a:prstGeom prst="rect">
            <a:avLst/>
          </a:prstGeom>
          <a:noFill/>
        </p:spPr>
        <p:txBody>
          <a:bodyPr wrap="square" rtlCol="0">
            <a:spAutoFit/>
          </a:bodyPr>
          <a:lstStyle/>
          <a:p>
            <a:pPr marL="171450" indent="-171450">
              <a:buFont typeface="Wingdings" panose="05000000000000000000" pitchFamily="2" charset="2"/>
              <a:buChar char="v"/>
            </a:pPr>
            <a:r>
              <a:rPr lang="en-US" altLang="ko-KR" sz="800" dirty="0">
                <a:solidFill>
                  <a:srgbClr val="0000FF"/>
                </a:solidFill>
              </a:rPr>
              <a:t>PSA Certified: </a:t>
            </a:r>
            <a:r>
              <a:rPr lang="ko-KR" altLang="ko-KR" sz="800" dirty="0" err="1">
                <a:solidFill>
                  <a:srgbClr val="0000FF"/>
                </a:solidFill>
              </a:rPr>
              <a:t>GP로</a:t>
            </a:r>
            <a:r>
              <a:rPr lang="ko-KR" altLang="ko-KR" sz="800" dirty="0">
                <a:solidFill>
                  <a:srgbClr val="0000FF"/>
                </a:solidFill>
              </a:rPr>
              <a:t> 거버넌스가 이관된 글로벌 </a:t>
            </a:r>
            <a:r>
              <a:rPr lang="ko-KR" altLang="ko-KR" sz="800" b="1" dirty="0">
                <a:solidFill>
                  <a:srgbClr val="0000FF"/>
                </a:solidFill>
              </a:rPr>
              <a:t>보안 표준</a:t>
            </a:r>
            <a:endParaRPr lang="ko-KR" altLang="en-US" sz="600" b="1" dirty="0">
              <a:solidFill>
                <a:srgbClr val="0000FF"/>
              </a:solidFill>
            </a:endParaRPr>
          </a:p>
        </p:txBody>
      </p:sp>
      <p:pic>
        <p:nvPicPr>
          <p:cNvPr id="8" name="그림 7">
            <a:extLst>
              <a:ext uri="{FF2B5EF4-FFF2-40B4-BE49-F238E27FC236}">
                <a16:creationId xmlns:a16="http://schemas.microsoft.com/office/drawing/2014/main" id="{1717D8A4-68B7-8695-3D52-E61AB3984689}"/>
              </a:ext>
            </a:extLst>
          </p:cNvPr>
          <p:cNvPicPr>
            <a:picLocks noChangeAspect="1"/>
          </p:cNvPicPr>
          <p:nvPr/>
        </p:nvPicPr>
        <p:blipFill>
          <a:blip r:embed="rId2"/>
          <a:stretch>
            <a:fillRect/>
          </a:stretch>
        </p:blipFill>
        <p:spPr>
          <a:xfrm>
            <a:off x="2544896" y="1368761"/>
            <a:ext cx="739559" cy="607037"/>
          </a:xfrm>
          <a:prstGeom prst="rect">
            <a:avLst/>
          </a:prstGeom>
        </p:spPr>
      </p:pic>
      <p:pic>
        <p:nvPicPr>
          <p:cNvPr id="10" name="그림 9">
            <a:extLst>
              <a:ext uri="{FF2B5EF4-FFF2-40B4-BE49-F238E27FC236}">
                <a16:creationId xmlns:a16="http://schemas.microsoft.com/office/drawing/2014/main" id="{B1C4129A-3E56-85D7-4D5D-883A3BB5A911}"/>
              </a:ext>
            </a:extLst>
          </p:cNvPr>
          <p:cNvPicPr>
            <a:picLocks noChangeAspect="1"/>
          </p:cNvPicPr>
          <p:nvPr/>
        </p:nvPicPr>
        <p:blipFill>
          <a:blip r:embed="rId3"/>
          <a:stretch>
            <a:fillRect/>
          </a:stretch>
        </p:blipFill>
        <p:spPr>
          <a:xfrm>
            <a:off x="2632806" y="2221378"/>
            <a:ext cx="624589" cy="590163"/>
          </a:xfrm>
          <a:prstGeom prst="rect">
            <a:avLst/>
          </a:prstGeom>
        </p:spPr>
      </p:pic>
      <p:pic>
        <p:nvPicPr>
          <p:cNvPr id="12" name="그림 11">
            <a:extLst>
              <a:ext uri="{FF2B5EF4-FFF2-40B4-BE49-F238E27FC236}">
                <a16:creationId xmlns:a16="http://schemas.microsoft.com/office/drawing/2014/main" id="{A7047864-2BD0-9E73-F8C9-4E4241634A59}"/>
              </a:ext>
            </a:extLst>
          </p:cNvPr>
          <p:cNvPicPr>
            <a:picLocks noChangeAspect="1"/>
          </p:cNvPicPr>
          <p:nvPr/>
        </p:nvPicPr>
        <p:blipFill>
          <a:blip r:embed="rId4"/>
          <a:stretch>
            <a:fillRect/>
          </a:stretch>
        </p:blipFill>
        <p:spPr>
          <a:xfrm>
            <a:off x="2643187" y="3010244"/>
            <a:ext cx="603825" cy="611849"/>
          </a:xfrm>
          <a:prstGeom prst="rect">
            <a:avLst/>
          </a:prstGeom>
        </p:spPr>
      </p:pic>
      <p:pic>
        <p:nvPicPr>
          <p:cNvPr id="7" name="그림 6">
            <a:extLst>
              <a:ext uri="{FF2B5EF4-FFF2-40B4-BE49-F238E27FC236}">
                <a16:creationId xmlns:a16="http://schemas.microsoft.com/office/drawing/2014/main" id="{C05E1E02-41D6-E5AF-CF0D-CFD887436FA8}"/>
              </a:ext>
            </a:extLst>
          </p:cNvPr>
          <p:cNvPicPr>
            <a:picLocks noChangeAspect="1"/>
          </p:cNvPicPr>
          <p:nvPr/>
        </p:nvPicPr>
        <p:blipFill>
          <a:blip r:embed="rId5"/>
          <a:stretch>
            <a:fillRect/>
          </a:stretch>
        </p:blipFill>
        <p:spPr>
          <a:xfrm>
            <a:off x="2622533" y="3794902"/>
            <a:ext cx="624479" cy="607036"/>
          </a:xfrm>
          <a:prstGeom prst="rect">
            <a:avLst/>
          </a:prstGeom>
        </p:spPr>
      </p:pic>
      <p:sp>
        <p:nvSpPr>
          <p:cNvPr id="9" name="TextBox 8">
            <a:extLst>
              <a:ext uri="{FF2B5EF4-FFF2-40B4-BE49-F238E27FC236}">
                <a16:creationId xmlns:a16="http://schemas.microsoft.com/office/drawing/2014/main" id="{2D52661C-859B-9166-0DB4-51E3CA74C963}"/>
              </a:ext>
            </a:extLst>
          </p:cNvPr>
          <p:cNvSpPr txBox="1"/>
          <p:nvPr/>
        </p:nvSpPr>
        <p:spPr>
          <a:xfrm>
            <a:off x="2544896" y="1933163"/>
            <a:ext cx="1242648" cy="215444"/>
          </a:xfrm>
          <a:prstGeom prst="rect">
            <a:avLst/>
          </a:prstGeom>
          <a:noFill/>
        </p:spPr>
        <p:txBody>
          <a:bodyPr wrap="none" rtlCol="0">
            <a:spAutoFit/>
          </a:bodyPr>
          <a:lstStyle/>
          <a:p>
            <a:pPr marL="171450" indent="-171450">
              <a:buFont typeface="Wingdings" panose="05000000000000000000" pitchFamily="2" charset="2"/>
              <a:buChar char="v"/>
            </a:pPr>
            <a:r>
              <a:rPr lang="ko-KR" altLang="ko-KR" sz="800" dirty="0">
                <a:solidFill>
                  <a:srgbClr val="0000FF"/>
                </a:solidFill>
              </a:rPr>
              <a:t>RB3 </a:t>
            </a:r>
            <a:r>
              <a:rPr lang="ko-KR" altLang="ko-KR" sz="800" dirty="0" err="1">
                <a:solidFill>
                  <a:srgbClr val="0000FF"/>
                </a:solidFill>
              </a:rPr>
              <a:t>Gen</a:t>
            </a:r>
            <a:r>
              <a:rPr lang="ko-KR" altLang="ko-KR" sz="800" dirty="0">
                <a:solidFill>
                  <a:srgbClr val="0000FF"/>
                </a:solidFill>
              </a:rPr>
              <a:t> 2 개발 키트</a:t>
            </a:r>
            <a:endParaRPr lang="ko-KR" altLang="en-US" sz="100" dirty="0">
              <a:solidFill>
                <a:srgbClr val="0000FF"/>
              </a:solidFill>
            </a:endParaRPr>
          </a:p>
        </p:txBody>
      </p:sp>
      <p:sp>
        <p:nvSpPr>
          <p:cNvPr id="11" name="TextBox 10">
            <a:extLst>
              <a:ext uri="{FF2B5EF4-FFF2-40B4-BE49-F238E27FC236}">
                <a16:creationId xmlns:a16="http://schemas.microsoft.com/office/drawing/2014/main" id="{CDE1BAEF-ECB2-2AA7-733B-B2FFED2E3537}"/>
              </a:ext>
            </a:extLst>
          </p:cNvPr>
          <p:cNvSpPr txBox="1"/>
          <p:nvPr/>
        </p:nvSpPr>
        <p:spPr>
          <a:xfrm>
            <a:off x="2622533" y="4359303"/>
            <a:ext cx="1481496" cy="215444"/>
          </a:xfrm>
          <a:prstGeom prst="rect">
            <a:avLst/>
          </a:prstGeom>
          <a:noFill/>
        </p:spPr>
        <p:txBody>
          <a:bodyPr wrap="none" rtlCol="0">
            <a:spAutoFit/>
          </a:bodyPr>
          <a:lstStyle/>
          <a:p>
            <a:pPr marL="171450" indent="-171450">
              <a:buFont typeface="Wingdings" panose="05000000000000000000" pitchFamily="2" charset="2"/>
              <a:buChar char="v"/>
            </a:pPr>
            <a:r>
              <a:rPr lang="en-US" altLang="ko-KR" sz="800" dirty="0">
                <a:solidFill>
                  <a:srgbClr val="0000FF"/>
                </a:solidFill>
              </a:rPr>
              <a:t>Jetson AGX Orin </a:t>
            </a:r>
            <a:r>
              <a:rPr lang="ko-KR" altLang="en-US" sz="800" dirty="0">
                <a:solidFill>
                  <a:srgbClr val="0000FF"/>
                </a:solidFill>
              </a:rPr>
              <a:t>개발</a:t>
            </a:r>
            <a:r>
              <a:rPr lang="en-US" altLang="ko-KR" sz="800" dirty="0">
                <a:solidFill>
                  <a:srgbClr val="0000FF"/>
                </a:solidFill>
              </a:rPr>
              <a:t> </a:t>
            </a:r>
            <a:r>
              <a:rPr lang="ko-KR" altLang="en-US" sz="800" dirty="0">
                <a:solidFill>
                  <a:srgbClr val="0000FF"/>
                </a:solidFill>
              </a:rPr>
              <a:t>키트</a:t>
            </a:r>
            <a:endParaRPr lang="ko-KR" altLang="en-US" sz="100" dirty="0">
              <a:solidFill>
                <a:srgbClr val="0000FF"/>
              </a:solidFill>
            </a:endParaRPr>
          </a:p>
        </p:txBody>
      </p:sp>
      <p:sp>
        <p:nvSpPr>
          <p:cNvPr id="3" name="TextBox 2">
            <a:extLst>
              <a:ext uri="{FF2B5EF4-FFF2-40B4-BE49-F238E27FC236}">
                <a16:creationId xmlns:a16="http://schemas.microsoft.com/office/drawing/2014/main" id="{14BE53B2-87BE-D7BB-AA15-28DF50D84671}"/>
              </a:ext>
            </a:extLst>
          </p:cNvPr>
          <p:cNvSpPr txBox="1"/>
          <p:nvPr/>
        </p:nvSpPr>
        <p:spPr>
          <a:xfrm>
            <a:off x="5120280" y="166913"/>
            <a:ext cx="3482115" cy="553998"/>
          </a:xfrm>
          <a:prstGeom prst="rect">
            <a:avLst/>
          </a:prstGeom>
          <a:noFill/>
        </p:spPr>
        <p:txBody>
          <a:bodyPr wrap="square" rtlCol="0">
            <a:spAutoFit/>
          </a:bodyPr>
          <a:lstStyle/>
          <a:p>
            <a:r>
              <a:rPr lang="en-US" altLang="ko-KR" sz="600" b="1" dirty="0">
                <a:solidFill>
                  <a:srgbClr val="0000FF"/>
                </a:solidFill>
                <a:hlinkClick r:id="rId6">
                  <a:extLst>
                    <a:ext uri="{A12FA001-AC4F-418D-AE19-62706E023703}">
                      <ahyp:hlinkClr xmlns:ahyp="http://schemas.microsoft.com/office/drawing/2018/hyperlinkcolor" val="tx"/>
                    </a:ext>
                  </a:extLst>
                </a:hlinkClick>
              </a:rPr>
              <a:t>OP-TEE</a:t>
            </a:r>
            <a:r>
              <a:rPr lang="ko-KR" altLang="en-US" sz="600" b="1" dirty="0">
                <a:solidFill>
                  <a:srgbClr val="0000FF"/>
                </a:solidFill>
                <a:hlinkClick r:id="rId6">
                  <a:extLst>
                    <a:ext uri="{A12FA001-AC4F-418D-AE19-62706E023703}">
                      <ahyp:hlinkClr xmlns:ahyp="http://schemas.microsoft.com/office/drawing/2018/hyperlinkcolor" val="tx"/>
                    </a:ext>
                  </a:extLst>
                </a:hlinkClick>
              </a:rPr>
              <a:t>는 </a:t>
            </a:r>
            <a:r>
              <a:rPr lang="en-US" altLang="ko-KR" sz="600" b="1" dirty="0">
                <a:solidFill>
                  <a:srgbClr val="0000FF"/>
                </a:solidFill>
                <a:hlinkClick r:id="rId6">
                  <a:extLst>
                    <a:ext uri="{A12FA001-AC4F-418D-AE19-62706E023703}">
                      <ahyp:hlinkClr xmlns:ahyp="http://schemas.microsoft.com/office/drawing/2018/hyperlinkcolor" val="tx"/>
                    </a:ext>
                  </a:extLst>
                </a:hlinkClick>
              </a:rPr>
              <a:t>GlobalPlatform </a:t>
            </a:r>
            <a:r>
              <a:rPr lang="ko-KR" altLang="en-US" sz="600" b="1" dirty="0">
                <a:solidFill>
                  <a:srgbClr val="0000FF"/>
                </a:solidFill>
                <a:hlinkClick r:id="rId6">
                  <a:extLst>
                    <a:ext uri="{A12FA001-AC4F-418D-AE19-62706E023703}">
                      <ahyp:hlinkClr xmlns:ahyp="http://schemas.microsoft.com/office/drawing/2018/hyperlinkcolor" val="tx"/>
                    </a:ext>
                  </a:extLst>
                </a:hlinkClick>
              </a:rPr>
              <a:t>표준을 지원함</a:t>
            </a:r>
            <a:endParaRPr lang="en-US" altLang="ko-KR" sz="600" b="1" dirty="0">
              <a:solidFill>
                <a:srgbClr val="0000FF"/>
              </a:solidFill>
              <a:hlinkClick r:id="rId6">
                <a:extLst>
                  <a:ext uri="{A12FA001-AC4F-418D-AE19-62706E023703}">
                    <ahyp:hlinkClr xmlns:ahyp="http://schemas.microsoft.com/office/drawing/2018/hyperlinkcolor" val="tx"/>
                  </a:ext>
                </a:extLst>
              </a:hlinkClick>
            </a:endParaRPr>
          </a:p>
          <a:p>
            <a:r>
              <a:rPr lang="en-US" altLang="ko-KR" sz="600" b="1" dirty="0">
                <a:solidFill>
                  <a:srgbClr val="0000FF"/>
                </a:solidFill>
                <a:hlinkClick r:id="rId6"/>
              </a:rPr>
              <a:t>https://optee.readthedocs.io/en/latest/architecture/globalplatform_api.html</a:t>
            </a:r>
            <a:endParaRPr lang="en-US" altLang="ko-KR" sz="600" b="1" dirty="0">
              <a:solidFill>
                <a:srgbClr val="0000FF"/>
              </a:solidFill>
            </a:endParaRPr>
          </a:p>
          <a:p>
            <a:pPr marL="171450" indent="-171450">
              <a:buFont typeface="Wingdings" panose="05000000000000000000" pitchFamily="2" charset="2"/>
              <a:buChar char="v"/>
            </a:pPr>
            <a:r>
              <a:rPr lang="en-US" altLang="ko-KR" sz="600" b="1" dirty="0">
                <a:solidFill>
                  <a:srgbClr val="0000FF"/>
                </a:solidFill>
              </a:rPr>
              <a:t>OP-TEE has support for GlobalPlatform TEE Client API Specification v1.0 (GPD_SPE_007) plus Errata and Precisions 2.0 (GPD_EPR_028) and TEE Internal Core API Specification v1.3.1 (GPD_SPE_010).</a:t>
            </a:r>
          </a:p>
        </p:txBody>
      </p:sp>
    </p:spTree>
    <p:extLst>
      <p:ext uri="{BB962C8B-B14F-4D97-AF65-F5344CB8AC3E}">
        <p14:creationId xmlns:p14="http://schemas.microsoft.com/office/powerpoint/2010/main" val="3623592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그림 5">
            <a:extLst>
              <a:ext uri="{FF2B5EF4-FFF2-40B4-BE49-F238E27FC236}">
                <a16:creationId xmlns:a16="http://schemas.microsoft.com/office/drawing/2014/main" id="{1733EBEA-E4B2-0238-72DA-B2A9C300711E}"/>
              </a:ext>
            </a:extLst>
          </p:cNvPr>
          <p:cNvPicPr>
            <a:picLocks noChangeAspect="1"/>
          </p:cNvPicPr>
          <p:nvPr/>
        </p:nvPicPr>
        <p:blipFill>
          <a:blip r:embed="rId2"/>
          <a:stretch>
            <a:fillRect/>
          </a:stretch>
        </p:blipFill>
        <p:spPr>
          <a:xfrm>
            <a:off x="4323107" y="1386467"/>
            <a:ext cx="3671364" cy="2529162"/>
          </a:xfrm>
          <a:prstGeom prst="rect">
            <a:avLst/>
          </a:prstGeom>
        </p:spPr>
      </p:pic>
      <p:sp>
        <p:nvSpPr>
          <p:cNvPr id="2" name="제목 1">
            <a:extLst>
              <a:ext uri="{FF2B5EF4-FFF2-40B4-BE49-F238E27FC236}">
                <a16:creationId xmlns:a16="http://schemas.microsoft.com/office/drawing/2014/main" id="{C9E4C256-CC7C-E30A-4343-664E0714EADC}"/>
              </a:ext>
            </a:extLst>
          </p:cNvPr>
          <p:cNvSpPr>
            <a:spLocks noGrp="1"/>
          </p:cNvSpPr>
          <p:nvPr>
            <p:ph type="title"/>
          </p:nvPr>
        </p:nvSpPr>
        <p:spPr>
          <a:xfrm>
            <a:off x="236765" y="166913"/>
            <a:ext cx="5523955" cy="409575"/>
          </a:xfrm>
        </p:spPr>
        <p:txBody>
          <a:bodyPr>
            <a:normAutofit/>
          </a:bodyPr>
          <a:lstStyle/>
          <a:p>
            <a:r>
              <a:rPr lang="en-US" altLang="ko-KR" dirty="0"/>
              <a:t>Secure Vision AI </a:t>
            </a:r>
            <a:r>
              <a:rPr lang="ko-KR" altLang="en-US" dirty="0"/>
              <a:t>시나리오</a:t>
            </a:r>
          </a:p>
        </p:txBody>
      </p:sp>
      <p:sp>
        <p:nvSpPr>
          <p:cNvPr id="3" name="내용 개체 틀 2">
            <a:extLst>
              <a:ext uri="{FF2B5EF4-FFF2-40B4-BE49-F238E27FC236}">
                <a16:creationId xmlns:a16="http://schemas.microsoft.com/office/drawing/2014/main" id="{000E9D4B-D61E-777A-3C23-8C938B5C4819}"/>
              </a:ext>
            </a:extLst>
          </p:cNvPr>
          <p:cNvSpPr>
            <a:spLocks noGrp="1"/>
          </p:cNvSpPr>
          <p:nvPr>
            <p:ph idx="1"/>
          </p:nvPr>
        </p:nvSpPr>
        <p:spPr>
          <a:xfrm>
            <a:off x="333829" y="721467"/>
            <a:ext cx="8181521" cy="409575"/>
          </a:xfrm>
        </p:spPr>
        <p:txBody>
          <a:bodyPr/>
          <a:lstStyle/>
          <a:p>
            <a:r>
              <a:rPr lang="en-US" altLang="ko-KR" dirty="0"/>
              <a:t>Framework </a:t>
            </a:r>
            <a:r>
              <a:rPr lang="ko-KR" altLang="en-US" dirty="0"/>
              <a:t>개발을 위해 고객 요구사항과 법규를 반영하여 시나리오를 우선 선정</a:t>
            </a:r>
          </a:p>
        </p:txBody>
      </p:sp>
      <p:pic>
        <p:nvPicPr>
          <p:cNvPr id="22" name="그림 21">
            <a:extLst>
              <a:ext uri="{FF2B5EF4-FFF2-40B4-BE49-F238E27FC236}">
                <a16:creationId xmlns:a16="http://schemas.microsoft.com/office/drawing/2014/main" id="{DF82A223-4EB3-E080-9357-E119B0AAED95}"/>
              </a:ext>
            </a:extLst>
          </p:cNvPr>
          <p:cNvPicPr>
            <a:picLocks noChangeAspect="1"/>
          </p:cNvPicPr>
          <p:nvPr/>
        </p:nvPicPr>
        <p:blipFill>
          <a:blip r:embed="rId3"/>
          <a:stretch>
            <a:fillRect/>
          </a:stretch>
        </p:blipFill>
        <p:spPr>
          <a:xfrm rot="5400000">
            <a:off x="2303807" y="2752446"/>
            <a:ext cx="2795734" cy="520187"/>
          </a:xfrm>
          <a:prstGeom prst="rect">
            <a:avLst/>
          </a:prstGeom>
        </p:spPr>
      </p:pic>
      <p:sp>
        <p:nvSpPr>
          <p:cNvPr id="23" name="TextBox 22">
            <a:extLst>
              <a:ext uri="{FF2B5EF4-FFF2-40B4-BE49-F238E27FC236}">
                <a16:creationId xmlns:a16="http://schemas.microsoft.com/office/drawing/2014/main" id="{97458940-30C7-4555-E0F6-7464B7CE0F32}"/>
              </a:ext>
            </a:extLst>
          </p:cNvPr>
          <p:cNvSpPr txBox="1"/>
          <p:nvPr/>
        </p:nvSpPr>
        <p:spPr>
          <a:xfrm>
            <a:off x="4512800" y="2430882"/>
            <a:ext cx="841897" cy="215444"/>
          </a:xfrm>
          <a:prstGeom prst="rect">
            <a:avLst/>
          </a:prstGeom>
          <a:noFill/>
        </p:spPr>
        <p:txBody>
          <a:bodyPr wrap="none" rtlCol="0">
            <a:spAutoFit/>
          </a:bodyPr>
          <a:lstStyle/>
          <a:p>
            <a:pPr algn="l"/>
            <a:r>
              <a:rPr lang="ko-KR" altLang="en-US" sz="800" b="1" dirty="0">
                <a:solidFill>
                  <a:srgbClr val="0000FF"/>
                </a:solidFill>
              </a:rPr>
              <a:t>생체 </a:t>
            </a:r>
            <a:r>
              <a:rPr lang="en-US" altLang="ko-KR" sz="800" b="1" dirty="0">
                <a:solidFill>
                  <a:srgbClr val="0000FF"/>
                </a:solidFill>
              </a:rPr>
              <a:t>Data </a:t>
            </a:r>
            <a:r>
              <a:rPr lang="ko-KR" altLang="en-US" sz="800" b="1" dirty="0">
                <a:solidFill>
                  <a:srgbClr val="0000FF"/>
                </a:solidFill>
              </a:rPr>
              <a:t>보호</a:t>
            </a:r>
          </a:p>
        </p:txBody>
      </p:sp>
      <p:sp>
        <p:nvSpPr>
          <p:cNvPr id="24" name="TextBox 23">
            <a:extLst>
              <a:ext uri="{FF2B5EF4-FFF2-40B4-BE49-F238E27FC236}">
                <a16:creationId xmlns:a16="http://schemas.microsoft.com/office/drawing/2014/main" id="{8FB5985B-8EFD-4044-8814-F77D1FBFB179}"/>
              </a:ext>
            </a:extLst>
          </p:cNvPr>
          <p:cNvSpPr txBox="1"/>
          <p:nvPr/>
        </p:nvSpPr>
        <p:spPr>
          <a:xfrm>
            <a:off x="5208775" y="2955446"/>
            <a:ext cx="726481" cy="215444"/>
          </a:xfrm>
          <a:prstGeom prst="rect">
            <a:avLst/>
          </a:prstGeom>
          <a:noFill/>
        </p:spPr>
        <p:txBody>
          <a:bodyPr wrap="none" rtlCol="0">
            <a:spAutoFit/>
          </a:bodyPr>
          <a:lstStyle/>
          <a:p>
            <a:pPr algn="l"/>
            <a:r>
              <a:rPr lang="en-US" altLang="ko-KR" sz="800" b="1" dirty="0">
                <a:solidFill>
                  <a:srgbClr val="0000FF"/>
                </a:solidFill>
              </a:rPr>
              <a:t>AI Data </a:t>
            </a:r>
            <a:r>
              <a:rPr lang="ko-KR" altLang="en-US" sz="800" b="1" dirty="0">
                <a:solidFill>
                  <a:srgbClr val="0000FF"/>
                </a:solidFill>
              </a:rPr>
              <a:t>보호</a:t>
            </a:r>
          </a:p>
        </p:txBody>
      </p:sp>
      <p:sp>
        <p:nvSpPr>
          <p:cNvPr id="25" name="TextBox 24">
            <a:extLst>
              <a:ext uri="{FF2B5EF4-FFF2-40B4-BE49-F238E27FC236}">
                <a16:creationId xmlns:a16="http://schemas.microsoft.com/office/drawing/2014/main" id="{E2E67523-2775-647C-0BBC-A6629BDD48A2}"/>
              </a:ext>
            </a:extLst>
          </p:cNvPr>
          <p:cNvSpPr txBox="1"/>
          <p:nvPr/>
        </p:nvSpPr>
        <p:spPr>
          <a:xfrm>
            <a:off x="4449593" y="3544887"/>
            <a:ext cx="1518364" cy="215444"/>
          </a:xfrm>
          <a:prstGeom prst="rect">
            <a:avLst/>
          </a:prstGeom>
          <a:noFill/>
        </p:spPr>
        <p:txBody>
          <a:bodyPr wrap="none" rtlCol="0">
            <a:spAutoFit/>
          </a:bodyPr>
          <a:lstStyle/>
          <a:p>
            <a:pPr algn="l"/>
            <a:r>
              <a:rPr lang="en-US" altLang="ko-KR" sz="800" b="1" dirty="0">
                <a:solidFill>
                  <a:srgbClr val="0000FF"/>
                </a:solidFill>
              </a:rPr>
              <a:t>GlobalPlatform </a:t>
            </a:r>
            <a:r>
              <a:rPr lang="ko-KR" altLang="en-US" sz="800" b="1" dirty="0">
                <a:solidFill>
                  <a:srgbClr val="0000FF"/>
                </a:solidFill>
              </a:rPr>
              <a:t>표준 규격 준수</a:t>
            </a:r>
          </a:p>
        </p:txBody>
      </p:sp>
      <p:sp>
        <p:nvSpPr>
          <p:cNvPr id="5" name="TextBox 4">
            <a:extLst>
              <a:ext uri="{FF2B5EF4-FFF2-40B4-BE49-F238E27FC236}">
                <a16:creationId xmlns:a16="http://schemas.microsoft.com/office/drawing/2014/main" id="{B04961E9-8EB4-D0B7-F339-F603CC97C80D}"/>
              </a:ext>
            </a:extLst>
          </p:cNvPr>
          <p:cNvSpPr txBox="1"/>
          <p:nvPr/>
        </p:nvSpPr>
        <p:spPr>
          <a:xfrm>
            <a:off x="4464507" y="3931517"/>
            <a:ext cx="3998210" cy="1046761"/>
          </a:xfrm>
          <a:prstGeom prst="rect">
            <a:avLst/>
          </a:prstGeom>
          <a:noFill/>
        </p:spPr>
        <p:txBody>
          <a:bodyPr wrap="none" rtlCol="0">
            <a:spAutoFit/>
          </a:bodyPr>
          <a:lstStyle/>
          <a:p>
            <a:pPr marL="342900" lvl="0" indent="-342900">
              <a:lnSpc>
                <a:spcPct val="150000"/>
              </a:lnSpc>
              <a:buFont typeface="+mj-ea"/>
              <a:buAutoNum type="circleNumDbPlain"/>
            </a:pPr>
            <a:r>
              <a:rPr lang="en-US" altLang="ko-KR" sz="600" dirty="0"/>
              <a:t>Host App</a:t>
            </a:r>
            <a:r>
              <a:rPr lang="ko-KR" altLang="en-US" sz="600" dirty="0"/>
              <a:t>이 </a:t>
            </a:r>
            <a:r>
              <a:rPr lang="en-US" altLang="ko-KR" sz="600" dirty="0"/>
              <a:t>Camera Service</a:t>
            </a:r>
            <a:r>
              <a:rPr lang="ko-KR" altLang="en-US" sz="600" dirty="0"/>
              <a:t>와 </a:t>
            </a:r>
            <a:r>
              <a:rPr lang="en-US" altLang="ko-KR" sz="600" dirty="0"/>
              <a:t>AI Service</a:t>
            </a:r>
            <a:r>
              <a:rPr lang="ko-KR" altLang="en-US" sz="600" dirty="0"/>
              <a:t>를 각각 실행한다</a:t>
            </a:r>
            <a:r>
              <a:rPr lang="en-US" altLang="ko-KR" sz="600" dirty="0"/>
              <a:t>.</a:t>
            </a:r>
          </a:p>
          <a:p>
            <a:pPr marL="342900" lvl="0" indent="-342900">
              <a:lnSpc>
                <a:spcPct val="150000"/>
              </a:lnSpc>
              <a:buFont typeface="+mj-ea"/>
              <a:buAutoNum type="circleNumDbPlain"/>
            </a:pPr>
            <a:r>
              <a:rPr lang="en-US" altLang="ko-KR" sz="600" dirty="0"/>
              <a:t>Camera Service</a:t>
            </a:r>
            <a:r>
              <a:rPr lang="ko-KR" altLang="en-US" sz="600" dirty="0"/>
              <a:t>가 </a:t>
            </a:r>
            <a:r>
              <a:rPr lang="en-US" altLang="ko-KR" sz="600" dirty="0"/>
              <a:t>pVM</a:t>
            </a:r>
            <a:r>
              <a:rPr lang="ko-KR" altLang="en-US" sz="600" dirty="0"/>
              <a:t>의 </a:t>
            </a:r>
            <a:r>
              <a:rPr lang="en-US" altLang="ko-KR" sz="600" dirty="0"/>
              <a:t>Camera Stream Workload</a:t>
            </a:r>
            <a:r>
              <a:rPr lang="ko-KR" altLang="en-US" sz="600" dirty="0"/>
              <a:t>를 실행한다</a:t>
            </a:r>
            <a:r>
              <a:rPr lang="en-US" altLang="ko-KR" sz="600" dirty="0"/>
              <a:t>.</a:t>
            </a:r>
          </a:p>
          <a:p>
            <a:pPr marL="342900" lvl="0" indent="-342900">
              <a:lnSpc>
                <a:spcPct val="150000"/>
              </a:lnSpc>
              <a:buFont typeface="+mj-ea"/>
              <a:buAutoNum type="circleNumDbPlain"/>
            </a:pPr>
            <a:r>
              <a:rPr lang="en-US" altLang="ko-KR" sz="600" dirty="0"/>
              <a:t>Camera Stream Workload</a:t>
            </a:r>
            <a:r>
              <a:rPr lang="ko-KR" altLang="en-US" sz="600" dirty="0"/>
              <a:t>가 </a:t>
            </a:r>
            <a:r>
              <a:rPr lang="en-US" altLang="ko-KR" sz="600" dirty="0"/>
              <a:t>Camera HW</a:t>
            </a:r>
            <a:r>
              <a:rPr lang="ko-KR" altLang="en-US" sz="600" dirty="0"/>
              <a:t>를 사용해 </a:t>
            </a:r>
            <a:r>
              <a:rPr lang="en-US" altLang="ko-KR" sz="600" dirty="0"/>
              <a:t>Sensor Data</a:t>
            </a:r>
            <a:r>
              <a:rPr lang="ko-KR" altLang="en-US" sz="600" dirty="0"/>
              <a:t>를 수집한다</a:t>
            </a:r>
            <a:r>
              <a:rPr lang="en-US" altLang="ko-KR" sz="600" dirty="0"/>
              <a:t>. (1080p RGB24 @30FPS)</a:t>
            </a:r>
          </a:p>
          <a:p>
            <a:pPr marL="342900" lvl="0" indent="-342900">
              <a:lnSpc>
                <a:spcPct val="150000"/>
              </a:lnSpc>
              <a:buFont typeface="+mj-ea"/>
              <a:buAutoNum type="circleNumDbPlain"/>
            </a:pPr>
            <a:r>
              <a:rPr lang="ko-KR" altLang="en-US" sz="600" dirty="0"/>
              <a:t>수집된 영상은 </a:t>
            </a:r>
            <a:r>
              <a:rPr lang="en-US" altLang="ko-KR" sz="600" dirty="0"/>
              <a:t>AI pVM</a:t>
            </a:r>
            <a:r>
              <a:rPr lang="ko-KR" altLang="en-US" sz="600" dirty="0"/>
              <a:t>의 </a:t>
            </a:r>
            <a:r>
              <a:rPr lang="en-US" altLang="ko-KR" sz="600" dirty="0"/>
              <a:t>AI </a:t>
            </a:r>
            <a:r>
              <a:rPr lang="ko-KR" altLang="en-US" sz="600" dirty="0"/>
              <a:t>추론 </a:t>
            </a:r>
            <a:r>
              <a:rPr lang="en-US" altLang="ko-KR" sz="600" dirty="0"/>
              <a:t>Workload</a:t>
            </a:r>
            <a:r>
              <a:rPr lang="ko-KR" altLang="en-US" sz="600" dirty="0"/>
              <a:t>로 전달된다</a:t>
            </a:r>
            <a:r>
              <a:rPr lang="en-US" altLang="ko-KR" sz="600" dirty="0"/>
              <a:t>.</a:t>
            </a:r>
          </a:p>
          <a:p>
            <a:pPr marL="342900" indent="-342900">
              <a:lnSpc>
                <a:spcPct val="150000"/>
              </a:lnSpc>
              <a:buFont typeface="+mj-ea"/>
              <a:buAutoNum type="circleNumDbPlain"/>
            </a:pPr>
            <a:r>
              <a:rPr lang="en-US" altLang="ko-KR" sz="600" dirty="0"/>
              <a:t>AI</a:t>
            </a:r>
            <a:r>
              <a:rPr lang="ko-KR" altLang="en-US" sz="600" dirty="0"/>
              <a:t>모델의 복호화는 </a:t>
            </a:r>
            <a:r>
              <a:rPr lang="en-US" altLang="ko-KR" sz="600" dirty="0"/>
              <a:t>GP</a:t>
            </a:r>
            <a:r>
              <a:rPr lang="ko-KR" altLang="en-US" sz="600" dirty="0"/>
              <a:t>표준 방법을 통해서 </a:t>
            </a:r>
            <a:r>
              <a:rPr lang="en-US" altLang="ko-KR" sz="600" dirty="0"/>
              <a:t>TEE</a:t>
            </a:r>
            <a:r>
              <a:rPr lang="ko-KR" altLang="en-US" sz="600" dirty="0"/>
              <a:t>의 </a:t>
            </a:r>
            <a:r>
              <a:rPr lang="en-US" altLang="ko-KR" sz="600" dirty="0"/>
              <a:t>Crypto Manager</a:t>
            </a:r>
            <a:r>
              <a:rPr lang="ko-KR" altLang="en-US" sz="600" dirty="0"/>
              <a:t>를 사용한다</a:t>
            </a:r>
            <a:r>
              <a:rPr lang="en-US" altLang="ko-KR" sz="600" dirty="0"/>
              <a:t>. (</a:t>
            </a:r>
            <a:r>
              <a:rPr lang="ko-KR" altLang="en-US" sz="600" dirty="0"/>
              <a:t>범용 </a:t>
            </a:r>
            <a:r>
              <a:rPr lang="en-US" altLang="ko-KR" sz="600" dirty="0"/>
              <a:t>LLM </a:t>
            </a:r>
            <a:r>
              <a:rPr lang="ko-KR" altLang="en-US" sz="600" dirty="0"/>
              <a:t>사이즈</a:t>
            </a:r>
            <a:r>
              <a:rPr lang="en-US" altLang="ko-KR" sz="600" dirty="0"/>
              <a:t>: 1GB</a:t>
            </a:r>
            <a:r>
              <a:rPr lang="ko-KR" altLang="en-US" sz="600" dirty="0"/>
              <a:t>이상</a:t>
            </a:r>
            <a:r>
              <a:rPr lang="en-US" altLang="ko-KR" sz="600" dirty="0"/>
              <a:t>)</a:t>
            </a:r>
          </a:p>
          <a:p>
            <a:pPr marL="342900" lvl="0" indent="-342900">
              <a:lnSpc>
                <a:spcPct val="150000"/>
              </a:lnSpc>
              <a:buFont typeface="+mj-ea"/>
              <a:buAutoNum type="circleNumDbPlain"/>
            </a:pPr>
            <a:r>
              <a:rPr lang="en-US" altLang="ko-KR" sz="600" dirty="0"/>
              <a:t>AI </a:t>
            </a:r>
            <a:r>
              <a:rPr lang="ko-KR" altLang="en-US" sz="600" dirty="0"/>
              <a:t>추론 </a:t>
            </a:r>
            <a:r>
              <a:rPr lang="en-US" altLang="ko-KR" sz="600" dirty="0"/>
              <a:t>Workload</a:t>
            </a:r>
            <a:r>
              <a:rPr lang="ko-KR" altLang="en-US" sz="600" dirty="0"/>
              <a:t>가 </a:t>
            </a:r>
            <a:r>
              <a:rPr lang="en-US" altLang="ko-KR" sz="600" dirty="0"/>
              <a:t>model</a:t>
            </a:r>
            <a:r>
              <a:rPr lang="ko-KR" altLang="en-US" sz="600" dirty="0"/>
              <a:t>을 사용하고 </a:t>
            </a:r>
            <a:r>
              <a:rPr lang="en-US" altLang="ko-KR" sz="600" dirty="0"/>
              <a:t>AI HW</a:t>
            </a:r>
            <a:r>
              <a:rPr lang="ko-KR" altLang="en-US" sz="600" dirty="0"/>
              <a:t>로 추론을 수행한다</a:t>
            </a:r>
            <a:r>
              <a:rPr lang="en-US" altLang="ko-KR" sz="600" dirty="0"/>
              <a:t>.</a:t>
            </a:r>
          </a:p>
          <a:p>
            <a:pPr marL="342900" lvl="0" indent="-342900">
              <a:lnSpc>
                <a:spcPct val="150000"/>
              </a:lnSpc>
              <a:buFont typeface="+mj-ea"/>
              <a:buAutoNum type="circleNumDbPlain"/>
            </a:pPr>
            <a:r>
              <a:rPr lang="en-US" altLang="ko-KR" sz="600" dirty="0"/>
              <a:t>AI </a:t>
            </a:r>
            <a:r>
              <a:rPr lang="ko-KR" altLang="en-US" sz="600" dirty="0"/>
              <a:t>추론 결과는 </a:t>
            </a:r>
            <a:r>
              <a:rPr lang="en-US" altLang="ko-KR" sz="600" dirty="0"/>
              <a:t>Host App</a:t>
            </a:r>
            <a:r>
              <a:rPr lang="ko-KR" altLang="en-US" sz="600" dirty="0"/>
              <a:t>으로 반환된다</a:t>
            </a:r>
            <a:r>
              <a:rPr lang="en-US" altLang="ko-KR" sz="600" dirty="0"/>
              <a:t>.</a:t>
            </a:r>
          </a:p>
        </p:txBody>
      </p:sp>
      <p:grpSp>
        <p:nvGrpSpPr>
          <p:cNvPr id="50" name="그룹 49">
            <a:extLst>
              <a:ext uri="{FF2B5EF4-FFF2-40B4-BE49-F238E27FC236}">
                <a16:creationId xmlns:a16="http://schemas.microsoft.com/office/drawing/2014/main" id="{E220F2CA-1ACA-AAE2-AB61-A22B99F03EC8}"/>
              </a:ext>
            </a:extLst>
          </p:cNvPr>
          <p:cNvGrpSpPr/>
          <p:nvPr/>
        </p:nvGrpSpPr>
        <p:grpSpPr>
          <a:xfrm>
            <a:off x="491926" y="1251789"/>
            <a:ext cx="3157726" cy="3735826"/>
            <a:chOff x="491926" y="1251789"/>
            <a:chExt cx="3157726" cy="3735826"/>
          </a:xfrm>
        </p:grpSpPr>
        <p:sp>
          <p:nvSpPr>
            <p:cNvPr id="9" name="사각형: 둥근 모서리 8">
              <a:extLst>
                <a:ext uri="{FF2B5EF4-FFF2-40B4-BE49-F238E27FC236}">
                  <a16:creationId xmlns:a16="http://schemas.microsoft.com/office/drawing/2014/main" id="{04DFC57A-7D41-08F2-469D-8D9F00CDB642}"/>
                </a:ext>
              </a:extLst>
            </p:cNvPr>
            <p:cNvSpPr/>
            <p:nvPr/>
          </p:nvSpPr>
          <p:spPr>
            <a:xfrm>
              <a:off x="1051228" y="1347281"/>
              <a:ext cx="1951928" cy="1558597"/>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sz="1600"/>
            </a:p>
          </p:txBody>
        </p:sp>
        <p:sp>
          <p:nvSpPr>
            <p:cNvPr id="8" name="TextBox 7">
              <a:extLst>
                <a:ext uri="{FF2B5EF4-FFF2-40B4-BE49-F238E27FC236}">
                  <a16:creationId xmlns:a16="http://schemas.microsoft.com/office/drawing/2014/main" id="{690B2636-9DCF-6F4F-684D-F606677E57C7}"/>
                </a:ext>
              </a:extLst>
            </p:cNvPr>
            <p:cNvSpPr txBox="1"/>
            <p:nvPr/>
          </p:nvSpPr>
          <p:spPr>
            <a:xfrm>
              <a:off x="1322661" y="1251789"/>
              <a:ext cx="1409062" cy="255905"/>
            </a:xfrm>
            <a:prstGeom prst="rect">
              <a:avLst/>
            </a:prstGeom>
            <a:ln w="28575"/>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ko-KR" altLang="en-US" sz="1100" b="1" dirty="0">
                  <a:solidFill>
                    <a:schemeClr val="tx1"/>
                  </a:solidFill>
                </a:rPr>
                <a:t>고객 요구 사항</a:t>
              </a:r>
            </a:p>
          </p:txBody>
        </p:sp>
        <p:sp>
          <p:nvSpPr>
            <p:cNvPr id="11" name="사각형: 둥근 모서리 10">
              <a:extLst>
                <a:ext uri="{FF2B5EF4-FFF2-40B4-BE49-F238E27FC236}">
                  <a16:creationId xmlns:a16="http://schemas.microsoft.com/office/drawing/2014/main" id="{8FA026B8-58E4-862D-1306-87B788B4A5A0}"/>
                </a:ext>
              </a:extLst>
            </p:cNvPr>
            <p:cNvSpPr/>
            <p:nvPr/>
          </p:nvSpPr>
          <p:spPr>
            <a:xfrm>
              <a:off x="2121614" y="2242137"/>
              <a:ext cx="639919" cy="563067"/>
            </a:xfrm>
            <a:prstGeom prst="roundRect">
              <a:avLst/>
            </a:prstGeom>
          </p:spPr>
          <p:style>
            <a:lnRef idx="0">
              <a:schemeClr val="accent6"/>
            </a:lnRef>
            <a:fillRef idx="3">
              <a:schemeClr val="accent6"/>
            </a:fillRef>
            <a:effectRef idx="3">
              <a:schemeClr val="accent6"/>
            </a:effectRef>
            <a:fontRef idx="minor">
              <a:schemeClr val="lt1"/>
            </a:fontRef>
          </p:style>
          <p:txBody>
            <a:bodyPr lIns="10800" tIns="10800" rIns="10800" bIns="10800" rtlCol="0" anchor="ctr"/>
            <a:lstStyle/>
            <a:p>
              <a:pPr algn="ctr"/>
              <a:r>
                <a:rPr lang="en-US" altLang="ko-KR" sz="700" b="1" dirty="0"/>
                <a:t>R-4. GlobalPlatform </a:t>
              </a:r>
              <a:r>
                <a:rPr lang="ko-KR" altLang="en-US" sz="700" b="1" dirty="0"/>
                <a:t>표준 규격 준수 요구</a:t>
              </a:r>
            </a:p>
          </p:txBody>
        </p:sp>
        <p:sp>
          <p:nvSpPr>
            <p:cNvPr id="13" name="사각형: 둥근 모서리 12">
              <a:extLst>
                <a:ext uri="{FF2B5EF4-FFF2-40B4-BE49-F238E27FC236}">
                  <a16:creationId xmlns:a16="http://schemas.microsoft.com/office/drawing/2014/main" id="{E16FEAA5-C410-68D4-53F7-335F9494231D}"/>
                </a:ext>
              </a:extLst>
            </p:cNvPr>
            <p:cNvSpPr/>
            <p:nvPr/>
          </p:nvSpPr>
          <p:spPr>
            <a:xfrm>
              <a:off x="1322662" y="1618134"/>
              <a:ext cx="639918" cy="503039"/>
            </a:xfrm>
            <a:prstGeom prst="roundRect">
              <a:avLst/>
            </a:prstGeom>
          </p:spPr>
          <p:style>
            <a:lnRef idx="0">
              <a:schemeClr val="accent6"/>
            </a:lnRef>
            <a:fillRef idx="3">
              <a:schemeClr val="accent6"/>
            </a:fillRef>
            <a:effectRef idx="3">
              <a:schemeClr val="accent6"/>
            </a:effectRef>
            <a:fontRef idx="minor">
              <a:schemeClr val="lt1"/>
            </a:fontRef>
          </p:style>
          <p:txBody>
            <a:bodyPr lIns="10800" tIns="10800" rIns="10800" bIns="10800" rtlCol="0" anchor="ctr"/>
            <a:lstStyle/>
            <a:p>
              <a:pPr algn="ctr"/>
              <a:r>
                <a:rPr lang="en-US" altLang="ko-KR" sz="700" b="1" dirty="0">
                  <a:solidFill>
                    <a:schemeClr val="bg1"/>
                  </a:solidFill>
                  <a:latin typeface="+mj-ea"/>
                </a:rPr>
                <a:t>R-1.</a:t>
              </a:r>
            </a:p>
            <a:p>
              <a:pPr algn="ctr"/>
              <a:r>
                <a:rPr lang="ko-KR" altLang="en-US" sz="700" b="1" dirty="0">
                  <a:solidFill>
                    <a:schemeClr val="bg1"/>
                  </a:solidFill>
                  <a:latin typeface="+mj-ea"/>
                </a:rPr>
                <a:t>영상</a:t>
              </a:r>
              <a:r>
                <a:rPr lang="en-US" altLang="ko-KR" sz="700" b="1" dirty="0">
                  <a:solidFill>
                    <a:schemeClr val="bg1"/>
                  </a:solidFill>
                  <a:latin typeface="+mj-ea"/>
                </a:rPr>
                <a:t>/AI/IP </a:t>
              </a:r>
              <a:r>
                <a:rPr lang="ko-KR" altLang="en-US" sz="700" b="1" dirty="0">
                  <a:solidFill>
                    <a:schemeClr val="bg1"/>
                  </a:solidFill>
                  <a:latin typeface="+mj-ea"/>
                </a:rPr>
                <a:t>자산 보호 지원 요구</a:t>
              </a:r>
              <a:endParaRPr lang="ko-KR" altLang="en-US" sz="700" b="1" dirty="0">
                <a:solidFill>
                  <a:schemeClr val="bg1"/>
                </a:solidFill>
              </a:endParaRPr>
            </a:p>
          </p:txBody>
        </p:sp>
        <p:sp>
          <p:nvSpPr>
            <p:cNvPr id="14" name="사각형: 둥근 모서리 13">
              <a:extLst>
                <a:ext uri="{FF2B5EF4-FFF2-40B4-BE49-F238E27FC236}">
                  <a16:creationId xmlns:a16="http://schemas.microsoft.com/office/drawing/2014/main" id="{78CBE09F-AFC1-9930-969F-8720D11C4D19}"/>
                </a:ext>
              </a:extLst>
            </p:cNvPr>
            <p:cNvSpPr/>
            <p:nvPr/>
          </p:nvSpPr>
          <p:spPr>
            <a:xfrm>
              <a:off x="2121616" y="1618134"/>
              <a:ext cx="639918" cy="503039"/>
            </a:xfrm>
            <a:prstGeom prst="roundRect">
              <a:avLst/>
            </a:prstGeom>
          </p:spPr>
          <p:style>
            <a:lnRef idx="0">
              <a:schemeClr val="accent6"/>
            </a:lnRef>
            <a:fillRef idx="3">
              <a:schemeClr val="accent6"/>
            </a:fillRef>
            <a:effectRef idx="3">
              <a:schemeClr val="accent6"/>
            </a:effectRef>
            <a:fontRef idx="minor">
              <a:schemeClr val="lt1"/>
            </a:fontRef>
          </p:style>
          <p:txBody>
            <a:bodyPr lIns="10800" tIns="10800" rIns="10800" bIns="10800" rtlCol="0" anchor="ctr"/>
            <a:lstStyle/>
            <a:p>
              <a:pPr algn="ctr"/>
              <a:r>
                <a:rPr lang="en-US" altLang="ko-KR" sz="700" b="1" dirty="0">
                  <a:solidFill>
                    <a:schemeClr val="bg1"/>
                  </a:solidFill>
                  <a:latin typeface="+mj-ea"/>
                </a:rPr>
                <a:t>R-2.</a:t>
              </a:r>
            </a:p>
            <a:p>
              <a:pPr algn="ctr"/>
              <a:r>
                <a:rPr lang="ko-KR" altLang="en-US" sz="700" b="1" dirty="0">
                  <a:solidFill>
                    <a:schemeClr val="bg1"/>
                  </a:solidFill>
                  <a:latin typeface="+mj-ea"/>
                </a:rPr>
                <a:t>고성능 </a:t>
              </a:r>
              <a:r>
                <a:rPr lang="en-US" altLang="ko-KR" sz="700" b="1" dirty="0">
                  <a:solidFill>
                    <a:schemeClr val="bg1"/>
                  </a:solidFill>
                  <a:latin typeface="+mj-ea"/>
                </a:rPr>
                <a:t>HW Accel </a:t>
              </a:r>
              <a:r>
                <a:rPr lang="ko-KR" altLang="en-US" sz="700" b="1" dirty="0">
                  <a:solidFill>
                    <a:schemeClr val="bg1"/>
                  </a:solidFill>
                  <a:latin typeface="+mj-ea"/>
                </a:rPr>
                <a:t>지원 요구</a:t>
              </a:r>
              <a:endParaRPr lang="ko-KR" altLang="en-US" sz="700" b="1" dirty="0">
                <a:solidFill>
                  <a:schemeClr val="bg1"/>
                </a:solidFill>
              </a:endParaRPr>
            </a:p>
          </p:txBody>
        </p:sp>
        <p:sp>
          <p:nvSpPr>
            <p:cNvPr id="15" name="사각형: 둥근 모서리 14">
              <a:extLst>
                <a:ext uri="{FF2B5EF4-FFF2-40B4-BE49-F238E27FC236}">
                  <a16:creationId xmlns:a16="http://schemas.microsoft.com/office/drawing/2014/main" id="{BE755B93-0059-5C35-6456-CA3F1380E2CB}"/>
                </a:ext>
              </a:extLst>
            </p:cNvPr>
            <p:cNvSpPr/>
            <p:nvPr/>
          </p:nvSpPr>
          <p:spPr>
            <a:xfrm>
              <a:off x="1322662" y="2231333"/>
              <a:ext cx="639918" cy="573870"/>
            </a:xfrm>
            <a:prstGeom prst="roundRect">
              <a:avLst/>
            </a:prstGeom>
          </p:spPr>
          <p:style>
            <a:lnRef idx="0">
              <a:schemeClr val="accent6"/>
            </a:lnRef>
            <a:fillRef idx="3">
              <a:schemeClr val="accent6"/>
            </a:fillRef>
            <a:effectRef idx="3">
              <a:schemeClr val="accent6"/>
            </a:effectRef>
            <a:fontRef idx="minor">
              <a:schemeClr val="lt1"/>
            </a:fontRef>
          </p:style>
          <p:txBody>
            <a:bodyPr lIns="10800" tIns="10800" rIns="10800" bIns="10800" rtlCol="0" anchor="ctr"/>
            <a:lstStyle/>
            <a:p>
              <a:pPr algn="ctr"/>
              <a:r>
                <a:rPr lang="en-US" altLang="ko-KR" sz="700" b="1" dirty="0">
                  <a:solidFill>
                    <a:schemeClr val="bg1"/>
                  </a:solidFill>
                  <a:latin typeface="+mj-ea"/>
                </a:rPr>
                <a:t>R-3.</a:t>
              </a:r>
            </a:p>
            <a:p>
              <a:pPr algn="ctr"/>
              <a:r>
                <a:rPr lang="ko-KR" altLang="en-US" sz="700" b="1" dirty="0">
                  <a:solidFill>
                    <a:schemeClr val="bg1"/>
                  </a:solidFill>
                  <a:latin typeface="+mj-ea"/>
                </a:rPr>
                <a:t>유연한 시나리오 지원 요구</a:t>
              </a:r>
              <a:endParaRPr lang="ko-KR" altLang="en-US" sz="700" b="1" dirty="0">
                <a:solidFill>
                  <a:schemeClr val="bg1"/>
                </a:solidFill>
              </a:endParaRPr>
            </a:p>
          </p:txBody>
        </p:sp>
        <p:sp>
          <p:nvSpPr>
            <p:cNvPr id="29" name="사각형: 둥근 모서리 28">
              <a:extLst>
                <a:ext uri="{FF2B5EF4-FFF2-40B4-BE49-F238E27FC236}">
                  <a16:creationId xmlns:a16="http://schemas.microsoft.com/office/drawing/2014/main" id="{74608772-FDBD-82BB-A40A-E002BDA0D71C}"/>
                </a:ext>
              </a:extLst>
            </p:cNvPr>
            <p:cNvSpPr/>
            <p:nvPr/>
          </p:nvSpPr>
          <p:spPr>
            <a:xfrm>
              <a:off x="1051228" y="3252144"/>
              <a:ext cx="1951928" cy="1170211"/>
            </a:xfrm>
            <a:prstGeom prst="roundRect">
              <a:avLst/>
            </a:prstGeom>
            <a:ln w="19050"/>
          </p:spPr>
          <p:style>
            <a:lnRef idx="2">
              <a:schemeClr val="dk1"/>
            </a:lnRef>
            <a:fillRef idx="1">
              <a:schemeClr val="lt1"/>
            </a:fillRef>
            <a:effectRef idx="0">
              <a:schemeClr val="dk1"/>
            </a:effectRef>
            <a:fontRef idx="minor">
              <a:schemeClr val="dk1"/>
            </a:fontRef>
          </p:style>
          <p:txBody>
            <a:bodyPr rtlCol="0" anchor="ctr"/>
            <a:lstStyle/>
            <a:p>
              <a:pPr algn="ctr"/>
              <a:endParaRPr lang="ko-KR" altLang="en-US" sz="1600"/>
            </a:p>
          </p:txBody>
        </p:sp>
        <p:sp>
          <p:nvSpPr>
            <p:cNvPr id="30" name="TextBox 29">
              <a:extLst>
                <a:ext uri="{FF2B5EF4-FFF2-40B4-BE49-F238E27FC236}">
                  <a16:creationId xmlns:a16="http://schemas.microsoft.com/office/drawing/2014/main" id="{2A234222-7DC8-7803-2A37-7A0D072CF34F}"/>
                </a:ext>
              </a:extLst>
            </p:cNvPr>
            <p:cNvSpPr txBox="1"/>
            <p:nvPr/>
          </p:nvSpPr>
          <p:spPr>
            <a:xfrm>
              <a:off x="1322661" y="3105415"/>
              <a:ext cx="1409062" cy="255905"/>
            </a:xfrm>
            <a:prstGeom prst="rect">
              <a:avLst/>
            </a:prstGeom>
            <a:ln w="28575"/>
          </p:spPr>
          <p:style>
            <a:lnRef idx="2">
              <a:schemeClr val="dk1"/>
            </a:lnRef>
            <a:fillRef idx="1">
              <a:schemeClr val="lt1"/>
            </a:fillRef>
            <a:effectRef idx="0">
              <a:schemeClr val="dk1"/>
            </a:effectRef>
            <a:fontRef idx="minor">
              <a:schemeClr val="dk1"/>
            </a:fontRef>
          </p:style>
          <p:txBody>
            <a:bodyPr wrap="square" rtlCol="0">
              <a:spAutoFit/>
            </a:bodyPr>
            <a:lstStyle/>
            <a:p>
              <a:pPr algn="ctr"/>
              <a:r>
                <a:rPr lang="ko-KR" altLang="en-US" sz="1100" b="1" dirty="0">
                  <a:solidFill>
                    <a:schemeClr val="tx1"/>
                  </a:solidFill>
                </a:rPr>
                <a:t>보안 법규</a:t>
              </a:r>
            </a:p>
          </p:txBody>
        </p:sp>
        <p:sp>
          <p:nvSpPr>
            <p:cNvPr id="19" name="사각형: 둥근 모서리 18">
              <a:extLst>
                <a:ext uri="{FF2B5EF4-FFF2-40B4-BE49-F238E27FC236}">
                  <a16:creationId xmlns:a16="http://schemas.microsoft.com/office/drawing/2014/main" id="{3914A352-9D58-C56D-CF7B-BE7D1B21E15C}"/>
                </a:ext>
              </a:extLst>
            </p:cNvPr>
            <p:cNvSpPr/>
            <p:nvPr/>
          </p:nvSpPr>
          <p:spPr>
            <a:xfrm>
              <a:off x="2121614" y="3580126"/>
              <a:ext cx="639919" cy="563067"/>
            </a:xfrm>
            <a:prstGeom prst="roundRect">
              <a:avLst/>
            </a:prstGeom>
          </p:spPr>
          <p:style>
            <a:lnRef idx="1">
              <a:schemeClr val="accent1"/>
            </a:lnRef>
            <a:fillRef idx="3">
              <a:schemeClr val="accent1"/>
            </a:fillRef>
            <a:effectRef idx="2">
              <a:schemeClr val="accent1"/>
            </a:effectRef>
            <a:fontRef idx="minor">
              <a:schemeClr val="lt1"/>
            </a:fontRef>
          </p:style>
          <p:txBody>
            <a:bodyPr lIns="10800" tIns="10800" rIns="10800" bIns="10800" rtlCol="0" anchor="ctr"/>
            <a:lstStyle/>
            <a:p>
              <a:pPr algn="ctr"/>
              <a:r>
                <a:rPr lang="en-US" altLang="ko-KR" sz="700" dirty="0"/>
                <a:t>EU</a:t>
              </a:r>
            </a:p>
            <a:p>
              <a:pPr algn="ctr"/>
              <a:r>
                <a:rPr lang="en-US" altLang="ko-KR" sz="700" dirty="0"/>
                <a:t>Regulation</a:t>
              </a:r>
            </a:p>
            <a:p>
              <a:pPr algn="ctr"/>
              <a:r>
                <a:rPr lang="en-US" altLang="ko-KR" sz="700" dirty="0"/>
                <a:t>2024/1689</a:t>
              </a:r>
            </a:p>
            <a:p>
              <a:pPr algn="ctr"/>
              <a:r>
                <a:rPr lang="en-US" altLang="ko-KR" sz="700" b="1" dirty="0">
                  <a:solidFill>
                    <a:schemeClr val="bg1"/>
                  </a:solidFill>
                </a:rPr>
                <a:t>(AI)</a:t>
              </a:r>
              <a:endParaRPr lang="ko-KR" altLang="en-US" sz="600" b="1" dirty="0">
                <a:solidFill>
                  <a:schemeClr val="bg1"/>
                </a:solidFill>
              </a:endParaRPr>
            </a:p>
          </p:txBody>
        </p:sp>
        <p:sp>
          <p:nvSpPr>
            <p:cNvPr id="28" name="사각형: 둥근 모서리 27">
              <a:extLst>
                <a:ext uri="{FF2B5EF4-FFF2-40B4-BE49-F238E27FC236}">
                  <a16:creationId xmlns:a16="http://schemas.microsoft.com/office/drawing/2014/main" id="{F67DB7B8-F2DA-E6E0-DA84-F9265F97B9D6}"/>
                </a:ext>
              </a:extLst>
            </p:cNvPr>
            <p:cNvSpPr/>
            <p:nvPr/>
          </p:nvSpPr>
          <p:spPr>
            <a:xfrm>
              <a:off x="1322662" y="3569322"/>
              <a:ext cx="639919" cy="573870"/>
            </a:xfrm>
            <a:prstGeom prst="roundRect">
              <a:avLst/>
            </a:prstGeom>
          </p:spPr>
          <p:style>
            <a:lnRef idx="1">
              <a:schemeClr val="accent1"/>
            </a:lnRef>
            <a:fillRef idx="3">
              <a:schemeClr val="accent1"/>
            </a:fillRef>
            <a:effectRef idx="2">
              <a:schemeClr val="accent1"/>
            </a:effectRef>
            <a:fontRef idx="minor">
              <a:schemeClr val="lt1"/>
            </a:fontRef>
          </p:style>
          <p:txBody>
            <a:bodyPr lIns="10800" tIns="10800" rIns="10800" bIns="10800" rtlCol="0" anchor="ctr"/>
            <a:lstStyle/>
            <a:p>
              <a:pPr algn="ctr"/>
              <a:r>
                <a:rPr lang="en-US" altLang="ko-KR" sz="800" dirty="0"/>
                <a:t>EU</a:t>
              </a:r>
            </a:p>
            <a:p>
              <a:pPr algn="ctr"/>
              <a:r>
                <a:rPr lang="en-US" altLang="ko-KR" sz="800" dirty="0"/>
                <a:t>Regulation</a:t>
              </a:r>
            </a:p>
            <a:p>
              <a:pPr algn="ctr"/>
              <a:r>
                <a:rPr lang="en-US" altLang="ko-KR" sz="800" dirty="0"/>
                <a:t> </a:t>
              </a:r>
              <a:r>
                <a:rPr lang="ko-KR" altLang="ko-KR" sz="800" dirty="0"/>
                <a:t>2019/2144</a:t>
              </a:r>
              <a:endParaRPr lang="en-US" altLang="ko-KR" sz="800" dirty="0"/>
            </a:p>
            <a:p>
              <a:pPr algn="ctr"/>
              <a:r>
                <a:rPr lang="en-US" altLang="ko-KR" sz="800" b="1" dirty="0">
                  <a:solidFill>
                    <a:schemeClr val="bg1"/>
                  </a:solidFill>
                </a:rPr>
                <a:t>(Camera)</a:t>
              </a:r>
              <a:endParaRPr lang="ko-KR" altLang="en-US" sz="700" b="1" dirty="0">
                <a:solidFill>
                  <a:schemeClr val="bg1"/>
                </a:solidFill>
              </a:endParaRPr>
            </a:p>
          </p:txBody>
        </p:sp>
        <p:sp>
          <p:nvSpPr>
            <p:cNvPr id="16" name="TextBox 15">
              <a:extLst>
                <a:ext uri="{FF2B5EF4-FFF2-40B4-BE49-F238E27FC236}">
                  <a16:creationId xmlns:a16="http://schemas.microsoft.com/office/drawing/2014/main" id="{FC085693-CD11-8542-6F57-835CF1EB113C}"/>
                </a:ext>
              </a:extLst>
            </p:cNvPr>
            <p:cNvSpPr txBox="1"/>
            <p:nvPr/>
          </p:nvSpPr>
          <p:spPr>
            <a:xfrm>
              <a:off x="491926" y="4494082"/>
              <a:ext cx="1162498" cy="354264"/>
            </a:xfrm>
            <a:prstGeom prst="rect">
              <a:avLst/>
            </a:prstGeom>
            <a:noFill/>
          </p:spPr>
          <p:txBody>
            <a:bodyPr wrap="none" rtlCol="0">
              <a:spAutoFit/>
            </a:bodyPr>
            <a:lstStyle>
              <a:lvl1pPr marL="171450" indent="-171450">
                <a:lnSpc>
                  <a:spcPct val="150000"/>
                </a:lnSpc>
                <a:buFont typeface="Wingdings" panose="05000000000000000000" pitchFamily="2" charset="2"/>
                <a:buChar char="v"/>
                <a:defRPr sz="600">
                  <a:solidFill>
                    <a:srgbClr val="0000FF"/>
                  </a:solidFill>
                </a:defRPr>
              </a:lvl1pPr>
            </a:lstStyle>
            <a:p>
              <a:r>
                <a:rPr lang="ko-KR" altLang="en-US" dirty="0" err="1">
                  <a:solidFill>
                    <a:schemeClr val="bg1">
                      <a:lumMod val="50000"/>
                    </a:schemeClr>
                  </a:solidFill>
                </a:rPr>
                <a:t>폐쇠된</a:t>
              </a:r>
              <a:r>
                <a:rPr lang="ko-KR" altLang="en-US" dirty="0">
                  <a:solidFill>
                    <a:schemeClr val="bg1">
                      <a:lumMod val="50000"/>
                    </a:schemeClr>
                  </a:solidFill>
                </a:rPr>
                <a:t> 시스템에서 수집</a:t>
              </a:r>
              <a:endParaRPr lang="en-US" altLang="ko-KR" dirty="0">
                <a:solidFill>
                  <a:schemeClr val="bg1">
                    <a:lumMod val="50000"/>
                  </a:schemeClr>
                </a:solidFill>
              </a:endParaRPr>
            </a:p>
            <a:p>
              <a:r>
                <a:rPr lang="ko-KR" altLang="en-US" dirty="0">
                  <a:solidFill>
                    <a:schemeClr val="bg1">
                      <a:lumMod val="50000"/>
                    </a:schemeClr>
                  </a:solidFill>
                </a:rPr>
                <a:t>제 </a:t>
              </a:r>
              <a:r>
                <a:rPr lang="en-US" altLang="ko-KR" dirty="0">
                  <a:solidFill>
                    <a:schemeClr val="bg1">
                      <a:lumMod val="50000"/>
                    </a:schemeClr>
                  </a:solidFill>
                </a:rPr>
                <a:t>3</a:t>
              </a:r>
              <a:r>
                <a:rPr lang="ko-KR" altLang="en-US" dirty="0">
                  <a:solidFill>
                    <a:schemeClr val="bg1">
                      <a:lumMod val="50000"/>
                    </a:schemeClr>
                  </a:solidFill>
                </a:rPr>
                <a:t>자 접근 금지</a:t>
              </a:r>
            </a:p>
          </p:txBody>
        </p:sp>
        <p:sp>
          <p:nvSpPr>
            <p:cNvPr id="39" name="TextBox 38">
              <a:extLst>
                <a:ext uri="{FF2B5EF4-FFF2-40B4-BE49-F238E27FC236}">
                  <a16:creationId xmlns:a16="http://schemas.microsoft.com/office/drawing/2014/main" id="{E6AC4A67-4CFD-04DB-4EEA-BA68923515F0}"/>
                </a:ext>
              </a:extLst>
            </p:cNvPr>
            <p:cNvSpPr txBox="1"/>
            <p:nvPr/>
          </p:nvSpPr>
          <p:spPr>
            <a:xfrm>
              <a:off x="1820305" y="4494082"/>
              <a:ext cx="1829347" cy="493533"/>
            </a:xfrm>
            <a:prstGeom prst="rect">
              <a:avLst/>
            </a:prstGeom>
            <a:noFill/>
          </p:spPr>
          <p:txBody>
            <a:bodyPr wrap="none" rtlCol="0">
              <a:spAutoFit/>
            </a:bodyPr>
            <a:lstStyle>
              <a:lvl1pPr marL="171450" indent="-171450">
                <a:lnSpc>
                  <a:spcPct val="150000"/>
                </a:lnSpc>
                <a:buFont typeface="Wingdings" panose="05000000000000000000" pitchFamily="2" charset="2"/>
                <a:buChar char="v"/>
                <a:defRPr sz="600">
                  <a:solidFill>
                    <a:srgbClr val="0000FF"/>
                  </a:solidFill>
                </a:defRPr>
              </a:lvl1pPr>
            </a:lstStyle>
            <a:p>
              <a:r>
                <a:rPr lang="ko-KR" altLang="en-US" dirty="0">
                  <a:solidFill>
                    <a:schemeClr val="bg1">
                      <a:lumMod val="50000"/>
                    </a:schemeClr>
                  </a:solidFill>
                </a:rPr>
                <a:t>모델 가중치</a:t>
              </a:r>
              <a:r>
                <a:rPr lang="en-US" altLang="ko-KR" dirty="0">
                  <a:solidFill>
                    <a:schemeClr val="bg1">
                      <a:lumMod val="50000"/>
                    </a:schemeClr>
                  </a:solidFill>
                </a:rPr>
                <a:t>, </a:t>
              </a:r>
              <a:r>
                <a:rPr lang="ko-KR" altLang="en-US" dirty="0">
                  <a:solidFill>
                    <a:schemeClr val="bg1">
                      <a:lumMod val="50000"/>
                    </a:schemeClr>
                  </a:solidFill>
                </a:rPr>
                <a:t>알고리즘</a:t>
              </a:r>
              <a:r>
                <a:rPr lang="en-US" altLang="ko-KR" dirty="0">
                  <a:solidFill>
                    <a:schemeClr val="bg1">
                      <a:lumMod val="50000"/>
                    </a:schemeClr>
                  </a:solidFill>
                </a:rPr>
                <a:t>, </a:t>
              </a:r>
              <a:r>
                <a:rPr lang="ko-KR" altLang="en-US" dirty="0">
                  <a:solidFill>
                    <a:schemeClr val="bg1">
                      <a:lumMod val="50000"/>
                    </a:schemeClr>
                  </a:solidFill>
                </a:rPr>
                <a:t>서버</a:t>
              </a:r>
              <a:r>
                <a:rPr lang="en-US" altLang="ko-KR" dirty="0">
                  <a:solidFill>
                    <a:schemeClr val="bg1">
                      <a:lumMod val="50000"/>
                    </a:schemeClr>
                  </a:solidFill>
                </a:rPr>
                <a:t>, </a:t>
              </a:r>
              <a:r>
                <a:rPr lang="ko-KR" altLang="en-US" dirty="0">
                  <a:solidFill>
                    <a:schemeClr val="bg1">
                      <a:lumMod val="50000"/>
                    </a:schemeClr>
                  </a:solidFill>
                </a:rPr>
                <a:t>데이터 셋 보호</a:t>
              </a:r>
              <a:endParaRPr lang="en-US" altLang="ko-KR" dirty="0">
                <a:solidFill>
                  <a:schemeClr val="bg1">
                    <a:lumMod val="50000"/>
                  </a:schemeClr>
                </a:solidFill>
              </a:endParaRPr>
            </a:p>
            <a:p>
              <a:r>
                <a:rPr lang="en-US" altLang="ko-KR" dirty="0">
                  <a:solidFill>
                    <a:schemeClr val="bg1">
                      <a:lumMod val="50000"/>
                    </a:schemeClr>
                  </a:solidFill>
                </a:rPr>
                <a:t>Cybersecurity </a:t>
              </a:r>
              <a:r>
                <a:rPr lang="ko-KR" altLang="en-US" dirty="0">
                  <a:solidFill>
                    <a:schemeClr val="bg1">
                      <a:lumMod val="50000"/>
                    </a:schemeClr>
                  </a:solidFill>
                </a:rPr>
                <a:t>보호가 보장</a:t>
              </a:r>
              <a:endParaRPr lang="en-US" altLang="ko-KR" dirty="0">
                <a:solidFill>
                  <a:schemeClr val="bg1">
                    <a:lumMod val="50000"/>
                  </a:schemeClr>
                </a:solidFill>
              </a:endParaRPr>
            </a:p>
            <a:p>
              <a:r>
                <a:rPr lang="ko-KR" altLang="en-US" dirty="0">
                  <a:solidFill>
                    <a:schemeClr val="bg1">
                      <a:lumMod val="50000"/>
                    </a:schemeClr>
                  </a:solidFill>
                </a:rPr>
                <a:t>이벤트 로그 </a:t>
              </a:r>
              <a:r>
                <a:rPr lang="en-US" altLang="ko-KR" dirty="0">
                  <a:solidFill>
                    <a:schemeClr val="bg1">
                      <a:lumMod val="50000"/>
                    </a:schemeClr>
                  </a:solidFill>
                </a:rPr>
                <a:t>6</a:t>
              </a:r>
              <a:r>
                <a:rPr lang="ko-KR" altLang="en-US" dirty="0">
                  <a:solidFill>
                    <a:schemeClr val="bg1">
                      <a:lumMod val="50000"/>
                    </a:schemeClr>
                  </a:solidFill>
                </a:rPr>
                <a:t>개월 보관</a:t>
              </a:r>
            </a:p>
          </p:txBody>
        </p:sp>
        <p:cxnSp>
          <p:nvCxnSpPr>
            <p:cNvPr id="41" name="직선 연결선 40">
              <a:extLst>
                <a:ext uri="{FF2B5EF4-FFF2-40B4-BE49-F238E27FC236}">
                  <a16:creationId xmlns:a16="http://schemas.microsoft.com/office/drawing/2014/main" id="{E0177B45-376D-78F1-FA0F-7AB76DC481DB}"/>
                </a:ext>
              </a:extLst>
            </p:cNvPr>
            <p:cNvCxnSpPr>
              <a:cxnSpLocks/>
              <a:stCxn id="16" idx="0"/>
              <a:endCxn id="28" idx="2"/>
            </p:cNvCxnSpPr>
            <p:nvPr/>
          </p:nvCxnSpPr>
          <p:spPr>
            <a:xfrm flipV="1">
              <a:off x="1073175" y="4143192"/>
              <a:ext cx="569447" cy="350890"/>
            </a:xfrm>
            <a:prstGeom prst="line">
              <a:avLst/>
            </a:prstGeom>
            <a:ln>
              <a:solidFill>
                <a:schemeClr val="bg1">
                  <a:lumMod val="50000"/>
                </a:schemeClr>
              </a:solidFill>
              <a:prstDash val="dash"/>
            </a:ln>
          </p:spPr>
          <p:style>
            <a:lnRef idx="1">
              <a:schemeClr val="dk1"/>
            </a:lnRef>
            <a:fillRef idx="0">
              <a:schemeClr val="dk1"/>
            </a:fillRef>
            <a:effectRef idx="0">
              <a:schemeClr val="dk1"/>
            </a:effectRef>
            <a:fontRef idx="minor">
              <a:schemeClr val="tx1"/>
            </a:fontRef>
          </p:style>
        </p:cxnSp>
        <p:cxnSp>
          <p:nvCxnSpPr>
            <p:cNvPr id="42" name="직선 연결선 41">
              <a:extLst>
                <a:ext uri="{FF2B5EF4-FFF2-40B4-BE49-F238E27FC236}">
                  <a16:creationId xmlns:a16="http://schemas.microsoft.com/office/drawing/2014/main" id="{D1CD8C61-3B41-2512-8F0C-5C10350D09EC}"/>
                </a:ext>
              </a:extLst>
            </p:cNvPr>
            <p:cNvCxnSpPr>
              <a:cxnSpLocks/>
              <a:stCxn id="39" idx="0"/>
              <a:endCxn id="19" idx="2"/>
            </p:cNvCxnSpPr>
            <p:nvPr/>
          </p:nvCxnSpPr>
          <p:spPr>
            <a:xfrm flipH="1" flipV="1">
              <a:off x="2441574" y="4143193"/>
              <a:ext cx="293405" cy="350889"/>
            </a:xfrm>
            <a:prstGeom prst="line">
              <a:avLst/>
            </a:prstGeom>
            <a:ln>
              <a:solidFill>
                <a:schemeClr val="bg1">
                  <a:lumMod val="50000"/>
                </a:schemeClr>
              </a:solidFill>
              <a:prstDash val="dash"/>
            </a:ln>
          </p:spPr>
          <p:style>
            <a:lnRef idx="1">
              <a:schemeClr val="dk1"/>
            </a:lnRef>
            <a:fillRef idx="0">
              <a:schemeClr val="dk1"/>
            </a:fillRef>
            <a:effectRef idx="0">
              <a:schemeClr val="dk1"/>
            </a:effectRef>
            <a:fontRef idx="minor">
              <a:schemeClr val="tx1"/>
            </a:fontRef>
          </p:style>
        </p:cxnSp>
      </p:grpSp>
      <p:sp>
        <p:nvSpPr>
          <p:cNvPr id="7" name="TextBox 6">
            <a:extLst>
              <a:ext uri="{FF2B5EF4-FFF2-40B4-BE49-F238E27FC236}">
                <a16:creationId xmlns:a16="http://schemas.microsoft.com/office/drawing/2014/main" id="{AC19420F-4AC7-03CD-DA06-32C7D2024E16}"/>
              </a:ext>
            </a:extLst>
          </p:cNvPr>
          <p:cNvSpPr txBox="1"/>
          <p:nvPr/>
        </p:nvSpPr>
        <p:spPr>
          <a:xfrm>
            <a:off x="4268771" y="1146828"/>
            <a:ext cx="3725700" cy="215444"/>
          </a:xfrm>
          <a:prstGeom prst="rect">
            <a:avLst/>
          </a:prstGeom>
          <a:noFill/>
        </p:spPr>
        <p:txBody>
          <a:bodyPr wrap="none" rtlCol="0">
            <a:spAutoFit/>
          </a:bodyPr>
          <a:lstStyle/>
          <a:p>
            <a:pPr algn="ctr"/>
            <a:r>
              <a:rPr lang="en-US" altLang="ko-KR" sz="800" b="1" dirty="0"/>
              <a:t>“</a:t>
            </a:r>
            <a:r>
              <a:rPr lang="ko-KR" altLang="en-US" sz="800" b="1" dirty="0"/>
              <a:t>로봇</a:t>
            </a:r>
            <a:r>
              <a:rPr lang="en-US" altLang="ko-KR" sz="800" b="1" dirty="0"/>
              <a:t>(</a:t>
            </a:r>
            <a:r>
              <a:rPr lang="ko-KR" altLang="en-US" sz="800" b="1" dirty="0"/>
              <a:t>자동차</a:t>
            </a:r>
            <a:r>
              <a:rPr lang="en-US" altLang="ko-KR" sz="800" b="1" dirty="0"/>
              <a:t>)</a:t>
            </a:r>
            <a:r>
              <a:rPr lang="ko-KR" altLang="en-US" sz="800" b="1" dirty="0"/>
              <a:t>이 사람을 인식하여 권한을 식별하고</a:t>
            </a:r>
            <a:r>
              <a:rPr lang="en-US" altLang="ko-KR" sz="800" b="1" dirty="0"/>
              <a:t> </a:t>
            </a:r>
            <a:r>
              <a:rPr lang="ko-KR" altLang="en-US" sz="800" b="1" dirty="0"/>
              <a:t>지시 받은 동작을 수행한다</a:t>
            </a:r>
            <a:r>
              <a:rPr lang="en-US" altLang="ko-KR" sz="800" b="1" dirty="0"/>
              <a:t>.”</a:t>
            </a:r>
          </a:p>
        </p:txBody>
      </p:sp>
    </p:spTree>
    <p:extLst>
      <p:ext uri="{BB962C8B-B14F-4D97-AF65-F5344CB8AC3E}">
        <p14:creationId xmlns:p14="http://schemas.microsoft.com/office/powerpoint/2010/main" val="21609797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32F6D2B-CF3A-6419-BB4E-75096793D55B}"/>
              </a:ext>
            </a:extLst>
          </p:cNvPr>
          <p:cNvSpPr>
            <a:spLocks noGrp="1"/>
          </p:cNvSpPr>
          <p:nvPr>
            <p:ph type="title"/>
          </p:nvPr>
        </p:nvSpPr>
        <p:spPr>
          <a:xfrm>
            <a:off x="236765" y="166913"/>
            <a:ext cx="7052309" cy="409575"/>
          </a:xfrm>
        </p:spPr>
        <p:txBody>
          <a:bodyPr>
            <a:normAutofit/>
          </a:bodyPr>
          <a:lstStyle/>
          <a:p>
            <a:r>
              <a:rPr lang="ko-KR" altLang="en-US" dirty="0"/>
              <a:t>보안과 연관된 법규 사례</a:t>
            </a:r>
          </a:p>
        </p:txBody>
      </p:sp>
      <p:sp>
        <p:nvSpPr>
          <p:cNvPr id="3" name="내용 개체 틀 2">
            <a:extLst>
              <a:ext uri="{FF2B5EF4-FFF2-40B4-BE49-F238E27FC236}">
                <a16:creationId xmlns:a16="http://schemas.microsoft.com/office/drawing/2014/main" id="{C6B69BDB-807B-5F7B-45EB-22384306F8D4}"/>
              </a:ext>
            </a:extLst>
          </p:cNvPr>
          <p:cNvSpPr>
            <a:spLocks noGrp="1"/>
          </p:cNvSpPr>
          <p:nvPr>
            <p:ph idx="1"/>
          </p:nvPr>
        </p:nvSpPr>
        <p:spPr>
          <a:xfrm>
            <a:off x="326570" y="3737690"/>
            <a:ext cx="4003040" cy="1081354"/>
          </a:xfrm>
        </p:spPr>
        <p:txBody>
          <a:bodyPr/>
          <a:lstStyle/>
          <a:p>
            <a:r>
              <a:rPr lang="ko-KR" altLang="ko-KR" sz="1200" dirty="0" err="1"/>
              <a:t>EU의</a:t>
            </a:r>
            <a:r>
              <a:rPr lang="ko-KR" altLang="ko-KR" sz="1200" dirty="0"/>
              <a:t> 규정</a:t>
            </a:r>
            <a:r>
              <a:rPr lang="en-US" altLang="ko-KR" sz="1200" dirty="0"/>
              <a:t> 2024/1689 </a:t>
            </a:r>
            <a:r>
              <a:rPr lang="ko-KR" altLang="en-US" sz="1200" dirty="0"/>
              <a:t>제</a:t>
            </a:r>
            <a:r>
              <a:rPr lang="en-US" altLang="ko-KR" sz="1200" dirty="0"/>
              <a:t>19</a:t>
            </a:r>
            <a:r>
              <a:rPr lang="ko-KR" altLang="en-US" sz="1200" dirty="0"/>
              <a:t>조</a:t>
            </a:r>
            <a:r>
              <a:rPr lang="en-US" altLang="ko-KR" sz="1200" dirty="0"/>
              <a:t>, </a:t>
            </a:r>
            <a:r>
              <a:rPr lang="ko-KR" altLang="en-US" sz="1200" dirty="0"/>
              <a:t>제</a:t>
            </a:r>
            <a:r>
              <a:rPr lang="en-US" altLang="ko-KR" sz="1200" dirty="0"/>
              <a:t>55</a:t>
            </a:r>
            <a:r>
              <a:rPr lang="ko-KR" altLang="en-US" sz="1200" dirty="0"/>
              <a:t>조</a:t>
            </a:r>
            <a:endParaRPr lang="en-US" altLang="ko-KR" sz="1200" dirty="0"/>
          </a:p>
          <a:p>
            <a:pPr lvl="1"/>
            <a:r>
              <a:rPr lang="en-US" altLang="ko-KR" sz="800" dirty="0"/>
              <a:t>EU AI</a:t>
            </a:r>
            <a:r>
              <a:rPr lang="ko-KR" altLang="en-US" sz="800" dirty="0"/>
              <a:t>에 적용된</a:t>
            </a:r>
            <a:r>
              <a:rPr lang="en-US" altLang="ko-KR" sz="800" dirty="0"/>
              <a:t> </a:t>
            </a:r>
            <a:r>
              <a:rPr lang="ko-KR" altLang="en-US" sz="800" dirty="0"/>
              <a:t>세계 최초의 법규</a:t>
            </a:r>
            <a:endParaRPr lang="en-US" altLang="ko-KR" sz="800" dirty="0"/>
          </a:p>
          <a:p>
            <a:pPr lvl="1"/>
            <a:r>
              <a:rPr lang="en-US" altLang="ko-KR" sz="800" dirty="0">
                <a:hlinkClick r:id="rId2"/>
              </a:rPr>
              <a:t>https://eur-lex.europa.eu/legal-content/en/TXT/?qid=1767721066212&amp;uri=CELEX%3A32024R1689&amp;utm_source</a:t>
            </a:r>
            <a:endParaRPr lang="en-US" altLang="ko-KR" sz="800" dirty="0"/>
          </a:p>
          <a:p>
            <a:pPr lvl="1"/>
            <a:endParaRPr lang="en-US" altLang="ko-KR" sz="800" dirty="0"/>
          </a:p>
          <a:p>
            <a:endParaRPr lang="en-US" altLang="ko-KR" sz="1200" dirty="0"/>
          </a:p>
          <a:p>
            <a:endParaRPr lang="en-US" altLang="ko-KR" sz="1200" dirty="0"/>
          </a:p>
          <a:p>
            <a:endParaRPr lang="en-US" altLang="ko-KR" sz="1200" dirty="0"/>
          </a:p>
          <a:p>
            <a:endParaRPr lang="en-US" altLang="ko-KR" sz="1200" dirty="0"/>
          </a:p>
        </p:txBody>
      </p:sp>
      <p:sp>
        <p:nvSpPr>
          <p:cNvPr id="8" name="내용 개체 틀 2">
            <a:extLst>
              <a:ext uri="{FF2B5EF4-FFF2-40B4-BE49-F238E27FC236}">
                <a16:creationId xmlns:a16="http://schemas.microsoft.com/office/drawing/2014/main" id="{C3B3908F-0AAC-D1D0-2B8F-EFFBA3538588}"/>
              </a:ext>
            </a:extLst>
          </p:cNvPr>
          <p:cNvSpPr txBox="1">
            <a:spLocks/>
          </p:cNvSpPr>
          <p:nvPr/>
        </p:nvSpPr>
        <p:spPr>
          <a:xfrm>
            <a:off x="333829" y="721467"/>
            <a:ext cx="4003040" cy="3517430"/>
          </a:xfrm>
          <a:prstGeom prst="rect">
            <a:avLst/>
          </a:prstGeom>
        </p:spPr>
        <p:txBody>
          <a:bodyPr/>
          <a:lstStyle>
            <a:lvl1pPr marL="228600" indent="-228600" latinLnBrk="1">
              <a:lnSpc>
                <a:spcPct val="120000"/>
              </a:lnSpc>
              <a:spcBef>
                <a:spcPts val="1000"/>
              </a:spcBef>
              <a:buFont typeface="Wingdings" panose="05000000000000000000" pitchFamily="2" charset="2"/>
              <a:buChar char="ü"/>
              <a:defRPr sz="1100" b="1">
                <a:latin typeface="+mn-ea"/>
              </a:defRPr>
            </a:lvl1pPr>
            <a:lvl2pPr marL="432000" lvl="1" indent="-228600" latinLnBrk="1">
              <a:lnSpc>
                <a:spcPct val="120000"/>
              </a:lnSpc>
              <a:spcBef>
                <a:spcPts val="500"/>
              </a:spcBef>
              <a:buFont typeface="Wingdings" panose="05000000000000000000" pitchFamily="2" charset="2"/>
              <a:buChar char="l"/>
              <a:defRPr sz="700">
                <a:latin typeface="+mn-ea"/>
              </a:defRPr>
            </a:lvl2pPr>
            <a:lvl3pPr marL="532800" indent="-115200" latinLnBrk="1">
              <a:lnSpc>
                <a:spcPct val="90000"/>
              </a:lnSpc>
              <a:spcBef>
                <a:spcPts val="500"/>
              </a:spcBef>
              <a:buFont typeface="Wingdings" panose="05000000000000000000" pitchFamily="2" charset="2"/>
              <a:buChar char="§"/>
              <a:defRPr sz="1050"/>
            </a:lvl3pPr>
            <a:lvl4pPr marL="864000" indent="-228600" latinLnBrk="1">
              <a:lnSpc>
                <a:spcPct val="90000"/>
              </a:lnSpc>
              <a:spcBef>
                <a:spcPts val="500"/>
              </a:spcBef>
              <a:buFont typeface="Arial" panose="020B0604020202020204" pitchFamily="34" charset="0"/>
              <a:buChar char="•"/>
              <a:defRPr sz="700"/>
            </a:lvl4pPr>
            <a:lvl5pPr marL="2057400" indent="-228600" latinLnBrk="1">
              <a:lnSpc>
                <a:spcPct val="90000"/>
              </a:lnSpc>
              <a:spcBef>
                <a:spcPts val="500"/>
              </a:spcBef>
              <a:buFont typeface="Arial" panose="020B0604020202020204" pitchFamily="34" charset="0"/>
              <a:buChar char="•"/>
            </a:lvl5pPr>
            <a:lvl6pPr marL="2514600" indent="-228600" latinLnBrk="1">
              <a:lnSpc>
                <a:spcPct val="90000"/>
              </a:lnSpc>
              <a:spcBef>
                <a:spcPts val="500"/>
              </a:spcBef>
              <a:buFont typeface="Arial" panose="020B0604020202020204" pitchFamily="34" charset="0"/>
              <a:buChar char="•"/>
            </a:lvl6pPr>
            <a:lvl7pPr marL="2971800" indent="-228600" latinLnBrk="1">
              <a:lnSpc>
                <a:spcPct val="90000"/>
              </a:lnSpc>
              <a:spcBef>
                <a:spcPts val="500"/>
              </a:spcBef>
              <a:buFont typeface="Arial" panose="020B0604020202020204" pitchFamily="34" charset="0"/>
              <a:buChar char="•"/>
            </a:lvl7pPr>
            <a:lvl8pPr marL="3429000" indent="-228600" latinLnBrk="1">
              <a:lnSpc>
                <a:spcPct val="90000"/>
              </a:lnSpc>
              <a:spcBef>
                <a:spcPts val="500"/>
              </a:spcBef>
              <a:buFont typeface="Arial" panose="020B0604020202020204" pitchFamily="34" charset="0"/>
              <a:buChar char="•"/>
            </a:lvl8pPr>
            <a:lvl9pPr marL="3886200" indent="-228600" latinLnBrk="1">
              <a:lnSpc>
                <a:spcPct val="90000"/>
              </a:lnSpc>
              <a:spcBef>
                <a:spcPts val="500"/>
              </a:spcBef>
              <a:buFont typeface="Arial" panose="020B0604020202020204" pitchFamily="34" charset="0"/>
              <a:buChar char="•"/>
            </a:lvl9pPr>
          </a:lstStyle>
          <a:p>
            <a:r>
              <a:rPr lang="ko-KR" altLang="ko-KR" sz="1200" dirty="0" err="1"/>
              <a:t>EU의</a:t>
            </a:r>
            <a:r>
              <a:rPr lang="ko-KR" altLang="ko-KR" sz="1200" dirty="0"/>
              <a:t> 규정</a:t>
            </a:r>
            <a:r>
              <a:rPr lang="en-US" altLang="ko-KR" sz="1200" dirty="0"/>
              <a:t> </a:t>
            </a:r>
            <a:r>
              <a:rPr lang="ko-KR" altLang="ko-KR" sz="1200" dirty="0"/>
              <a:t>2019/2144</a:t>
            </a:r>
            <a:r>
              <a:rPr lang="ko-KR" altLang="en-US" sz="1200" dirty="0"/>
              <a:t> 제</a:t>
            </a:r>
            <a:r>
              <a:rPr lang="en-US" altLang="ko-KR" sz="1200" dirty="0"/>
              <a:t>6</a:t>
            </a:r>
            <a:r>
              <a:rPr lang="ko-KR" altLang="en-US" sz="1200" dirty="0"/>
              <a:t>조</a:t>
            </a:r>
            <a:endParaRPr lang="en-US" altLang="ko-KR" sz="1200" dirty="0"/>
          </a:p>
          <a:p>
            <a:pPr lvl="1"/>
            <a:r>
              <a:rPr lang="en-US" altLang="ko-KR" sz="800" dirty="0"/>
              <a:t>EU </a:t>
            </a:r>
            <a:r>
              <a:rPr lang="ko-KR" altLang="en-US" sz="800" dirty="0"/>
              <a:t>차량에 적용된 법규</a:t>
            </a:r>
            <a:endParaRPr lang="en-US" altLang="ko-KR" sz="800" dirty="0"/>
          </a:p>
          <a:p>
            <a:pPr lvl="1"/>
            <a:r>
              <a:rPr lang="en-US" altLang="ko-KR" sz="800" dirty="0">
                <a:hlinkClick r:id="rId3"/>
              </a:rPr>
              <a:t>https://eur-lex.europa.eu/legal-content/EN/TXT/?uri=CELEX%3A02019R2144-20220706</a:t>
            </a:r>
            <a:endParaRPr lang="ko-KR" altLang="en-US" sz="800" dirty="0"/>
          </a:p>
          <a:p>
            <a:endParaRPr lang="ko-KR" altLang="en-US" sz="1200" dirty="0"/>
          </a:p>
        </p:txBody>
      </p:sp>
      <p:sp>
        <p:nvSpPr>
          <p:cNvPr id="9" name="TextBox 8">
            <a:extLst>
              <a:ext uri="{FF2B5EF4-FFF2-40B4-BE49-F238E27FC236}">
                <a16:creationId xmlns:a16="http://schemas.microsoft.com/office/drawing/2014/main" id="{31F36319-A831-4441-7324-7CF9B70B4BCB}"/>
              </a:ext>
            </a:extLst>
          </p:cNvPr>
          <p:cNvSpPr txBox="1"/>
          <p:nvPr/>
        </p:nvSpPr>
        <p:spPr>
          <a:xfrm>
            <a:off x="620485" y="1698664"/>
            <a:ext cx="3415211" cy="1169551"/>
          </a:xfrm>
          <a:prstGeom prst="rect">
            <a:avLst/>
          </a:prstGeom>
          <a:noFill/>
          <a:ln>
            <a:solidFill>
              <a:schemeClr val="bg1">
                <a:lumMod val="50000"/>
              </a:schemeClr>
            </a:solidFill>
          </a:ln>
        </p:spPr>
        <p:txBody>
          <a:bodyPr wrap="square" rtlCol="0">
            <a:spAutoFit/>
          </a:bodyPr>
          <a:lstStyle/>
          <a:p>
            <a:pPr algn="l"/>
            <a:r>
              <a:rPr lang="en-US" altLang="ko-KR" sz="700" b="1" dirty="0"/>
              <a:t>[Article 6] - Advanced vehicle systems</a:t>
            </a:r>
          </a:p>
          <a:p>
            <a:pPr algn="l"/>
            <a:r>
              <a:rPr lang="en-US" altLang="ko-KR" sz="700" b="1" dirty="0"/>
              <a:t>…</a:t>
            </a:r>
          </a:p>
          <a:p>
            <a:pPr algn="l"/>
            <a:r>
              <a:rPr lang="en-US" altLang="ko-KR" sz="700" dirty="0"/>
              <a:t>3.   Driver drowsiness and attention warning and advanced driver distraction warning systems shall be designed in such a way that those systems do not continuously record nor retain any data other than what is necessary in relation to the purposes for which they were collected or otherwise processed </a:t>
            </a:r>
            <a:r>
              <a:rPr lang="en-US" altLang="ko-KR" sz="700" b="1" dirty="0">
                <a:solidFill>
                  <a:srgbClr val="0000FF"/>
                </a:solidFill>
              </a:rPr>
              <a:t>within the closed-loop system</a:t>
            </a:r>
            <a:r>
              <a:rPr lang="en-US" altLang="ko-KR" sz="700" dirty="0"/>
              <a:t>. Furthermore, those data </a:t>
            </a:r>
            <a:r>
              <a:rPr lang="en-US" altLang="ko-KR" sz="700" b="1" dirty="0">
                <a:solidFill>
                  <a:srgbClr val="0000FF"/>
                </a:solidFill>
              </a:rPr>
              <a:t>shall not be accessible or made available to third parties </a:t>
            </a:r>
            <a:r>
              <a:rPr lang="en-US" altLang="ko-KR" sz="700" dirty="0"/>
              <a:t>at any time and shall be immediately deleted after processing. Those systems shall also be designed to avoid overlap and shall not prompt the driver separately and concurrently or in a confusing manner where one action triggers both systems.</a:t>
            </a:r>
            <a:endParaRPr lang="ko-KR" altLang="en-US" sz="700" dirty="0"/>
          </a:p>
        </p:txBody>
      </p:sp>
      <p:sp>
        <p:nvSpPr>
          <p:cNvPr id="10" name="TextBox 9">
            <a:extLst>
              <a:ext uri="{FF2B5EF4-FFF2-40B4-BE49-F238E27FC236}">
                <a16:creationId xmlns:a16="http://schemas.microsoft.com/office/drawing/2014/main" id="{378391C5-E553-1AD7-3A89-0D8350CE79A6}"/>
              </a:ext>
            </a:extLst>
          </p:cNvPr>
          <p:cNvSpPr txBox="1"/>
          <p:nvPr/>
        </p:nvSpPr>
        <p:spPr>
          <a:xfrm>
            <a:off x="4892041" y="359229"/>
            <a:ext cx="3559628" cy="3216265"/>
          </a:xfrm>
          <a:prstGeom prst="rect">
            <a:avLst/>
          </a:prstGeom>
          <a:noFill/>
          <a:ln>
            <a:solidFill>
              <a:schemeClr val="bg1">
                <a:lumMod val="50000"/>
              </a:schemeClr>
            </a:solidFill>
          </a:ln>
        </p:spPr>
        <p:txBody>
          <a:bodyPr wrap="square" rtlCol="0">
            <a:spAutoFit/>
          </a:bodyPr>
          <a:lstStyle>
            <a:lvl1pPr>
              <a:defRPr sz="900"/>
            </a:lvl1pPr>
          </a:lstStyle>
          <a:p>
            <a:r>
              <a:rPr lang="en-US" altLang="ko-KR" sz="700" dirty="0"/>
              <a:t>(115) … That protection could be facilitated by securing </a:t>
            </a:r>
            <a:r>
              <a:rPr lang="en-US" altLang="ko-KR" sz="700" b="1" dirty="0">
                <a:solidFill>
                  <a:srgbClr val="0000FF"/>
                </a:solidFill>
              </a:rPr>
              <a:t>model weights, algorithms, servers, and data sets</a:t>
            </a:r>
            <a:r>
              <a:rPr lang="en-US" altLang="ko-KR" sz="700" dirty="0"/>
              <a:t>, such as through operational security measures for information security, specific cybersecurity policies, adequate technical and established solutions, and cyber and physical access controls, appropriate to the relevant circumstances and the risks involved.</a:t>
            </a:r>
          </a:p>
          <a:p>
            <a:endParaRPr lang="en-US" altLang="ko-KR" sz="700" b="1" dirty="0"/>
          </a:p>
          <a:p>
            <a:r>
              <a:rPr lang="en-US" altLang="ko-KR" sz="700" b="1" dirty="0"/>
              <a:t>[Article 6] – High-risk AI</a:t>
            </a:r>
            <a:r>
              <a:rPr lang="ko-KR" altLang="en-US" sz="700" b="1" dirty="0"/>
              <a:t> 시스템의 분류 규칙</a:t>
            </a:r>
            <a:endParaRPr lang="en-US" altLang="ko-KR" sz="700" b="1" dirty="0"/>
          </a:p>
          <a:p>
            <a:r>
              <a:rPr lang="en-US" altLang="ko-KR" sz="700" dirty="0"/>
              <a:t>1.   Irrespective of whether an AI system is placed on the market or put into service independently of the products referred to in points (a) and (b), that </a:t>
            </a:r>
            <a:r>
              <a:rPr lang="en-US" altLang="ko-KR" sz="700" b="1" dirty="0">
                <a:solidFill>
                  <a:srgbClr val="0000FF"/>
                </a:solidFill>
              </a:rPr>
              <a:t>AI system shall be considered to be high-risk </a:t>
            </a:r>
            <a:r>
              <a:rPr lang="en-US" altLang="ko-KR" sz="700" dirty="0"/>
              <a:t>where both of the following conditions are fulfilled:</a:t>
            </a:r>
          </a:p>
          <a:p>
            <a:r>
              <a:rPr lang="en-US" altLang="ko-KR" sz="700" dirty="0"/>
              <a:t>(a)  The AI system is intended to be used </a:t>
            </a:r>
            <a:r>
              <a:rPr lang="en-US" altLang="ko-KR" sz="700" b="1" dirty="0">
                <a:solidFill>
                  <a:srgbClr val="0000FF"/>
                </a:solidFill>
              </a:rPr>
              <a:t>as a safety component of a product</a:t>
            </a:r>
            <a:r>
              <a:rPr lang="en-US" altLang="ko-KR" sz="700" dirty="0"/>
              <a:t>, or the AI system is itself a product, covered by the Union </a:t>
            </a:r>
            <a:r>
              <a:rPr lang="en-US" altLang="ko-KR" sz="700" dirty="0" err="1"/>
              <a:t>harmonisation</a:t>
            </a:r>
            <a:r>
              <a:rPr lang="en-US" altLang="ko-KR" sz="700" dirty="0"/>
              <a:t> legislation listed in Annex I;</a:t>
            </a:r>
          </a:p>
          <a:p>
            <a:pPr marL="228600" indent="-228600">
              <a:buAutoNum type="alphaLcParenBoth" startAt="2"/>
            </a:pPr>
            <a:r>
              <a:rPr lang="en-US" altLang="ko-KR" sz="700" dirty="0"/>
              <a:t>The product whose safety component pursuant to point (a) is the AI system, or the AI system itself as a product, is required to undergo a third-party conformity assessment, with a view to the placing on the market or the putting into service of that product pursuant to the Union </a:t>
            </a:r>
            <a:r>
              <a:rPr lang="en-US" altLang="ko-KR" sz="700" dirty="0" err="1"/>
              <a:t>harmonisation</a:t>
            </a:r>
            <a:r>
              <a:rPr lang="en-US" altLang="ko-KR" sz="700" dirty="0"/>
              <a:t> legislation listed in Annex I.</a:t>
            </a:r>
          </a:p>
          <a:p>
            <a:endParaRPr lang="en-US" altLang="ko-KR" sz="700" b="1" dirty="0"/>
          </a:p>
          <a:p>
            <a:r>
              <a:rPr lang="en-US" altLang="ko-KR" sz="700" b="1" dirty="0"/>
              <a:t>[Article 19] – </a:t>
            </a:r>
            <a:r>
              <a:rPr lang="ko-KR" altLang="en-US" sz="700" b="1" dirty="0"/>
              <a:t>자동 생성 로그에 대한 법규</a:t>
            </a:r>
            <a:endParaRPr lang="en-US" altLang="ko-KR" sz="700" b="1" dirty="0"/>
          </a:p>
          <a:p>
            <a:r>
              <a:rPr lang="ko-KR" altLang="ko-KR" sz="700" dirty="0"/>
              <a:t>1.   </a:t>
            </a:r>
            <a:r>
              <a:rPr lang="ko-KR" altLang="ko-KR" sz="700" dirty="0" err="1"/>
              <a:t>Providers</a:t>
            </a:r>
            <a:r>
              <a:rPr lang="ko-KR" altLang="ko-KR" sz="700" dirty="0"/>
              <a:t> of </a:t>
            </a:r>
            <a:r>
              <a:rPr lang="ko-KR" altLang="ko-KR" sz="700" dirty="0" err="1"/>
              <a:t>high-risk</a:t>
            </a:r>
            <a:r>
              <a:rPr lang="ko-KR" altLang="ko-KR" sz="700" dirty="0"/>
              <a:t> AI </a:t>
            </a:r>
            <a:r>
              <a:rPr lang="ko-KR" altLang="ko-KR" sz="700" dirty="0" err="1"/>
              <a:t>systems</a:t>
            </a:r>
            <a:r>
              <a:rPr lang="ko-KR" altLang="ko-KR" sz="700" dirty="0"/>
              <a:t> </a:t>
            </a:r>
            <a:r>
              <a:rPr lang="ko-KR" altLang="ko-KR" sz="700" dirty="0" err="1"/>
              <a:t>shall</a:t>
            </a:r>
            <a:r>
              <a:rPr lang="ko-KR" altLang="ko-KR" sz="700" dirty="0"/>
              <a:t> </a:t>
            </a:r>
            <a:r>
              <a:rPr lang="ko-KR" altLang="ko-KR" sz="700" dirty="0" err="1"/>
              <a:t>keep</a:t>
            </a:r>
            <a:r>
              <a:rPr lang="ko-KR" altLang="ko-KR" sz="700" dirty="0"/>
              <a:t> </a:t>
            </a:r>
            <a:r>
              <a:rPr lang="ko-KR" altLang="ko-KR" sz="700" dirty="0" err="1"/>
              <a:t>the</a:t>
            </a:r>
            <a:r>
              <a:rPr lang="ko-KR" altLang="ko-KR" sz="700" dirty="0"/>
              <a:t> </a:t>
            </a:r>
            <a:r>
              <a:rPr lang="ko-KR" altLang="ko-KR" sz="700" dirty="0" err="1"/>
              <a:t>logs</a:t>
            </a:r>
            <a:r>
              <a:rPr lang="ko-KR" altLang="ko-KR" sz="700" dirty="0"/>
              <a:t> </a:t>
            </a:r>
            <a:r>
              <a:rPr lang="ko-KR" altLang="ko-KR" sz="700" dirty="0" err="1"/>
              <a:t>referred</a:t>
            </a:r>
            <a:r>
              <a:rPr lang="ko-KR" altLang="ko-KR" sz="700" dirty="0"/>
              <a:t> </a:t>
            </a:r>
            <a:r>
              <a:rPr lang="ko-KR" altLang="ko-KR" sz="700" dirty="0" err="1"/>
              <a:t>to</a:t>
            </a:r>
            <a:r>
              <a:rPr lang="ko-KR" altLang="ko-KR" sz="700" dirty="0"/>
              <a:t> </a:t>
            </a:r>
            <a:r>
              <a:rPr lang="ko-KR" altLang="ko-KR" sz="700" dirty="0" err="1"/>
              <a:t>in</a:t>
            </a:r>
            <a:r>
              <a:rPr lang="ko-KR" altLang="ko-KR" sz="700" dirty="0"/>
              <a:t> </a:t>
            </a:r>
            <a:r>
              <a:rPr lang="ko-KR" altLang="ko-KR" sz="700" dirty="0" err="1"/>
              <a:t>Article</a:t>
            </a:r>
            <a:r>
              <a:rPr lang="ko-KR" altLang="ko-KR" sz="700" dirty="0"/>
              <a:t> 12(1), </a:t>
            </a:r>
            <a:r>
              <a:rPr lang="ko-KR" altLang="ko-KR" sz="700" dirty="0" err="1"/>
              <a:t>automatically</a:t>
            </a:r>
            <a:r>
              <a:rPr lang="ko-KR" altLang="ko-KR" sz="700" dirty="0"/>
              <a:t> </a:t>
            </a:r>
            <a:r>
              <a:rPr lang="ko-KR" altLang="ko-KR" sz="700" dirty="0" err="1"/>
              <a:t>generated</a:t>
            </a:r>
            <a:r>
              <a:rPr lang="ko-KR" altLang="ko-KR" sz="700" dirty="0"/>
              <a:t> </a:t>
            </a:r>
            <a:r>
              <a:rPr lang="ko-KR" altLang="ko-KR" sz="700" dirty="0" err="1"/>
              <a:t>by</a:t>
            </a:r>
            <a:r>
              <a:rPr lang="ko-KR" altLang="ko-KR" sz="700" dirty="0"/>
              <a:t> </a:t>
            </a:r>
            <a:r>
              <a:rPr lang="ko-KR" altLang="ko-KR" sz="700" dirty="0" err="1"/>
              <a:t>their</a:t>
            </a:r>
            <a:r>
              <a:rPr lang="ko-KR" altLang="ko-KR" sz="700" dirty="0"/>
              <a:t> </a:t>
            </a:r>
            <a:r>
              <a:rPr lang="ko-KR" altLang="ko-KR" sz="700" dirty="0" err="1"/>
              <a:t>high-risk</a:t>
            </a:r>
            <a:r>
              <a:rPr lang="ko-KR" altLang="ko-KR" sz="700" dirty="0"/>
              <a:t> AI </a:t>
            </a:r>
            <a:r>
              <a:rPr lang="ko-KR" altLang="ko-KR" sz="700" dirty="0" err="1"/>
              <a:t>systems</a:t>
            </a:r>
            <a:r>
              <a:rPr lang="ko-KR" altLang="ko-KR" sz="700" dirty="0"/>
              <a:t>, </a:t>
            </a:r>
            <a:r>
              <a:rPr lang="ko-KR" altLang="ko-KR" sz="700" dirty="0" err="1"/>
              <a:t>to</a:t>
            </a:r>
            <a:r>
              <a:rPr lang="ko-KR" altLang="ko-KR" sz="700" dirty="0"/>
              <a:t> </a:t>
            </a:r>
            <a:r>
              <a:rPr lang="ko-KR" altLang="ko-KR" sz="700" dirty="0" err="1"/>
              <a:t>the</a:t>
            </a:r>
            <a:r>
              <a:rPr lang="ko-KR" altLang="ko-KR" sz="700" dirty="0"/>
              <a:t> </a:t>
            </a:r>
            <a:r>
              <a:rPr lang="ko-KR" altLang="ko-KR" sz="700" dirty="0" err="1"/>
              <a:t>extent</a:t>
            </a:r>
            <a:r>
              <a:rPr lang="ko-KR" altLang="ko-KR" sz="700" dirty="0"/>
              <a:t> </a:t>
            </a:r>
            <a:r>
              <a:rPr lang="ko-KR" altLang="ko-KR" sz="700" dirty="0" err="1"/>
              <a:t>such</a:t>
            </a:r>
            <a:r>
              <a:rPr lang="ko-KR" altLang="ko-KR" sz="700" dirty="0"/>
              <a:t> </a:t>
            </a:r>
            <a:r>
              <a:rPr lang="ko-KR" altLang="ko-KR" sz="700" dirty="0" err="1"/>
              <a:t>logs</a:t>
            </a:r>
            <a:r>
              <a:rPr lang="ko-KR" altLang="ko-KR" sz="700" dirty="0"/>
              <a:t> </a:t>
            </a:r>
            <a:r>
              <a:rPr lang="ko-KR" altLang="ko-KR" sz="700" dirty="0" err="1"/>
              <a:t>are</a:t>
            </a:r>
            <a:r>
              <a:rPr lang="ko-KR" altLang="ko-KR" sz="700" dirty="0"/>
              <a:t> </a:t>
            </a:r>
            <a:r>
              <a:rPr lang="ko-KR" altLang="ko-KR" sz="700" dirty="0" err="1"/>
              <a:t>under</a:t>
            </a:r>
            <a:r>
              <a:rPr lang="ko-KR" altLang="ko-KR" sz="700" dirty="0"/>
              <a:t> </a:t>
            </a:r>
            <a:r>
              <a:rPr lang="ko-KR" altLang="ko-KR" sz="700" dirty="0" err="1"/>
              <a:t>their</a:t>
            </a:r>
            <a:r>
              <a:rPr lang="ko-KR" altLang="ko-KR" sz="700" dirty="0"/>
              <a:t> </a:t>
            </a:r>
            <a:r>
              <a:rPr lang="ko-KR" altLang="ko-KR" sz="700" dirty="0" err="1"/>
              <a:t>control</a:t>
            </a:r>
            <a:r>
              <a:rPr lang="ko-KR" altLang="ko-KR" sz="700" dirty="0"/>
              <a:t>. </a:t>
            </a:r>
            <a:r>
              <a:rPr lang="ko-KR" altLang="ko-KR" sz="700" dirty="0" err="1"/>
              <a:t>Without</a:t>
            </a:r>
            <a:r>
              <a:rPr lang="ko-KR" altLang="ko-KR" sz="700" dirty="0"/>
              <a:t> </a:t>
            </a:r>
            <a:r>
              <a:rPr lang="ko-KR" altLang="ko-KR" sz="700" dirty="0" err="1"/>
              <a:t>prejudice</a:t>
            </a:r>
            <a:r>
              <a:rPr lang="ko-KR" altLang="ko-KR" sz="700" dirty="0"/>
              <a:t> </a:t>
            </a:r>
            <a:r>
              <a:rPr lang="ko-KR" altLang="ko-KR" sz="700" dirty="0" err="1"/>
              <a:t>to</a:t>
            </a:r>
            <a:r>
              <a:rPr lang="ko-KR" altLang="ko-KR" sz="700" dirty="0"/>
              <a:t> </a:t>
            </a:r>
            <a:r>
              <a:rPr lang="ko-KR" altLang="ko-KR" sz="700" dirty="0" err="1"/>
              <a:t>applicable</a:t>
            </a:r>
            <a:r>
              <a:rPr lang="ko-KR" altLang="ko-KR" sz="700" dirty="0"/>
              <a:t> Union </a:t>
            </a:r>
            <a:r>
              <a:rPr lang="ko-KR" altLang="ko-KR" sz="700" dirty="0" err="1"/>
              <a:t>or</a:t>
            </a:r>
            <a:r>
              <a:rPr lang="ko-KR" altLang="ko-KR" sz="700" dirty="0"/>
              <a:t> </a:t>
            </a:r>
            <a:r>
              <a:rPr lang="ko-KR" altLang="ko-KR" sz="700" dirty="0" err="1"/>
              <a:t>national</a:t>
            </a:r>
            <a:r>
              <a:rPr lang="ko-KR" altLang="ko-KR" sz="700" dirty="0"/>
              <a:t> </a:t>
            </a:r>
            <a:r>
              <a:rPr lang="ko-KR" altLang="ko-KR" sz="700" dirty="0" err="1"/>
              <a:t>law</a:t>
            </a:r>
            <a:r>
              <a:rPr lang="ko-KR" altLang="ko-KR" sz="700" dirty="0"/>
              <a:t>, </a:t>
            </a:r>
            <a:r>
              <a:rPr lang="ko-KR" altLang="ko-KR" sz="700" b="1" dirty="0" err="1">
                <a:solidFill>
                  <a:srgbClr val="0000FF"/>
                </a:solidFill>
              </a:rPr>
              <a:t>the</a:t>
            </a:r>
            <a:r>
              <a:rPr lang="ko-KR" altLang="ko-KR" sz="700" b="1" dirty="0">
                <a:solidFill>
                  <a:srgbClr val="0000FF"/>
                </a:solidFill>
              </a:rPr>
              <a:t> </a:t>
            </a:r>
            <a:r>
              <a:rPr lang="ko-KR" altLang="ko-KR" sz="700" b="1" dirty="0" err="1">
                <a:solidFill>
                  <a:srgbClr val="0000FF"/>
                </a:solidFill>
              </a:rPr>
              <a:t>logs</a:t>
            </a:r>
            <a:r>
              <a:rPr lang="ko-KR" altLang="ko-KR" sz="700" b="1" dirty="0">
                <a:solidFill>
                  <a:srgbClr val="0000FF"/>
                </a:solidFill>
              </a:rPr>
              <a:t> </a:t>
            </a:r>
            <a:r>
              <a:rPr lang="ko-KR" altLang="ko-KR" sz="700" b="1" dirty="0" err="1">
                <a:solidFill>
                  <a:srgbClr val="0000FF"/>
                </a:solidFill>
              </a:rPr>
              <a:t>shall</a:t>
            </a:r>
            <a:r>
              <a:rPr lang="ko-KR" altLang="ko-KR" sz="700" b="1" dirty="0">
                <a:solidFill>
                  <a:srgbClr val="0000FF"/>
                </a:solidFill>
              </a:rPr>
              <a:t> </a:t>
            </a:r>
            <a:r>
              <a:rPr lang="ko-KR" altLang="ko-KR" sz="700" b="1" dirty="0" err="1">
                <a:solidFill>
                  <a:srgbClr val="0000FF"/>
                </a:solidFill>
              </a:rPr>
              <a:t>be</a:t>
            </a:r>
            <a:r>
              <a:rPr lang="ko-KR" altLang="ko-KR" sz="700" b="1" dirty="0">
                <a:solidFill>
                  <a:srgbClr val="0000FF"/>
                </a:solidFill>
              </a:rPr>
              <a:t> </a:t>
            </a:r>
            <a:r>
              <a:rPr lang="ko-KR" altLang="ko-KR" sz="700" b="1" dirty="0" err="1">
                <a:solidFill>
                  <a:srgbClr val="0000FF"/>
                </a:solidFill>
              </a:rPr>
              <a:t>kept</a:t>
            </a:r>
            <a:r>
              <a:rPr lang="ko-KR" altLang="ko-KR" sz="700" b="1" dirty="0">
                <a:solidFill>
                  <a:srgbClr val="0000FF"/>
                </a:solidFill>
              </a:rPr>
              <a:t> </a:t>
            </a:r>
            <a:r>
              <a:rPr lang="ko-KR" altLang="ko-KR" sz="700" dirty="0" err="1"/>
              <a:t>for</a:t>
            </a:r>
            <a:r>
              <a:rPr lang="ko-KR" altLang="ko-KR" sz="700" dirty="0"/>
              <a:t> </a:t>
            </a:r>
            <a:r>
              <a:rPr lang="ko-KR" altLang="ko-KR" sz="700" dirty="0" err="1"/>
              <a:t>a</a:t>
            </a:r>
            <a:r>
              <a:rPr lang="ko-KR" altLang="ko-KR" sz="700" dirty="0"/>
              <a:t> </a:t>
            </a:r>
            <a:r>
              <a:rPr lang="ko-KR" altLang="ko-KR" sz="700" dirty="0" err="1"/>
              <a:t>period</a:t>
            </a:r>
            <a:r>
              <a:rPr lang="ko-KR" altLang="ko-KR" sz="700" dirty="0"/>
              <a:t> </a:t>
            </a:r>
            <a:r>
              <a:rPr lang="ko-KR" altLang="ko-KR" sz="700" dirty="0" err="1"/>
              <a:t>appropriate</a:t>
            </a:r>
            <a:r>
              <a:rPr lang="ko-KR" altLang="ko-KR" sz="700" dirty="0"/>
              <a:t> </a:t>
            </a:r>
            <a:r>
              <a:rPr lang="ko-KR" altLang="ko-KR" sz="700" dirty="0" err="1"/>
              <a:t>to</a:t>
            </a:r>
            <a:r>
              <a:rPr lang="ko-KR" altLang="ko-KR" sz="700" dirty="0"/>
              <a:t> </a:t>
            </a:r>
            <a:r>
              <a:rPr lang="ko-KR" altLang="ko-KR" sz="700" dirty="0" err="1"/>
              <a:t>the</a:t>
            </a:r>
            <a:r>
              <a:rPr lang="ko-KR" altLang="ko-KR" sz="700" dirty="0"/>
              <a:t> </a:t>
            </a:r>
            <a:r>
              <a:rPr lang="ko-KR" altLang="ko-KR" sz="700" dirty="0" err="1"/>
              <a:t>intended</a:t>
            </a:r>
            <a:r>
              <a:rPr lang="ko-KR" altLang="ko-KR" sz="700" dirty="0"/>
              <a:t> </a:t>
            </a:r>
            <a:r>
              <a:rPr lang="ko-KR" altLang="ko-KR" sz="700" dirty="0" err="1"/>
              <a:t>purpose</a:t>
            </a:r>
            <a:r>
              <a:rPr lang="ko-KR" altLang="ko-KR" sz="700" dirty="0"/>
              <a:t> of </a:t>
            </a:r>
            <a:r>
              <a:rPr lang="ko-KR" altLang="ko-KR" sz="700" dirty="0" err="1"/>
              <a:t>the</a:t>
            </a:r>
            <a:r>
              <a:rPr lang="ko-KR" altLang="ko-KR" sz="700" dirty="0"/>
              <a:t> </a:t>
            </a:r>
            <a:r>
              <a:rPr lang="ko-KR" altLang="ko-KR" sz="700" dirty="0" err="1"/>
              <a:t>high-risk</a:t>
            </a:r>
            <a:r>
              <a:rPr lang="ko-KR" altLang="ko-KR" sz="700" dirty="0"/>
              <a:t> AI </a:t>
            </a:r>
            <a:r>
              <a:rPr lang="ko-KR" altLang="ko-KR" sz="700" dirty="0" err="1"/>
              <a:t>system</a:t>
            </a:r>
            <a:r>
              <a:rPr lang="ko-KR" altLang="ko-KR" sz="700" dirty="0"/>
              <a:t>, of </a:t>
            </a:r>
            <a:r>
              <a:rPr lang="ko-KR" altLang="ko-KR" sz="700" b="1" dirty="0" err="1">
                <a:solidFill>
                  <a:srgbClr val="0000FF"/>
                </a:solidFill>
              </a:rPr>
              <a:t>at</a:t>
            </a:r>
            <a:r>
              <a:rPr lang="ko-KR" altLang="ko-KR" sz="700" b="1" dirty="0">
                <a:solidFill>
                  <a:srgbClr val="0000FF"/>
                </a:solidFill>
              </a:rPr>
              <a:t> </a:t>
            </a:r>
            <a:r>
              <a:rPr lang="ko-KR" altLang="ko-KR" sz="700" b="1" dirty="0" err="1">
                <a:solidFill>
                  <a:srgbClr val="0000FF"/>
                </a:solidFill>
              </a:rPr>
              <a:t>least</a:t>
            </a:r>
            <a:r>
              <a:rPr lang="ko-KR" altLang="ko-KR" sz="700" b="1" dirty="0">
                <a:solidFill>
                  <a:srgbClr val="0000FF"/>
                </a:solidFill>
              </a:rPr>
              <a:t> </a:t>
            </a:r>
            <a:r>
              <a:rPr lang="ko-KR" altLang="ko-KR" sz="700" b="1" dirty="0" err="1">
                <a:solidFill>
                  <a:srgbClr val="0000FF"/>
                </a:solidFill>
              </a:rPr>
              <a:t>six</a:t>
            </a:r>
            <a:r>
              <a:rPr lang="ko-KR" altLang="ko-KR" sz="700" b="1" dirty="0">
                <a:solidFill>
                  <a:srgbClr val="0000FF"/>
                </a:solidFill>
              </a:rPr>
              <a:t> </a:t>
            </a:r>
            <a:r>
              <a:rPr lang="ko-KR" altLang="ko-KR" sz="700" b="1" dirty="0" err="1">
                <a:solidFill>
                  <a:srgbClr val="0000FF"/>
                </a:solidFill>
              </a:rPr>
              <a:t>months</a:t>
            </a:r>
            <a:r>
              <a:rPr lang="ko-KR" altLang="ko-KR" sz="700" dirty="0"/>
              <a:t>, </a:t>
            </a:r>
            <a:r>
              <a:rPr lang="ko-KR" altLang="ko-KR" sz="700" dirty="0" err="1"/>
              <a:t>unless</a:t>
            </a:r>
            <a:r>
              <a:rPr lang="ko-KR" altLang="ko-KR" sz="700" dirty="0"/>
              <a:t> </a:t>
            </a:r>
            <a:r>
              <a:rPr lang="ko-KR" altLang="ko-KR" sz="700" dirty="0" err="1"/>
              <a:t>provided</a:t>
            </a:r>
            <a:r>
              <a:rPr lang="ko-KR" altLang="ko-KR" sz="700" dirty="0"/>
              <a:t> </a:t>
            </a:r>
            <a:r>
              <a:rPr lang="ko-KR" altLang="ko-KR" sz="700" dirty="0" err="1"/>
              <a:t>otherwise</a:t>
            </a:r>
            <a:r>
              <a:rPr lang="ko-KR" altLang="ko-KR" sz="700" dirty="0"/>
              <a:t> </a:t>
            </a:r>
            <a:r>
              <a:rPr lang="ko-KR" altLang="ko-KR" sz="700" dirty="0" err="1"/>
              <a:t>in</a:t>
            </a:r>
            <a:r>
              <a:rPr lang="ko-KR" altLang="ko-KR" sz="700" dirty="0"/>
              <a:t> </a:t>
            </a:r>
            <a:r>
              <a:rPr lang="ko-KR" altLang="ko-KR" sz="700" dirty="0" err="1"/>
              <a:t>the</a:t>
            </a:r>
            <a:r>
              <a:rPr lang="ko-KR" altLang="ko-KR" sz="700" dirty="0"/>
              <a:t> </a:t>
            </a:r>
            <a:r>
              <a:rPr lang="ko-KR" altLang="ko-KR" sz="700" dirty="0" err="1"/>
              <a:t>applicable</a:t>
            </a:r>
            <a:r>
              <a:rPr lang="ko-KR" altLang="ko-KR" sz="700" dirty="0"/>
              <a:t> Union </a:t>
            </a:r>
            <a:r>
              <a:rPr lang="ko-KR" altLang="ko-KR" sz="700" dirty="0" err="1"/>
              <a:t>or</a:t>
            </a:r>
            <a:r>
              <a:rPr lang="ko-KR" altLang="ko-KR" sz="700" dirty="0"/>
              <a:t> </a:t>
            </a:r>
            <a:r>
              <a:rPr lang="ko-KR" altLang="ko-KR" sz="700" dirty="0" err="1"/>
              <a:t>national</a:t>
            </a:r>
            <a:r>
              <a:rPr lang="ko-KR" altLang="ko-KR" sz="700" dirty="0"/>
              <a:t> </a:t>
            </a:r>
            <a:r>
              <a:rPr lang="ko-KR" altLang="ko-KR" sz="700" dirty="0" err="1"/>
              <a:t>law</a:t>
            </a:r>
            <a:r>
              <a:rPr lang="ko-KR" altLang="ko-KR" sz="700" dirty="0"/>
              <a:t>, </a:t>
            </a:r>
            <a:r>
              <a:rPr lang="ko-KR" altLang="ko-KR" sz="700" dirty="0" err="1"/>
              <a:t>in</a:t>
            </a:r>
            <a:r>
              <a:rPr lang="ko-KR" altLang="ko-KR" sz="700" dirty="0"/>
              <a:t> </a:t>
            </a:r>
            <a:r>
              <a:rPr lang="ko-KR" altLang="ko-KR" sz="700" dirty="0" err="1"/>
              <a:t>particular</a:t>
            </a:r>
            <a:r>
              <a:rPr lang="ko-KR" altLang="ko-KR" sz="700" dirty="0"/>
              <a:t> </a:t>
            </a:r>
            <a:r>
              <a:rPr lang="ko-KR" altLang="ko-KR" sz="700" dirty="0" err="1"/>
              <a:t>in</a:t>
            </a:r>
            <a:r>
              <a:rPr lang="ko-KR" altLang="ko-KR" sz="700" dirty="0"/>
              <a:t> Union </a:t>
            </a:r>
            <a:r>
              <a:rPr lang="ko-KR" altLang="ko-KR" sz="700" dirty="0" err="1"/>
              <a:t>law</a:t>
            </a:r>
            <a:r>
              <a:rPr lang="ko-KR" altLang="ko-KR" sz="700" dirty="0"/>
              <a:t> </a:t>
            </a:r>
            <a:r>
              <a:rPr lang="ko-KR" altLang="ko-KR" sz="700" dirty="0" err="1"/>
              <a:t>on</a:t>
            </a:r>
            <a:r>
              <a:rPr lang="ko-KR" altLang="ko-KR" sz="700" dirty="0"/>
              <a:t> </a:t>
            </a:r>
            <a:r>
              <a:rPr lang="ko-KR" altLang="ko-KR" sz="700" dirty="0" err="1"/>
              <a:t>the</a:t>
            </a:r>
            <a:r>
              <a:rPr lang="ko-KR" altLang="ko-KR" sz="700" dirty="0"/>
              <a:t> </a:t>
            </a:r>
            <a:r>
              <a:rPr lang="ko-KR" altLang="ko-KR" sz="700" dirty="0" err="1"/>
              <a:t>protection</a:t>
            </a:r>
            <a:r>
              <a:rPr lang="ko-KR" altLang="ko-KR" sz="700" dirty="0"/>
              <a:t> of </a:t>
            </a:r>
            <a:r>
              <a:rPr lang="ko-KR" altLang="ko-KR" sz="700" dirty="0" err="1"/>
              <a:t>personal</a:t>
            </a:r>
            <a:r>
              <a:rPr lang="ko-KR" altLang="ko-KR" sz="700" dirty="0"/>
              <a:t> </a:t>
            </a:r>
            <a:r>
              <a:rPr lang="ko-KR" altLang="ko-KR" sz="700" dirty="0" err="1"/>
              <a:t>data</a:t>
            </a:r>
            <a:r>
              <a:rPr lang="ko-KR" altLang="ko-KR" sz="700" dirty="0"/>
              <a:t>.</a:t>
            </a:r>
            <a:endParaRPr lang="en-US" altLang="ko-KR" sz="700" dirty="0"/>
          </a:p>
          <a:p>
            <a:endParaRPr lang="en-US" altLang="ko-KR" sz="700" dirty="0"/>
          </a:p>
          <a:p>
            <a:r>
              <a:rPr lang="en-US" altLang="ko-KR" sz="700" b="1" dirty="0"/>
              <a:t>[Article 55] – </a:t>
            </a:r>
            <a:r>
              <a:rPr lang="ko-KR" altLang="en-US" sz="700" b="1" dirty="0"/>
              <a:t>범용 </a:t>
            </a:r>
            <a:r>
              <a:rPr lang="en-US" altLang="ko-KR" sz="700" b="1" dirty="0"/>
              <a:t>AI</a:t>
            </a:r>
            <a:r>
              <a:rPr lang="ko-KR" altLang="en-US" sz="700" b="1" dirty="0"/>
              <a:t>모델 제공자의 의무</a:t>
            </a:r>
            <a:endParaRPr lang="en-US" altLang="ko-KR" sz="700" b="1" dirty="0"/>
          </a:p>
          <a:p>
            <a:r>
              <a:rPr lang="en-US" altLang="ko-KR" sz="700" dirty="0"/>
              <a:t>…</a:t>
            </a:r>
          </a:p>
          <a:p>
            <a:r>
              <a:rPr lang="en-US" altLang="ko-KR" sz="700" dirty="0"/>
              <a:t>(d) ensure an adequate level of </a:t>
            </a:r>
            <a:r>
              <a:rPr lang="en-US" altLang="ko-KR" sz="700" b="1" dirty="0">
                <a:solidFill>
                  <a:srgbClr val="0000FF"/>
                </a:solidFill>
              </a:rPr>
              <a:t>cybersecurity protection </a:t>
            </a:r>
            <a:r>
              <a:rPr lang="en-US" altLang="ko-KR" sz="700" dirty="0"/>
              <a:t>for the general-purpose AI model with systemic risk and the physical infrastructure of the model.</a:t>
            </a:r>
          </a:p>
        </p:txBody>
      </p:sp>
      <p:sp>
        <p:nvSpPr>
          <p:cNvPr id="14" name="사각형: 둥근 모서리 13">
            <a:extLst>
              <a:ext uri="{FF2B5EF4-FFF2-40B4-BE49-F238E27FC236}">
                <a16:creationId xmlns:a16="http://schemas.microsoft.com/office/drawing/2014/main" id="{69D7969A-FA36-645E-3280-3BAD1788B387}"/>
              </a:ext>
            </a:extLst>
          </p:cNvPr>
          <p:cNvSpPr/>
          <p:nvPr/>
        </p:nvSpPr>
        <p:spPr>
          <a:xfrm>
            <a:off x="333829" y="2946978"/>
            <a:ext cx="4003040" cy="498676"/>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171450" indent="-171450">
              <a:lnSpc>
                <a:spcPct val="150000"/>
              </a:lnSpc>
              <a:buFont typeface="Wingdings" panose="05000000000000000000" pitchFamily="2" charset="2"/>
              <a:buChar char="l"/>
            </a:pPr>
            <a:r>
              <a:rPr lang="ko-KR" altLang="en-US" sz="900" dirty="0"/>
              <a:t>운전자 졸음</a:t>
            </a:r>
            <a:r>
              <a:rPr lang="en-US" altLang="ko-KR" sz="900" dirty="0"/>
              <a:t>/</a:t>
            </a:r>
            <a:r>
              <a:rPr lang="ko-KR" altLang="en-US" sz="900" dirty="0"/>
              <a:t>부주의 경고에 사용된 </a:t>
            </a:r>
            <a:r>
              <a:rPr lang="en-US" altLang="ko-KR" sz="900" dirty="0"/>
              <a:t>Data</a:t>
            </a:r>
            <a:r>
              <a:rPr lang="ko-KR" altLang="en-US" sz="900" dirty="0"/>
              <a:t>가 </a:t>
            </a:r>
            <a:r>
              <a:rPr lang="ko-KR" altLang="en-US" sz="900" b="1" dirty="0">
                <a:solidFill>
                  <a:srgbClr val="0000FF"/>
                </a:solidFill>
              </a:rPr>
              <a:t>폐쇄된 시스템에서 수집</a:t>
            </a:r>
            <a:r>
              <a:rPr lang="ko-KR" altLang="en-US" sz="900" dirty="0"/>
              <a:t>되고</a:t>
            </a:r>
            <a:r>
              <a:rPr lang="en-US" altLang="ko-KR" sz="900" dirty="0"/>
              <a:t>, </a:t>
            </a:r>
            <a:r>
              <a:rPr lang="ko-KR" altLang="en-US" sz="900" b="1" dirty="0">
                <a:solidFill>
                  <a:srgbClr val="0000FF"/>
                </a:solidFill>
              </a:rPr>
              <a:t>제</a:t>
            </a:r>
            <a:r>
              <a:rPr lang="en-US" altLang="ko-KR" sz="900" b="1" dirty="0">
                <a:solidFill>
                  <a:srgbClr val="0000FF"/>
                </a:solidFill>
              </a:rPr>
              <a:t>3</a:t>
            </a:r>
            <a:r>
              <a:rPr lang="ko-KR" altLang="en-US" sz="900" b="1" dirty="0">
                <a:solidFill>
                  <a:srgbClr val="0000FF"/>
                </a:solidFill>
              </a:rPr>
              <a:t>자가 접근 불가능</a:t>
            </a:r>
            <a:r>
              <a:rPr lang="ko-KR" altLang="en-US" sz="900" dirty="0"/>
              <a:t>해야 함을 명시</a:t>
            </a:r>
          </a:p>
        </p:txBody>
      </p:sp>
      <p:sp>
        <p:nvSpPr>
          <p:cNvPr id="15" name="사각형: 둥근 모서리 14">
            <a:extLst>
              <a:ext uri="{FF2B5EF4-FFF2-40B4-BE49-F238E27FC236}">
                <a16:creationId xmlns:a16="http://schemas.microsoft.com/office/drawing/2014/main" id="{3145C3FC-C335-0030-CA3F-AB5208F46111}"/>
              </a:ext>
            </a:extLst>
          </p:cNvPr>
          <p:cNvSpPr/>
          <p:nvPr/>
        </p:nvSpPr>
        <p:spPr>
          <a:xfrm>
            <a:off x="4815660" y="3660900"/>
            <a:ext cx="3895634" cy="672737"/>
          </a:xfrm>
          <a:prstGeom prst="roundRect">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marL="171450" indent="-171450">
              <a:lnSpc>
                <a:spcPct val="150000"/>
              </a:lnSpc>
              <a:buFont typeface="Wingdings" panose="05000000000000000000" pitchFamily="2" charset="2"/>
              <a:buChar char="l"/>
            </a:pPr>
            <a:r>
              <a:rPr lang="ko-KR" altLang="en-US" sz="900" b="1" dirty="0">
                <a:solidFill>
                  <a:schemeClr val="bg1"/>
                </a:solidFill>
              </a:rPr>
              <a:t> </a:t>
            </a:r>
            <a:r>
              <a:rPr lang="ko-KR" altLang="en-US" sz="900" dirty="0">
                <a:solidFill>
                  <a:schemeClr val="bg1"/>
                </a:solidFill>
              </a:rPr>
              <a:t>범용 </a:t>
            </a:r>
            <a:r>
              <a:rPr lang="en-US" altLang="ko-KR" sz="900" dirty="0">
                <a:solidFill>
                  <a:schemeClr val="bg1"/>
                </a:solidFill>
              </a:rPr>
              <a:t>AI</a:t>
            </a:r>
            <a:r>
              <a:rPr lang="ko-KR" altLang="en-US" sz="900" dirty="0">
                <a:solidFill>
                  <a:schemeClr val="bg1"/>
                </a:solidFill>
              </a:rPr>
              <a:t>에 대해 </a:t>
            </a:r>
            <a:r>
              <a:rPr lang="ko-KR" altLang="en-US" sz="900" b="1" dirty="0">
                <a:solidFill>
                  <a:srgbClr val="0000FF"/>
                </a:solidFill>
              </a:rPr>
              <a:t>모델 가중치</a:t>
            </a:r>
            <a:r>
              <a:rPr lang="en-US" altLang="ko-KR" sz="900" b="1" dirty="0">
                <a:solidFill>
                  <a:srgbClr val="0000FF"/>
                </a:solidFill>
              </a:rPr>
              <a:t>, </a:t>
            </a:r>
            <a:r>
              <a:rPr lang="ko-KR" altLang="en-US" sz="900" b="1" dirty="0">
                <a:solidFill>
                  <a:srgbClr val="0000FF"/>
                </a:solidFill>
              </a:rPr>
              <a:t>알고리즘</a:t>
            </a:r>
            <a:r>
              <a:rPr lang="en-US" altLang="ko-KR" sz="900" b="1" dirty="0">
                <a:solidFill>
                  <a:srgbClr val="0000FF"/>
                </a:solidFill>
              </a:rPr>
              <a:t>, </a:t>
            </a:r>
            <a:r>
              <a:rPr lang="ko-KR" altLang="en-US" sz="900" b="1" dirty="0">
                <a:solidFill>
                  <a:srgbClr val="0000FF"/>
                </a:solidFill>
              </a:rPr>
              <a:t>서버</a:t>
            </a:r>
            <a:r>
              <a:rPr lang="en-US" altLang="ko-KR" sz="900" b="1" dirty="0">
                <a:solidFill>
                  <a:srgbClr val="0000FF"/>
                </a:solidFill>
              </a:rPr>
              <a:t>, </a:t>
            </a:r>
            <a:r>
              <a:rPr lang="ko-KR" altLang="en-US" sz="900" b="1" dirty="0">
                <a:solidFill>
                  <a:srgbClr val="0000FF"/>
                </a:solidFill>
              </a:rPr>
              <a:t>데이터 셋</a:t>
            </a:r>
            <a:r>
              <a:rPr lang="ko-KR" altLang="en-US" sz="900" dirty="0"/>
              <a:t>이 보호되어야 하고</a:t>
            </a:r>
            <a:r>
              <a:rPr lang="en-US" altLang="ko-KR" sz="900" dirty="0"/>
              <a:t>, </a:t>
            </a:r>
            <a:r>
              <a:rPr lang="ko-KR" altLang="en-US" sz="900" dirty="0"/>
              <a:t>적절한 </a:t>
            </a:r>
            <a:r>
              <a:rPr lang="en-US" altLang="ko-KR" sz="900" b="1" dirty="0">
                <a:solidFill>
                  <a:srgbClr val="0000FF"/>
                </a:solidFill>
              </a:rPr>
              <a:t>Cybersecurity </a:t>
            </a:r>
            <a:r>
              <a:rPr lang="ko-KR" altLang="en-US" sz="900" b="1" dirty="0">
                <a:solidFill>
                  <a:srgbClr val="0000FF"/>
                </a:solidFill>
              </a:rPr>
              <a:t>보호가 보장</a:t>
            </a:r>
            <a:r>
              <a:rPr lang="ko-KR" altLang="en-US" sz="900" dirty="0"/>
              <a:t>되어 함을 명시</a:t>
            </a:r>
            <a:endParaRPr lang="en-US" altLang="ko-KR" sz="900" dirty="0"/>
          </a:p>
          <a:p>
            <a:pPr marL="171450" indent="-171450">
              <a:lnSpc>
                <a:spcPct val="150000"/>
              </a:lnSpc>
              <a:buFont typeface="Wingdings" panose="05000000000000000000" pitchFamily="2" charset="2"/>
              <a:buChar char="l"/>
            </a:pPr>
            <a:r>
              <a:rPr lang="en-US" altLang="ko-KR" sz="900" dirty="0"/>
              <a:t> </a:t>
            </a:r>
            <a:r>
              <a:rPr lang="ko-KR" altLang="en-US" sz="900" dirty="0"/>
              <a:t>고위험 </a:t>
            </a:r>
            <a:r>
              <a:rPr lang="en-US" altLang="ko-KR" sz="900" dirty="0"/>
              <a:t>AI </a:t>
            </a:r>
            <a:r>
              <a:rPr lang="ko-KR" altLang="en-US" sz="900" dirty="0"/>
              <a:t>시스템</a:t>
            </a:r>
            <a:r>
              <a:rPr lang="en-US" altLang="ko-KR" sz="900" dirty="0"/>
              <a:t>(safety</a:t>
            </a:r>
            <a:r>
              <a:rPr lang="ko-KR" altLang="en-US" sz="900" dirty="0"/>
              <a:t>연관</a:t>
            </a:r>
            <a:r>
              <a:rPr lang="en-US" altLang="ko-KR" sz="900" dirty="0"/>
              <a:t>)</a:t>
            </a:r>
            <a:r>
              <a:rPr lang="ko-KR" altLang="en-US" sz="900" dirty="0"/>
              <a:t>인 경우는</a:t>
            </a:r>
            <a:r>
              <a:rPr lang="en-US" altLang="ko-KR" sz="900" dirty="0"/>
              <a:t>,</a:t>
            </a:r>
            <a:r>
              <a:rPr lang="ko-KR" altLang="en-US" sz="900" dirty="0"/>
              <a:t> 로그를 </a:t>
            </a:r>
            <a:r>
              <a:rPr lang="en-US" altLang="ko-KR" sz="900" b="1" dirty="0">
                <a:solidFill>
                  <a:srgbClr val="0000FF"/>
                </a:solidFill>
              </a:rPr>
              <a:t>6</a:t>
            </a:r>
            <a:r>
              <a:rPr lang="ko-KR" altLang="en-US" sz="900" b="1" dirty="0">
                <a:solidFill>
                  <a:srgbClr val="0000FF"/>
                </a:solidFill>
              </a:rPr>
              <a:t>개월 보관</a:t>
            </a:r>
            <a:r>
              <a:rPr lang="ko-KR" altLang="en-US" sz="900" dirty="0"/>
              <a:t>을 명시</a:t>
            </a:r>
          </a:p>
        </p:txBody>
      </p:sp>
      <p:sp>
        <p:nvSpPr>
          <p:cNvPr id="4" name="TextBox 3">
            <a:extLst>
              <a:ext uri="{FF2B5EF4-FFF2-40B4-BE49-F238E27FC236}">
                <a16:creationId xmlns:a16="http://schemas.microsoft.com/office/drawing/2014/main" id="{02E50726-1D3F-0888-FA88-7A4D22DCBFB4}"/>
              </a:ext>
            </a:extLst>
          </p:cNvPr>
          <p:cNvSpPr txBox="1"/>
          <p:nvPr/>
        </p:nvSpPr>
        <p:spPr>
          <a:xfrm>
            <a:off x="4926585" y="4419043"/>
            <a:ext cx="3538148" cy="461665"/>
          </a:xfrm>
          <a:prstGeom prst="rect">
            <a:avLst/>
          </a:prstGeom>
          <a:noFill/>
          <a:ln>
            <a:noFill/>
          </a:ln>
        </p:spPr>
        <p:txBody>
          <a:bodyPr wrap="none" rtlCol="0">
            <a:spAutoFit/>
          </a:bodyPr>
          <a:lstStyle/>
          <a:p>
            <a:pPr algn="l">
              <a:lnSpc>
                <a:spcPct val="100000"/>
              </a:lnSpc>
            </a:pPr>
            <a:r>
              <a:rPr lang="en-US" altLang="ko-KR" sz="600" dirty="0">
                <a:solidFill>
                  <a:schemeClr val="tx1">
                    <a:lumMod val="50000"/>
                    <a:lumOff val="50000"/>
                  </a:schemeClr>
                </a:solidFill>
              </a:rPr>
              <a:t>[</a:t>
            </a:r>
            <a:r>
              <a:rPr lang="ko-KR" altLang="en-US" sz="600" dirty="0">
                <a:solidFill>
                  <a:schemeClr val="tx1">
                    <a:lumMod val="50000"/>
                    <a:lumOff val="50000"/>
                  </a:schemeClr>
                </a:solidFill>
              </a:rPr>
              <a:t>부록 </a:t>
            </a:r>
            <a:r>
              <a:rPr lang="en-US" altLang="ko-KR" sz="600" dirty="0">
                <a:solidFill>
                  <a:schemeClr val="tx1">
                    <a:lumMod val="50000"/>
                    <a:lumOff val="50000"/>
                  </a:schemeClr>
                </a:solidFill>
              </a:rPr>
              <a:t>III] – </a:t>
            </a:r>
            <a:r>
              <a:rPr lang="ko-KR" altLang="en-US" sz="600" dirty="0">
                <a:solidFill>
                  <a:schemeClr val="tx1">
                    <a:lumMod val="50000"/>
                    <a:lumOff val="50000"/>
                  </a:schemeClr>
                </a:solidFill>
              </a:rPr>
              <a:t>고위험 </a:t>
            </a:r>
            <a:r>
              <a:rPr lang="en-US" altLang="ko-KR" sz="600" dirty="0">
                <a:solidFill>
                  <a:schemeClr val="tx1">
                    <a:lumMod val="50000"/>
                    <a:lumOff val="50000"/>
                  </a:schemeClr>
                </a:solidFill>
              </a:rPr>
              <a:t>AI</a:t>
            </a:r>
            <a:r>
              <a:rPr lang="ko-KR" altLang="en-US" sz="600" dirty="0">
                <a:solidFill>
                  <a:schemeClr val="tx1">
                    <a:lumMod val="50000"/>
                    <a:lumOff val="50000"/>
                  </a:schemeClr>
                </a:solidFill>
              </a:rPr>
              <a:t>의 분류</a:t>
            </a:r>
            <a:endParaRPr lang="en-US" altLang="ko-KR" sz="600" dirty="0">
              <a:solidFill>
                <a:schemeClr val="tx1">
                  <a:lumMod val="50000"/>
                  <a:lumOff val="50000"/>
                </a:schemeClr>
              </a:solidFill>
            </a:endParaRPr>
          </a:p>
          <a:p>
            <a:r>
              <a:rPr lang="ko-KR" altLang="ko-KR" sz="600" dirty="0">
                <a:solidFill>
                  <a:schemeClr val="tx1">
                    <a:lumMod val="50000"/>
                    <a:lumOff val="50000"/>
                  </a:schemeClr>
                </a:solidFill>
              </a:rPr>
              <a:t>① </a:t>
            </a:r>
            <a:r>
              <a:rPr lang="ko-KR" altLang="ko-KR" sz="600" b="1" dirty="0">
                <a:solidFill>
                  <a:srgbClr val="0000FF"/>
                </a:solidFill>
              </a:rPr>
              <a:t>생체인식</a:t>
            </a:r>
            <a:r>
              <a:rPr lang="en-US" altLang="ko-KR" sz="600" b="1" dirty="0">
                <a:solidFill>
                  <a:srgbClr val="0000FF"/>
                </a:solidFill>
              </a:rPr>
              <a:t>(</a:t>
            </a:r>
            <a:r>
              <a:rPr lang="ko-KR" altLang="en-US" sz="600" b="1" dirty="0">
                <a:solidFill>
                  <a:srgbClr val="0000FF"/>
                </a:solidFill>
              </a:rPr>
              <a:t>감정인식</a:t>
            </a:r>
            <a:r>
              <a:rPr lang="en-US" altLang="ko-KR" sz="600" b="1" dirty="0">
                <a:solidFill>
                  <a:srgbClr val="0000FF"/>
                </a:solidFill>
              </a:rPr>
              <a:t>)</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② 중요기반시설</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③ 교육 및 직업훈련</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④ 근로자 관리 및 자영업에 대한 접근</a:t>
            </a:r>
          </a:p>
          <a:p>
            <a:r>
              <a:rPr lang="ko-KR" altLang="ko-KR" sz="600" dirty="0">
                <a:solidFill>
                  <a:schemeClr val="tx1">
                    <a:lumMod val="50000"/>
                    <a:lumOff val="50000"/>
                  </a:schemeClr>
                </a:solidFill>
              </a:rPr>
              <a:t>⑤ 필수 민간</a:t>
            </a:r>
            <a:r>
              <a:rPr lang="en-US" altLang="ko-KR" sz="600" dirty="0">
                <a:solidFill>
                  <a:schemeClr val="tx1">
                    <a:lumMod val="50000"/>
                    <a:lumOff val="50000"/>
                  </a:schemeClr>
                </a:solidFill>
              </a:rPr>
              <a:t>/</a:t>
            </a:r>
            <a:r>
              <a:rPr lang="ko-KR" altLang="ko-KR" sz="600" dirty="0">
                <a:solidFill>
                  <a:schemeClr val="tx1">
                    <a:lumMod val="50000"/>
                    <a:lumOff val="50000"/>
                  </a:schemeClr>
                </a:solidFill>
              </a:rPr>
              <a:t>공공</a:t>
            </a:r>
            <a:r>
              <a:rPr lang="en-US" altLang="ko-KR" sz="600" dirty="0">
                <a:solidFill>
                  <a:schemeClr val="tx1">
                    <a:lumMod val="50000"/>
                    <a:lumOff val="50000"/>
                  </a:schemeClr>
                </a:solidFill>
              </a:rPr>
              <a:t>/</a:t>
            </a:r>
            <a:r>
              <a:rPr lang="ko-KR" altLang="ko-KR" sz="600" dirty="0">
                <a:solidFill>
                  <a:schemeClr val="tx1">
                    <a:lumMod val="50000"/>
                    <a:lumOff val="50000"/>
                  </a:schemeClr>
                </a:solidFill>
              </a:rPr>
              <a:t>서비스, 혜택 접근 및 향유</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⑥ 법 집행</a:t>
            </a:r>
            <a:r>
              <a:rPr lang="en-US" altLang="ko-KR" sz="600" dirty="0">
                <a:solidFill>
                  <a:schemeClr val="tx1">
                    <a:lumMod val="50000"/>
                    <a:lumOff val="50000"/>
                  </a:schemeClr>
                </a:solidFill>
              </a:rPr>
              <a:t>, </a:t>
            </a:r>
            <a:r>
              <a:rPr lang="ko-KR" altLang="ko-KR" sz="600" dirty="0">
                <a:solidFill>
                  <a:schemeClr val="tx1">
                    <a:lumMod val="50000"/>
                    <a:lumOff val="50000"/>
                  </a:schemeClr>
                </a:solidFill>
              </a:rPr>
              <a:t>⑦ 이주 망명 및 국경 통제 관리</a:t>
            </a:r>
          </a:p>
          <a:p>
            <a:r>
              <a:rPr lang="ko-KR" altLang="ko-KR" sz="600" dirty="0">
                <a:solidFill>
                  <a:schemeClr val="tx1">
                    <a:lumMod val="50000"/>
                    <a:lumOff val="50000"/>
                  </a:schemeClr>
                </a:solidFill>
              </a:rPr>
              <a:t>⑧ 사법 및 민주적 절차 관리</a:t>
            </a:r>
            <a:endParaRPr lang="en-US" altLang="ko-KR" sz="600" dirty="0">
              <a:solidFill>
                <a:schemeClr val="tx1">
                  <a:lumMod val="50000"/>
                  <a:lumOff val="50000"/>
                </a:schemeClr>
              </a:solidFill>
            </a:endParaRPr>
          </a:p>
        </p:txBody>
      </p:sp>
      <p:cxnSp>
        <p:nvCxnSpPr>
          <p:cNvPr id="7" name="직선 연결선 6">
            <a:extLst>
              <a:ext uri="{FF2B5EF4-FFF2-40B4-BE49-F238E27FC236}">
                <a16:creationId xmlns:a16="http://schemas.microsoft.com/office/drawing/2014/main" id="{02BCDBFC-FB87-F742-D996-39DE04E16D9D}"/>
              </a:ext>
            </a:extLst>
          </p:cNvPr>
          <p:cNvCxnSpPr/>
          <p:nvPr/>
        </p:nvCxnSpPr>
        <p:spPr>
          <a:xfrm>
            <a:off x="4558932" y="359229"/>
            <a:ext cx="0" cy="4617358"/>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525828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BC044D-DFA0-365F-66D1-BD60C555D23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2F3246EB-53B4-2300-FCF2-A4E7AFDE2FE8}"/>
              </a:ext>
            </a:extLst>
          </p:cNvPr>
          <p:cNvSpPr>
            <a:spLocks noGrp="1"/>
          </p:cNvSpPr>
          <p:nvPr>
            <p:ph type="title"/>
          </p:nvPr>
        </p:nvSpPr>
        <p:spPr/>
        <p:txBody>
          <a:bodyPr/>
          <a:lstStyle/>
          <a:p>
            <a:r>
              <a:rPr lang="en-US" altLang="ko-KR" dirty="0"/>
              <a:t>Voice Of Stakeholder</a:t>
            </a:r>
            <a:endParaRPr lang="ko-KR" altLang="en-US" dirty="0"/>
          </a:p>
        </p:txBody>
      </p:sp>
      <p:graphicFrame>
        <p:nvGraphicFramePr>
          <p:cNvPr id="3" name="표 2">
            <a:extLst>
              <a:ext uri="{FF2B5EF4-FFF2-40B4-BE49-F238E27FC236}">
                <a16:creationId xmlns:a16="http://schemas.microsoft.com/office/drawing/2014/main" id="{55F2A575-F1CB-7685-EE31-212DAE214EC9}"/>
              </a:ext>
            </a:extLst>
          </p:cNvPr>
          <p:cNvGraphicFramePr>
            <a:graphicFrameLocks noGrp="1"/>
          </p:cNvGraphicFramePr>
          <p:nvPr>
            <p:extLst>
              <p:ext uri="{D42A27DB-BD31-4B8C-83A1-F6EECF244321}">
                <p14:modId xmlns:p14="http://schemas.microsoft.com/office/powerpoint/2010/main" val="2455375298"/>
              </p:ext>
            </p:extLst>
          </p:nvPr>
        </p:nvGraphicFramePr>
        <p:xfrm>
          <a:off x="411058" y="745756"/>
          <a:ext cx="8036591" cy="3995062"/>
        </p:xfrm>
        <a:graphic>
          <a:graphicData uri="http://schemas.openxmlformats.org/drawingml/2006/table">
            <a:tbl>
              <a:tblPr/>
              <a:tblGrid>
                <a:gridCol w="1263789">
                  <a:extLst>
                    <a:ext uri="{9D8B030D-6E8A-4147-A177-3AD203B41FA5}">
                      <a16:colId xmlns:a16="http://schemas.microsoft.com/office/drawing/2014/main" val="3594864705"/>
                    </a:ext>
                  </a:extLst>
                </a:gridCol>
                <a:gridCol w="2427308">
                  <a:extLst>
                    <a:ext uri="{9D8B030D-6E8A-4147-A177-3AD203B41FA5}">
                      <a16:colId xmlns:a16="http://schemas.microsoft.com/office/drawing/2014/main" val="985975414"/>
                    </a:ext>
                  </a:extLst>
                </a:gridCol>
                <a:gridCol w="4345494">
                  <a:extLst>
                    <a:ext uri="{9D8B030D-6E8A-4147-A177-3AD203B41FA5}">
                      <a16:colId xmlns:a16="http://schemas.microsoft.com/office/drawing/2014/main" val="4171208268"/>
                    </a:ext>
                  </a:extLst>
                </a:gridCol>
              </a:tblGrid>
              <a:tr h="191398">
                <a:tc>
                  <a:txBody>
                    <a:bodyPr/>
                    <a:lstStyle/>
                    <a:p>
                      <a:pPr algn="ctr" fontAlgn="ctr">
                        <a:buNone/>
                      </a:pPr>
                      <a:r>
                        <a:rPr lang="ko-KR" sz="800" b="1" i="0" u="none" strike="noStrike" dirty="0">
                          <a:solidFill>
                            <a:srgbClr val="000000"/>
                          </a:solidFill>
                          <a:effectLst/>
                          <a:latin typeface="Segoe UI" panose="020B0502040204020203" pitchFamily="34" charset="0"/>
                          <a:ea typeface="맑은 고딕" panose="020B0503020000020004" pitchFamily="50" charset="-127"/>
                        </a:rPr>
                        <a:t>ID</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fontAlgn="ctr">
                        <a:buNone/>
                      </a:pPr>
                      <a:r>
                        <a:rPr lang="ko-KR" sz="800" b="1" i="0" u="none" strike="noStrike" dirty="0">
                          <a:solidFill>
                            <a:srgbClr val="000000"/>
                          </a:solidFill>
                          <a:effectLst/>
                          <a:latin typeface="Segoe UI" panose="020B0502040204020203" pitchFamily="34" charset="0"/>
                          <a:ea typeface="맑은 고딕" panose="020B0503020000020004" pitchFamily="50" charset="-127"/>
                        </a:rPr>
                        <a:t>Stakeholder</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algn="ctr" fontAlgn="ctr">
                        <a:buNone/>
                      </a:pPr>
                      <a:r>
                        <a:rPr lang="ko-KR" sz="800" b="1" i="0" u="none" strike="noStrike" dirty="0">
                          <a:solidFill>
                            <a:srgbClr val="000000"/>
                          </a:solidFill>
                          <a:effectLst/>
                          <a:latin typeface="Segoe UI" panose="020B0502040204020203" pitchFamily="34" charset="0"/>
                          <a:ea typeface="맑은 고딕" panose="020B0503020000020004" pitchFamily="50" charset="-127"/>
                        </a:rPr>
                        <a:t>VOS</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319747901"/>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VOS-01</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로봇 제조사</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Host 침해 시에도 영상/모델/추론 데이터가 노출되지 않아야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7737673"/>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VOS-02</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로봇 제조사</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Camera/AI HW 가속을 보안 기능과 일반 기능이 함께 사용해야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13003288"/>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VOS-03</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로봇 제조사</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Android 의존 없이 Yocto/Ubuntu 기반 Linux에서 동작해야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25083432"/>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VOS-04</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로봇 제조사</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보안 기능의 전력/메모리 오버헤드는 탑재 가능 수준이어야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7050004"/>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VOS-05</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상품 기획</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신규 보안 시나리오를 Framework 수정 없이 수용해야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15469074"/>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VOS-06</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과제 PM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2026-1</a:t>
                      </a:r>
                      <a:r>
                        <a:rPr lang="en-US" altLang="ko-KR" sz="800" b="0" i="0" u="none" strike="noStrike" dirty="0">
                          <a:solidFill>
                            <a:srgbClr val="000000"/>
                          </a:solidFill>
                          <a:effectLst/>
                          <a:latin typeface="Segoe UI" panose="020B0502040204020203" pitchFamily="34" charset="0"/>
                          <a:ea typeface="맑은 고딕" panose="020B0503020000020004" pitchFamily="50" charset="-127"/>
                        </a:rPr>
                        <a:t>2</a:t>
                      </a:r>
                      <a:r>
                        <a:rPr lang="ko-KR" sz="800" b="0" i="0" u="none" strike="noStrike" dirty="0">
                          <a:solidFill>
                            <a:srgbClr val="000000"/>
                          </a:solidFill>
                          <a:effectLst/>
                          <a:latin typeface="Segoe UI" panose="020B0502040204020203" pitchFamily="34" charset="0"/>
                          <a:ea typeface="맑은 고딕" panose="020B0503020000020004" pitchFamily="50" charset="-127"/>
                        </a:rPr>
                        <a:t>-3</a:t>
                      </a:r>
                      <a:r>
                        <a:rPr lang="en-US" altLang="ko-KR" sz="800" b="0" i="0" u="none" strike="noStrike" dirty="0">
                          <a:solidFill>
                            <a:srgbClr val="000000"/>
                          </a:solidFill>
                          <a:effectLst/>
                          <a:latin typeface="Segoe UI" panose="020B0502040204020203" pitchFamily="34" charset="0"/>
                          <a:ea typeface="맑은 고딕" panose="020B0503020000020004" pitchFamily="50" charset="-127"/>
                        </a:rPr>
                        <a:t>1</a:t>
                      </a:r>
                      <a:r>
                        <a:rPr lang="ko-KR" sz="800" b="0" i="0" u="none" strike="noStrike" dirty="0">
                          <a:solidFill>
                            <a:srgbClr val="000000"/>
                          </a:solidFill>
                          <a:effectLst/>
                          <a:latin typeface="Segoe UI" panose="020B0502040204020203" pitchFamily="34" charset="0"/>
                          <a:ea typeface="맑은 고딕" panose="020B0503020000020004" pitchFamily="50" charset="-127"/>
                        </a:rPr>
                        <a:t>까지 제한된 인력으로 E2E 데모를 완료해야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53335037"/>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VOS-07</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Secure Camera와 Secure AI 도메인은 독립적으로 동시 운용되어야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52116098"/>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VOS-08</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SOC 설계 부서</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Camera/AI HW 사용 중 DMA 격리와 잔류 데이터 소거가 필요하다.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0467509"/>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VOS-09</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도메인 간 데이터 전달은 노출 없이 빠르게 이뤄져야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020627050"/>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Hypervisor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기 </a:t>
                      </a:r>
                      <a:r>
                        <a:rPr lang="ko-KR" sz="800" b="0" i="0" u="none" strike="noStrike" dirty="0" err="1">
                          <a:solidFill>
                            <a:srgbClr val="000000"/>
                          </a:solidFill>
                          <a:effectLst/>
                          <a:latin typeface="Segoe UI" panose="020B0502040204020203" pitchFamily="34" charset="0"/>
                          <a:ea typeface="맑은 고딕" panose="020B0503020000020004" pitchFamily="50" charset="-127"/>
                        </a:rPr>
                        <a:t>포팅된</a:t>
                      </a:r>
                      <a:r>
                        <a:rPr lang="ko-KR" sz="800" b="0" i="0" u="none" strike="noStrike" dirty="0">
                          <a:solidFill>
                            <a:srgbClr val="000000"/>
                          </a:solidFill>
                          <a:effectLst/>
                          <a:latin typeface="Segoe UI" panose="020B0502040204020203" pitchFamily="34" charset="0"/>
                          <a:ea typeface="맑은 고딕" panose="020B0503020000020004" pitchFamily="50" charset="-127"/>
                        </a:rPr>
                        <a:t> pKVM</a:t>
                      </a:r>
                      <a:r>
                        <a:rPr lang="en-US" altLang="ko-KR" sz="800" b="0" i="0" u="none" strike="noStrike" dirty="0">
                          <a:solidFill>
                            <a:srgbClr val="000000"/>
                          </a:solidFill>
                          <a:effectLst/>
                          <a:latin typeface="Segoe UI" panose="020B0502040204020203" pitchFamily="34" charset="0"/>
                          <a:ea typeface="맑은 고딕" panose="020B0503020000020004" pitchFamily="50" charset="-127"/>
                        </a:rPr>
                        <a:t>(EL2)</a:t>
                      </a:r>
                      <a:r>
                        <a:rPr lang="ko-KR" sz="800" b="0" i="0" u="none" strike="noStrike" dirty="0">
                          <a:solidFill>
                            <a:srgbClr val="000000"/>
                          </a:solidFill>
                          <a:effectLst/>
                          <a:latin typeface="Segoe UI" panose="020B0502040204020203" pitchFamily="34" charset="0"/>
                          <a:ea typeface="맑은 고딕" panose="020B0503020000020004" pitchFamily="50" charset="-127"/>
                        </a:rPr>
                        <a:t>의 </a:t>
                      </a:r>
                      <a:r>
                        <a:rPr lang="ko-KR" sz="800" b="0" i="0" u="none" strike="noStrike" dirty="0" err="1">
                          <a:solidFill>
                            <a:srgbClr val="000000"/>
                          </a:solidFill>
                          <a:effectLst/>
                          <a:latin typeface="Segoe UI" panose="020B0502040204020203" pitchFamily="34" charset="0"/>
                          <a:ea typeface="맑은 고딕" panose="020B0503020000020004" pitchFamily="50" charset="-127"/>
                        </a:rPr>
                        <a:t>TCB는</a:t>
                      </a:r>
                      <a:r>
                        <a:rPr lang="ko-KR" sz="800" b="0" i="0" u="none" strike="noStrike" dirty="0">
                          <a:solidFill>
                            <a:srgbClr val="000000"/>
                          </a:solidFill>
                          <a:effectLst/>
                          <a:latin typeface="Segoe UI" panose="020B0502040204020203" pitchFamily="34" charset="0"/>
                          <a:ea typeface="맑은 고딕" panose="020B0503020000020004" pitchFamily="50" charset="-127"/>
                        </a:rPr>
                        <a:t> 작게 유지 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883402205"/>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VOS-11</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 (SRCX, Secure OS 이식)</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Secure OS 이식 인터페이스가 안정적으로 정의되어야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0846368"/>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VOS-12</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 (기존 TrustZone 공존)</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기존 TrustZone TEE 기능과 SMC 경로가 유지되어야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38154335"/>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VOS-13</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검증 부서</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Host 침해 시 격리 유지 여부를 객관적으로 검증할 수 있어야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19094116"/>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VOS-14</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로봇 앱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pVM API는 비보안 전문가도 사용할 만큼 단순해야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2495943"/>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VOS-15</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상품 기획</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개인정보/규제 대응을 위한 기술적 격리 증빙이 필요하다.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776158"/>
                  </a:ext>
                </a:extLst>
              </a:tr>
              <a:tr h="237729">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VOS-16</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내부 Security 개발자</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pVM 장애가 </a:t>
                      </a:r>
                      <a:r>
                        <a:rPr lang="ko-KR" sz="800" b="0" i="0" u="none" strike="noStrike" dirty="0" err="1">
                          <a:solidFill>
                            <a:srgbClr val="000000"/>
                          </a:solidFill>
                          <a:effectLst/>
                          <a:latin typeface="Segoe UI" panose="020B0502040204020203" pitchFamily="34" charset="0"/>
                          <a:ea typeface="맑은 고딕" panose="020B0503020000020004" pitchFamily="50" charset="-127"/>
                        </a:rPr>
                        <a:t>Host와</a:t>
                      </a:r>
                      <a:r>
                        <a:rPr lang="ko-KR" sz="800" b="0" i="0" u="none" strike="noStrike" dirty="0">
                          <a:solidFill>
                            <a:srgbClr val="000000"/>
                          </a:solidFill>
                          <a:effectLst/>
                          <a:latin typeface="Segoe UI" panose="020B0502040204020203" pitchFamily="34" charset="0"/>
                          <a:ea typeface="맑은 고딕" panose="020B0503020000020004" pitchFamily="50" charset="-127"/>
                        </a:rPr>
                        <a:t> 다른 </a:t>
                      </a:r>
                      <a:r>
                        <a:rPr lang="ko-KR" sz="800" b="0" i="0" u="none" strike="noStrike" dirty="0" err="1">
                          <a:solidFill>
                            <a:srgbClr val="000000"/>
                          </a:solidFill>
                          <a:effectLst/>
                          <a:latin typeface="Segoe UI" panose="020B0502040204020203" pitchFamily="34" charset="0"/>
                          <a:ea typeface="맑은 고딕" panose="020B0503020000020004" pitchFamily="50" charset="-127"/>
                        </a:rPr>
                        <a:t>pVM에</a:t>
                      </a:r>
                      <a:r>
                        <a:rPr lang="ko-KR" sz="800" b="0" i="0" u="none" strike="noStrike" dirty="0">
                          <a:solidFill>
                            <a:srgbClr val="000000"/>
                          </a:solidFill>
                          <a:effectLst/>
                          <a:latin typeface="Segoe UI" panose="020B0502040204020203" pitchFamily="34" charset="0"/>
                          <a:ea typeface="맑은 고딕" panose="020B0503020000020004" pitchFamily="50" charset="-127"/>
                        </a:rPr>
                        <a:t> 전파되지 않아야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77290999"/>
                  </a:ext>
                </a:extLst>
              </a:tr>
            </a:tbl>
          </a:graphicData>
        </a:graphic>
      </p:graphicFrame>
    </p:spTree>
    <p:extLst>
      <p:ext uri="{BB962C8B-B14F-4D97-AF65-F5344CB8AC3E}">
        <p14:creationId xmlns:p14="http://schemas.microsoft.com/office/powerpoint/2010/main" val="1088460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56B373A-A742-A37C-C8FA-E9B0595E14F0}"/>
              </a:ext>
            </a:extLst>
          </p:cNvPr>
          <p:cNvSpPr>
            <a:spLocks noGrp="1"/>
          </p:cNvSpPr>
          <p:nvPr>
            <p:ph type="title"/>
          </p:nvPr>
        </p:nvSpPr>
        <p:spPr/>
        <p:txBody>
          <a:bodyPr/>
          <a:lstStyle/>
          <a:p>
            <a:r>
              <a:rPr lang="ko-KR" altLang="en-US" dirty="0" err="1"/>
              <a:t>유즈케이스</a:t>
            </a:r>
            <a:r>
              <a:rPr lang="ko-KR" altLang="en-US" dirty="0"/>
              <a:t> 도출</a:t>
            </a:r>
          </a:p>
        </p:txBody>
      </p:sp>
      <p:sp>
        <p:nvSpPr>
          <p:cNvPr id="3" name="TextBox 2">
            <a:extLst>
              <a:ext uri="{FF2B5EF4-FFF2-40B4-BE49-F238E27FC236}">
                <a16:creationId xmlns:a16="http://schemas.microsoft.com/office/drawing/2014/main" id="{969C96B8-1E0C-49D6-8210-3C5382D119F7}"/>
              </a:ext>
            </a:extLst>
          </p:cNvPr>
          <p:cNvSpPr txBox="1"/>
          <p:nvPr/>
        </p:nvSpPr>
        <p:spPr>
          <a:xfrm>
            <a:off x="5902417" y="3363913"/>
            <a:ext cx="1518364" cy="253916"/>
          </a:xfrm>
          <a:prstGeom prst="rect">
            <a:avLst/>
          </a:prstGeom>
          <a:noFill/>
        </p:spPr>
        <p:txBody>
          <a:bodyPr wrap="none" rtlCol="0">
            <a:spAutoFit/>
          </a:bodyPr>
          <a:lstStyle/>
          <a:p>
            <a:pPr algn="l"/>
            <a:r>
              <a:rPr lang="en-US" altLang="ko-KR" sz="1050" dirty="0"/>
              <a:t>&lt; </a:t>
            </a:r>
            <a:r>
              <a:rPr lang="ko-KR" altLang="en-US" sz="1050" dirty="0" err="1"/>
              <a:t>유즈케이스</a:t>
            </a:r>
            <a:r>
              <a:rPr lang="en-US" altLang="ko-KR" sz="1050" dirty="0"/>
              <a:t>  </a:t>
            </a:r>
            <a:r>
              <a:rPr lang="ko-KR" altLang="en-US" sz="1050" dirty="0"/>
              <a:t>명세서</a:t>
            </a:r>
            <a:r>
              <a:rPr lang="en-US" altLang="ko-KR" sz="1050" dirty="0"/>
              <a:t>&gt; </a:t>
            </a:r>
            <a:endParaRPr lang="ko-KR" altLang="en-US" sz="1050" dirty="0"/>
          </a:p>
        </p:txBody>
      </p:sp>
      <p:sp>
        <p:nvSpPr>
          <p:cNvPr id="6" name="내용 개체 틀 2">
            <a:extLst>
              <a:ext uri="{FF2B5EF4-FFF2-40B4-BE49-F238E27FC236}">
                <a16:creationId xmlns:a16="http://schemas.microsoft.com/office/drawing/2014/main" id="{88ED02F2-2096-70BF-2581-F4037779B266}"/>
              </a:ext>
            </a:extLst>
          </p:cNvPr>
          <p:cNvSpPr>
            <a:spLocks noGrp="1"/>
          </p:cNvSpPr>
          <p:nvPr>
            <p:ph idx="1"/>
          </p:nvPr>
        </p:nvSpPr>
        <p:spPr>
          <a:xfrm>
            <a:off x="333829" y="721467"/>
            <a:ext cx="8181521" cy="543926"/>
          </a:xfrm>
        </p:spPr>
        <p:txBody>
          <a:bodyPr/>
          <a:lstStyle/>
          <a:p>
            <a:r>
              <a:rPr lang="ko-KR" altLang="en-US" dirty="0" err="1"/>
              <a:t>유즈케이스를</a:t>
            </a:r>
            <a:r>
              <a:rPr lang="ko-KR" altLang="en-US" dirty="0"/>
              <a:t> 통해 기능 요구사항 도출</a:t>
            </a:r>
          </a:p>
        </p:txBody>
      </p:sp>
      <p:pic>
        <p:nvPicPr>
          <p:cNvPr id="8" name="그림 7">
            <a:extLst>
              <a:ext uri="{FF2B5EF4-FFF2-40B4-BE49-F238E27FC236}">
                <a16:creationId xmlns:a16="http://schemas.microsoft.com/office/drawing/2014/main" id="{A1AF7896-6868-5DD1-4FBC-3F8902725D7B}"/>
              </a:ext>
            </a:extLst>
          </p:cNvPr>
          <p:cNvPicPr>
            <a:picLocks noChangeAspect="1"/>
          </p:cNvPicPr>
          <p:nvPr/>
        </p:nvPicPr>
        <p:blipFill>
          <a:blip r:embed="rId2"/>
          <a:stretch>
            <a:fillRect/>
          </a:stretch>
        </p:blipFill>
        <p:spPr>
          <a:xfrm>
            <a:off x="1005204" y="1519309"/>
            <a:ext cx="3654680" cy="3089617"/>
          </a:xfrm>
          <a:prstGeom prst="rect">
            <a:avLst/>
          </a:prstGeom>
        </p:spPr>
      </p:pic>
      <p:graphicFrame>
        <p:nvGraphicFramePr>
          <p:cNvPr id="9" name="개체 8">
            <a:extLst>
              <a:ext uri="{FF2B5EF4-FFF2-40B4-BE49-F238E27FC236}">
                <a16:creationId xmlns:a16="http://schemas.microsoft.com/office/drawing/2014/main" id="{C46D0A4F-083C-C9A4-5139-06C9CD4DDF98}"/>
              </a:ext>
            </a:extLst>
          </p:cNvPr>
          <p:cNvGraphicFramePr>
            <a:graphicFrameLocks noChangeAspect="1"/>
          </p:cNvGraphicFramePr>
          <p:nvPr>
            <p:extLst>
              <p:ext uri="{D42A27DB-BD31-4B8C-83A1-F6EECF244321}">
                <p14:modId xmlns:p14="http://schemas.microsoft.com/office/powerpoint/2010/main" val="3096668240"/>
              </p:ext>
            </p:extLst>
          </p:nvPr>
        </p:nvGraphicFramePr>
        <p:xfrm>
          <a:off x="6204399" y="2271954"/>
          <a:ext cx="914400" cy="792163"/>
        </p:xfrm>
        <a:graphic>
          <a:graphicData uri="http://schemas.openxmlformats.org/presentationml/2006/ole">
            <mc:AlternateContent xmlns:mc="http://schemas.openxmlformats.org/markup-compatibility/2006">
              <mc:Choice xmlns:v="urn:schemas-microsoft-com:vml" Requires="v">
                <p:oleObj name="Document" showAsIcon="1" r:id="rId3" imgW="914400" imgH="792431" progId="Word.Document.12">
                  <p:embed/>
                </p:oleObj>
              </mc:Choice>
              <mc:Fallback>
                <p:oleObj name="Document" showAsIcon="1" r:id="rId3" imgW="914400" imgH="792431" progId="Word.Document.12">
                  <p:embed/>
                  <p:pic>
                    <p:nvPicPr>
                      <p:cNvPr id="0" name=""/>
                      <p:cNvPicPr/>
                      <p:nvPr/>
                    </p:nvPicPr>
                    <p:blipFill>
                      <a:blip r:embed="rId4"/>
                      <a:stretch>
                        <a:fillRect/>
                      </a:stretch>
                    </p:blipFill>
                    <p:spPr>
                      <a:xfrm>
                        <a:off x="6204399" y="2271954"/>
                        <a:ext cx="914400" cy="792163"/>
                      </a:xfrm>
                      <a:prstGeom prst="rect">
                        <a:avLst/>
                      </a:prstGeom>
                    </p:spPr>
                  </p:pic>
                </p:oleObj>
              </mc:Fallback>
            </mc:AlternateContent>
          </a:graphicData>
        </a:graphic>
      </p:graphicFrame>
    </p:spTree>
    <p:extLst>
      <p:ext uri="{BB962C8B-B14F-4D97-AF65-F5344CB8AC3E}">
        <p14:creationId xmlns:p14="http://schemas.microsoft.com/office/powerpoint/2010/main" val="398105401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69DF490-8EB9-3E6B-8734-CCC05A242005}"/>
              </a:ext>
            </a:extLst>
          </p:cNvPr>
          <p:cNvSpPr>
            <a:spLocks noGrp="1"/>
          </p:cNvSpPr>
          <p:nvPr>
            <p:ph type="title"/>
          </p:nvPr>
        </p:nvSpPr>
        <p:spPr>
          <a:xfrm>
            <a:off x="236765" y="166913"/>
            <a:ext cx="5657598" cy="409575"/>
          </a:xfrm>
        </p:spPr>
        <p:txBody>
          <a:bodyPr>
            <a:normAutofit/>
          </a:bodyPr>
          <a:lstStyle/>
          <a:p>
            <a:r>
              <a:rPr lang="en-US" altLang="ko-KR" dirty="0"/>
              <a:t>Utility Tree</a:t>
            </a:r>
            <a:endParaRPr lang="ko-KR" altLang="en-US" dirty="0"/>
          </a:p>
        </p:txBody>
      </p:sp>
      <p:graphicFrame>
        <p:nvGraphicFramePr>
          <p:cNvPr id="6" name="개체 5">
            <a:extLst>
              <a:ext uri="{FF2B5EF4-FFF2-40B4-BE49-F238E27FC236}">
                <a16:creationId xmlns:a16="http://schemas.microsoft.com/office/drawing/2014/main" id="{6C8564C9-FE02-F29C-2344-B61D28AEBCA3}"/>
              </a:ext>
            </a:extLst>
          </p:cNvPr>
          <p:cNvGraphicFramePr>
            <a:graphicFrameLocks noChangeAspect="1"/>
          </p:cNvGraphicFramePr>
          <p:nvPr>
            <p:extLst>
              <p:ext uri="{D42A27DB-BD31-4B8C-83A1-F6EECF244321}">
                <p14:modId xmlns:p14="http://schemas.microsoft.com/office/powerpoint/2010/main" val="755482594"/>
              </p:ext>
            </p:extLst>
          </p:nvPr>
        </p:nvGraphicFramePr>
        <p:xfrm>
          <a:off x="7024631" y="1839117"/>
          <a:ext cx="1587783" cy="2090908"/>
        </p:xfrm>
        <a:graphic>
          <a:graphicData uri="http://schemas.openxmlformats.org/presentationml/2006/ole">
            <mc:AlternateContent xmlns:mc="http://schemas.openxmlformats.org/markup-compatibility/2006">
              <mc:Choice xmlns:v="urn:schemas-microsoft-com:vml" Requires="v">
                <p:oleObj name="Document" r:id="rId2" imgW="6553418" imgH="8628090" progId="Word.Document.12">
                  <p:embed/>
                </p:oleObj>
              </mc:Choice>
              <mc:Fallback>
                <p:oleObj name="Document" r:id="rId2" imgW="6553418" imgH="8628090" progId="Word.Document.12">
                  <p:embed/>
                  <p:pic>
                    <p:nvPicPr>
                      <p:cNvPr id="0" name=""/>
                      <p:cNvPicPr/>
                      <p:nvPr/>
                    </p:nvPicPr>
                    <p:blipFill>
                      <a:blip r:embed="rId3"/>
                      <a:stretch>
                        <a:fillRect/>
                      </a:stretch>
                    </p:blipFill>
                    <p:spPr>
                      <a:xfrm>
                        <a:off x="7024631" y="1839117"/>
                        <a:ext cx="1587783" cy="2090908"/>
                      </a:xfrm>
                      <a:prstGeom prst="rect">
                        <a:avLst/>
                      </a:prstGeom>
                    </p:spPr>
                  </p:pic>
                </p:oleObj>
              </mc:Fallback>
            </mc:AlternateContent>
          </a:graphicData>
        </a:graphic>
      </p:graphicFrame>
      <p:sp>
        <p:nvSpPr>
          <p:cNvPr id="3" name="내용 개체 틀 2">
            <a:extLst>
              <a:ext uri="{FF2B5EF4-FFF2-40B4-BE49-F238E27FC236}">
                <a16:creationId xmlns:a16="http://schemas.microsoft.com/office/drawing/2014/main" id="{C92F5BF3-2473-53AE-7000-BA9D16F46EBE}"/>
              </a:ext>
            </a:extLst>
          </p:cNvPr>
          <p:cNvSpPr>
            <a:spLocks noGrp="1"/>
          </p:cNvSpPr>
          <p:nvPr>
            <p:ph idx="1"/>
          </p:nvPr>
        </p:nvSpPr>
        <p:spPr>
          <a:xfrm>
            <a:off x="333829" y="721467"/>
            <a:ext cx="8181521" cy="2998478"/>
          </a:xfrm>
        </p:spPr>
        <p:txBody>
          <a:bodyPr/>
          <a:lstStyle/>
          <a:p>
            <a:r>
              <a:rPr lang="en-US" altLang="ko-KR" dirty="0"/>
              <a:t>Utility Tree</a:t>
            </a:r>
            <a:r>
              <a:rPr lang="ko-KR" altLang="en-US" dirty="0"/>
              <a:t>를 이용하여 품질 속성 도출</a:t>
            </a:r>
          </a:p>
        </p:txBody>
      </p:sp>
      <p:pic>
        <p:nvPicPr>
          <p:cNvPr id="8" name="그림 7">
            <a:extLst>
              <a:ext uri="{FF2B5EF4-FFF2-40B4-BE49-F238E27FC236}">
                <a16:creationId xmlns:a16="http://schemas.microsoft.com/office/drawing/2014/main" id="{D7741D25-8B78-0443-815F-1449DFD4FFA4}"/>
              </a:ext>
            </a:extLst>
          </p:cNvPr>
          <p:cNvPicPr>
            <a:picLocks noChangeAspect="1"/>
          </p:cNvPicPr>
          <p:nvPr/>
        </p:nvPicPr>
        <p:blipFill>
          <a:blip r:embed="rId4"/>
          <a:stretch>
            <a:fillRect/>
          </a:stretch>
        </p:blipFill>
        <p:spPr>
          <a:xfrm>
            <a:off x="236765" y="1717715"/>
            <a:ext cx="6597326" cy="2529431"/>
          </a:xfrm>
          <a:prstGeom prst="rect">
            <a:avLst/>
          </a:prstGeom>
        </p:spPr>
      </p:pic>
    </p:spTree>
    <p:extLst>
      <p:ext uri="{BB962C8B-B14F-4D97-AF65-F5344CB8AC3E}">
        <p14:creationId xmlns:p14="http://schemas.microsoft.com/office/powerpoint/2010/main" val="8065742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FDECBA3-27F1-C107-F5A7-A77A5F409348}"/>
              </a:ext>
            </a:extLst>
          </p:cNvPr>
          <p:cNvSpPr>
            <a:spLocks noGrp="1"/>
          </p:cNvSpPr>
          <p:nvPr>
            <p:ph type="title"/>
          </p:nvPr>
        </p:nvSpPr>
        <p:spPr/>
        <p:txBody>
          <a:bodyPr/>
          <a:lstStyle/>
          <a:p>
            <a:r>
              <a:rPr lang="ko-KR" altLang="en-US" dirty="0"/>
              <a:t>품질 속성 평가</a:t>
            </a:r>
          </a:p>
        </p:txBody>
      </p:sp>
      <p:graphicFrame>
        <p:nvGraphicFramePr>
          <p:cNvPr id="9" name="표 8">
            <a:extLst>
              <a:ext uri="{FF2B5EF4-FFF2-40B4-BE49-F238E27FC236}">
                <a16:creationId xmlns:a16="http://schemas.microsoft.com/office/drawing/2014/main" id="{34F1CE17-A47C-D24C-E62E-E113DF98A275}"/>
              </a:ext>
            </a:extLst>
          </p:cNvPr>
          <p:cNvGraphicFramePr>
            <a:graphicFrameLocks noGrp="1"/>
          </p:cNvGraphicFramePr>
          <p:nvPr>
            <p:extLst>
              <p:ext uri="{D42A27DB-BD31-4B8C-83A1-F6EECF244321}">
                <p14:modId xmlns:p14="http://schemas.microsoft.com/office/powerpoint/2010/main" val="1135471960"/>
              </p:ext>
            </p:extLst>
          </p:nvPr>
        </p:nvGraphicFramePr>
        <p:xfrm>
          <a:off x="523396" y="848366"/>
          <a:ext cx="7758832" cy="3446767"/>
        </p:xfrm>
        <a:graphic>
          <a:graphicData uri="http://schemas.openxmlformats.org/drawingml/2006/table">
            <a:tbl>
              <a:tblPr>
                <a:tableStyleId>{5C22544A-7EE6-4342-B048-85BDC9FD1C3A}</a:tableStyleId>
              </a:tblPr>
              <a:tblGrid>
                <a:gridCol w="1347863">
                  <a:extLst>
                    <a:ext uri="{9D8B030D-6E8A-4147-A177-3AD203B41FA5}">
                      <a16:colId xmlns:a16="http://schemas.microsoft.com/office/drawing/2014/main" val="421462267"/>
                    </a:ext>
                  </a:extLst>
                </a:gridCol>
                <a:gridCol w="5192009">
                  <a:extLst>
                    <a:ext uri="{9D8B030D-6E8A-4147-A177-3AD203B41FA5}">
                      <a16:colId xmlns:a16="http://schemas.microsoft.com/office/drawing/2014/main" val="192891183"/>
                    </a:ext>
                  </a:extLst>
                </a:gridCol>
                <a:gridCol w="406320">
                  <a:extLst>
                    <a:ext uri="{9D8B030D-6E8A-4147-A177-3AD203B41FA5}">
                      <a16:colId xmlns:a16="http://schemas.microsoft.com/office/drawing/2014/main" val="1874532877"/>
                    </a:ext>
                  </a:extLst>
                </a:gridCol>
                <a:gridCol w="406320">
                  <a:extLst>
                    <a:ext uri="{9D8B030D-6E8A-4147-A177-3AD203B41FA5}">
                      <a16:colId xmlns:a16="http://schemas.microsoft.com/office/drawing/2014/main" val="2868964725"/>
                    </a:ext>
                  </a:extLst>
                </a:gridCol>
                <a:gridCol w="406320">
                  <a:extLst>
                    <a:ext uri="{9D8B030D-6E8A-4147-A177-3AD203B41FA5}">
                      <a16:colId xmlns:a16="http://schemas.microsoft.com/office/drawing/2014/main" val="2226572675"/>
                    </a:ext>
                  </a:extLst>
                </a:gridCol>
              </a:tblGrid>
              <a:tr h="306079">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품질 속성</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설명</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중요도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난이도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tc>
                  <a:txBody>
                    <a:bodyPr/>
                    <a:lstStyle/>
                    <a:p>
                      <a:pPr algn="ctr" fontAlgn="ctr">
                        <a:buNone/>
                      </a:pPr>
                      <a:r>
                        <a:rPr lang="ko-KR" sz="700" b="1" i="0" u="none" strike="noStrike" dirty="0">
                          <a:solidFill>
                            <a:schemeClr val="bg1"/>
                          </a:solidFill>
                          <a:effectLst/>
                          <a:latin typeface="Segoe UI" panose="020B0502040204020203" pitchFamily="34" charset="0"/>
                          <a:ea typeface="맑은 고딕" panose="020B0503020000020004" pitchFamily="50" charset="-127"/>
                        </a:rPr>
                        <a:t>우선순위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50000"/>
                      </a:schemeClr>
                    </a:solidFill>
                  </a:tcPr>
                </a:tc>
                <a:extLst>
                  <a:ext uri="{0D108BD9-81ED-4DB2-BD59-A6C34878D82A}">
                    <a16:rowId xmlns:a16="http://schemas.microsoft.com/office/drawing/2014/main" val="1624469146"/>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성능 (반환 시간)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카메라 영상 입력부터 Host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Application</a:t>
                      </a:r>
                      <a:r>
                        <a:rPr lang="ko-KR" sz="700" b="0" i="0" u="none" strike="noStrike" dirty="0">
                          <a:solidFill>
                            <a:srgbClr val="333333"/>
                          </a:solidFill>
                          <a:effectLst/>
                          <a:latin typeface="Segoe UI" panose="020B0502040204020203" pitchFamily="34" charset="0"/>
                          <a:ea typeface="맑은 고딕" panose="020B0503020000020004" pitchFamily="50" charset="-127"/>
                        </a:rPr>
                        <a:t> 전달 완료까지의 평균 시간(</a:t>
                      </a:r>
                      <a:r>
                        <a:rPr lang="ko-KR" sz="700" b="0" i="0" u="none" strike="noStrike" dirty="0" err="1">
                          <a:solidFill>
                            <a:srgbClr val="333333"/>
                          </a:solidFill>
                          <a:effectLst/>
                          <a:latin typeface="Segoe UI" panose="020B0502040204020203" pitchFamily="34" charset="0"/>
                          <a:ea typeface="맑은 고딕" panose="020B0503020000020004" pitchFamily="50" charset="-127"/>
                        </a:rPr>
                        <a:t>ms</a:t>
                      </a:r>
                      <a:r>
                        <a:rPr lang="ko-KR" sz="700" b="0" i="0" u="none" strike="noStrike" dirty="0">
                          <a:solidFill>
                            <a:srgbClr val="333333"/>
                          </a:solidFill>
                          <a:effectLst/>
                          <a:latin typeface="Segoe UI" panose="020B0502040204020203" pitchFamily="34" charset="0"/>
                          <a:ea typeface="맑은 고딕" panose="020B0503020000020004" pitchFamily="50" charset="-127"/>
                        </a:rPr>
                        <a:t>)이 목표 시간을 만족해야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1</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834044848"/>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&lt;=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카메라 영상 입력부터 Host 전달 완료까지의 평균 시간(</a:t>
                      </a:r>
                      <a:r>
                        <a:rPr lang="ko-KR" sz="700" b="0" i="0" u="none" strike="noStrike" dirty="0" err="1">
                          <a:solidFill>
                            <a:srgbClr val="333333"/>
                          </a:solidFill>
                          <a:effectLst/>
                          <a:latin typeface="Segoe UI" panose="020B0502040204020203" pitchFamily="34" charset="0"/>
                          <a:ea typeface="맑은 고딕" panose="020B0503020000020004" pitchFamily="50" charset="-127"/>
                        </a:rPr>
                        <a:t>ms</a:t>
                      </a:r>
                      <a:r>
                        <a:rPr lang="ko-KR" sz="700" b="0" i="0" u="none" strike="noStrike" dirty="0">
                          <a:solidFill>
                            <a:srgbClr val="333333"/>
                          </a:solidFill>
                          <a:effectLst/>
                          <a:latin typeface="Segoe UI" panose="020B0502040204020203" pitchFamily="34" charset="0"/>
                          <a:ea typeface="맑은 고딕" panose="020B0503020000020004" pitchFamily="50" charset="-127"/>
                        </a:rPr>
                        <a:t>)] KPI: 10ms (720p, RGB24, AI 추론 구간 제외)</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968641643"/>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성능 (메모리 사용량)</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다중 시나리오가 운용 중일 때 사용되는 메모리 사용량을 가능한 낮게 유지해야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2</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323893"/>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 A: 다중 시나리오에 사용되는 총 메모리 크기.] KPI: 낮을수록 좋음 (시나리오에 따라 사용량이 다름으로 상대 평가)</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1869156256"/>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신뢰성 (고장 회피)</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결함 테스트에서 시스템에서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Critical</a:t>
                      </a:r>
                      <a:r>
                        <a:rPr lang="ko-KR" sz="700" b="0" i="0" u="none" strike="noStrike" dirty="0">
                          <a:solidFill>
                            <a:srgbClr val="333333"/>
                          </a:solidFill>
                          <a:effectLst/>
                          <a:latin typeface="Segoe UI" panose="020B0502040204020203" pitchFamily="34" charset="0"/>
                          <a:ea typeface="맑은 고딕" panose="020B0503020000020004" pitchFamily="50" charset="-127"/>
                        </a:rPr>
                        <a:t> 고장이 발생되면 안된다.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5</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96361816"/>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고장으로 이어지지 않은 테스트 수, B: 전체 테스트 수] KPI: 100%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501684768"/>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보안성 (접근 통제)</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도메인 간 전달되는 데이터는 시스템에 의해서 접근 통제되어야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H</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3</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412798009"/>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접근 통제된 기밀 데이터 항목 수, B: 접근 통제가 요구되는 기밀 데이터 항목 수] KPI: 100%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1526578885"/>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유지보수성 (모듈 결합도)</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신규 요구사항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추가시</a:t>
                      </a:r>
                      <a:r>
                        <a:rPr lang="ko-KR" sz="700" b="0" i="0" u="none" strike="noStrike" dirty="0">
                          <a:solidFill>
                            <a:srgbClr val="333333"/>
                          </a:solidFill>
                          <a:effectLst/>
                          <a:latin typeface="Segoe UI" panose="020B0502040204020203" pitchFamily="34" charset="0"/>
                          <a:ea typeface="맑은 고딕" panose="020B0503020000020004" pitchFamily="50" charset="-127"/>
                        </a:rPr>
                        <a:t> 다른 모듈에 영향을 주지 않는 모듈의 비율이 최대가 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65035298"/>
                  </a:ext>
                </a:extLst>
              </a:tr>
              <a:tr h="196293">
                <a:tc vMerge="1">
                  <a:txBody>
                    <a:bodyPr/>
                    <a:lstStyle/>
                    <a:p>
                      <a:pPr latinLnBrk="1"/>
                      <a:endParaRPr lang="ko-KR" altLang="en-US"/>
                    </a:p>
                  </a:txBody>
                  <a:tcPr/>
                </a:tc>
                <a:tc>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[X = A/B. A: 영향을 주지 않는 모듈 수, B: 전체 모듈 수] KPI: 높을수록 좋음 (상대 평가)</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4237633233"/>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유지보수성 (모듈 재사용)</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신규 시나리오 추가 시 전체 자산의 100%가 재사용 가능하도록 설계/구축되어야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dirty="0" err="1">
                          <a:solidFill>
                            <a:srgbClr val="333333"/>
                          </a:solidFill>
                          <a:effectLst/>
                          <a:latin typeface="Segoe UI" panose="020B0502040204020203" pitchFamily="34" charset="0"/>
                          <a:ea typeface="맑은 고딕" panose="020B0503020000020004" pitchFamily="50" charset="-127"/>
                        </a:rPr>
                        <a:t>H</a:t>
                      </a:r>
                      <a:endParaRPr lang="ko-KR" sz="700" b="0" i="0" u="none" strike="noStrike" dirty="0">
                        <a:solidFill>
                          <a:srgbClr val="333333"/>
                        </a:solidFill>
                        <a:effectLst/>
                        <a:latin typeface="Segoe UI" panose="020B0502040204020203" pitchFamily="34" charset="0"/>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4</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98135015"/>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재사용되는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모듈수</a:t>
                      </a:r>
                      <a:r>
                        <a:rPr lang="ko-KR" sz="700" b="0" i="0" u="none" strike="noStrike" dirty="0">
                          <a:solidFill>
                            <a:srgbClr val="333333"/>
                          </a:solidFill>
                          <a:effectLst/>
                          <a:latin typeface="Segoe UI" panose="020B0502040204020203" pitchFamily="34" charset="0"/>
                          <a:ea typeface="맑은 고딕" panose="020B0503020000020004" pitchFamily="50" charset="-127"/>
                        </a:rPr>
                        <a:t>, B: 전체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모듈수</a:t>
                      </a:r>
                      <a:r>
                        <a:rPr lang="ko-KR" sz="700" b="0" i="0" u="none" strike="noStrike" dirty="0">
                          <a:solidFill>
                            <a:srgbClr val="333333"/>
                          </a:solidFill>
                          <a:effectLst/>
                          <a:latin typeface="Segoe UI" panose="020B0502040204020203" pitchFamily="34" charset="0"/>
                          <a:ea typeface="맑은 고딕" panose="020B0503020000020004" pitchFamily="50" charset="-127"/>
                        </a:rPr>
                        <a:t>] KPI: 100%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1983805488"/>
                  </a:ext>
                </a:extLst>
              </a:tr>
              <a:tr h="196293">
                <a:tc rowSpan="2">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이식성 (SOC 변경)</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SoC 변경에 따라 변경되는 모듈이 없어야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dirty="0" err="1">
                          <a:solidFill>
                            <a:srgbClr val="333333"/>
                          </a:solidFill>
                          <a:effectLst/>
                          <a:latin typeface="Segoe UI" panose="020B0502040204020203" pitchFamily="34" charset="0"/>
                          <a:ea typeface="맑은 고딕" panose="020B0503020000020004" pitchFamily="50" charset="-127"/>
                        </a:rPr>
                        <a:t>M</a:t>
                      </a:r>
                      <a:endParaRPr lang="ko-KR" sz="700" b="0" i="0" u="none" strike="noStrike" dirty="0">
                        <a:solidFill>
                          <a:srgbClr val="333333"/>
                        </a:solidFill>
                        <a:effectLst/>
                        <a:latin typeface="Segoe UI" panose="020B0502040204020203" pitchFamily="34" charset="0"/>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1622335"/>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변경되는 모듈 수, B: 전체 모듈 수] KPI: 0%</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4003655052"/>
                  </a:ext>
                </a:extLst>
              </a:tr>
              <a:tr h="196293">
                <a:tc rowSpan="2">
                  <a:txBody>
                    <a:bodyPr/>
                    <a:lstStyle/>
                    <a:p>
                      <a:pPr algn="l" fontAlgn="ctr">
                        <a:buNone/>
                      </a:pPr>
                      <a:r>
                        <a:rPr lang="ko-KR" sz="700" b="0" i="0" u="none" strike="noStrike" dirty="0" err="1">
                          <a:solidFill>
                            <a:srgbClr val="333333"/>
                          </a:solidFill>
                          <a:effectLst/>
                          <a:latin typeface="Segoe UI" panose="020B0502040204020203" pitchFamily="34" charset="0"/>
                          <a:ea typeface="맑은 고딕" panose="020B0503020000020004" pitchFamily="50" charset="-127"/>
                        </a:rPr>
                        <a:t>이식성</a:t>
                      </a:r>
                      <a:r>
                        <a:rPr lang="ko-KR" sz="700" b="0" i="0" u="none" strike="noStrike" dirty="0">
                          <a:solidFill>
                            <a:srgbClr val="333333"/>
                          </a:solidFill>
                          <a:effectLst/>
                          <a:latin typeface="Segoe UI" panose="020B0502040204020203" pitchFamily="34" charset="0"/>
                          <a:ea typeface="맑은 고딕" panose="020B0503020000020004" pitchFamily="50" charset="-127"/>
                        </a:rPr>
                        <a:t> (OS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update</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OS update에 따라 변경되는 모듈 수를 최소화하여야 한다.</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M</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dirty="0" err="1">
                          <a:solidFill>
                            <a:srgbClr val="333333"/>
                          </a:solidFill>
                          <a:effectLst/>
                          <a:latin typeface="Segoe UI" panose="020B0502040204020203" pitchFamily="34" charset="0"/>
                          <a:ea typeface="맑은 고딕" panose="020B0503020000020004" pitchFamily="50" charset="-127"/>
                        </a:rPr>
                        <a:t>M</a:t>
                      </a:r>
                      <a:endParaRPr lang="ko-KR" sz="700" b="0" i="0" u="none" strike="noStrike" dirty="0">
                        <a:solidFill>
                          <a:srgbClr val="333333"/>
                        </a:solidFill>
                        <a:effectLst/>
                        <a:latin typeface="Segoe UI" panose="020B0502040204020203" pitchFamily="34" charset="0"/>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algn="ctr" fontAlgn="ctr">
                        <a:buNone/>
                      </a:pPr>
                      <a:r>
                        <a:rPr lang="ko-KR" sz="700" b="0" i="0" u="none" strike="noStrike">
                          <a:solidFill>
                            <a:srgbClr val="333333"/>
                          </a:solidFill>
                          <a:effectLst/>
                          <a:latin typeface="Segoe UI" panose="020B0502040204020203" pitchFamily="34" charset="0"/>
                          <a:ea typeface="맑은 고딕" panose="020B0503020000020004" pitchFamily="50" charset="-127"/>
                        </a:rPr>
                        <a:t>-</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47689106"/>
                  </a:ext>
                </a:extLst>
              </a:tr>
              <a:tr h="196293">
                <a:tc vMerge="1">
                  <a:txBody>
                    <a:bodyPr/>
                    <a:lstStyle/>
                    <a:p>
                      <a:pPr latinLnBrk="1"/>
                      <a:endParaRPr lang="ko-KR" altLang="en-US"/>
                    </a:p>
                  </a:txBody>
                  <a:tcPr/>
                </a:tc>
                <a:tc>
                  <a:txBody>
                    <a:bodyPr/>
                    <a:lstStyle/>
                    <a:p>
                      <a:pPr algn="l" fontAlgn="ctr">
                        <a:buNone/>
                      </a:pP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X</a:t>
                      </a:r>
                      <a:r>
                        <a:rPr lang="ko-KR" sz="700" b="0" i="0" u="none" strike="noStrike" dirty="0">
                          <a:solidFill>
                            <a:srgbClr val="333333"/>
                          </a:solidFill>
                          <a:effectLst/>
                          <a:latin typeface="Segoe UI" panose="020B0502040204020203" pitchFamily="34" charset="0"/>
                          <a:ea typeface="맑은 고딕" panose="020B0503020000020004" pitchFamily="50" charset="-127"/>
                        </a:rPr>
                        <a:t> =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A</a:t>
                      </a:r>
                      <a:r>
                        <a:rPr lang="ko-KR" sz="700" b="0" i="0" u="none" strike="noStrike" dirty="0">
                          <a:solidFill>
                            <a:srgbClr val="333333"/>
                          </a:solidFill>
                          <a:effectLst/>
                          <a:latin typeface="Segoe UI" panose="020B0502040204020203" pitchFamily="34" charset="0"/>
                          <a:ea typeface="맑은 고딕" panose="020B0503020000020004" pitchFamily="50" charset="-127"/>
                        </a:rPr>
                        <a:t>/</a:t>
                      </a:r>
                      <a:r>
                        <a:rPr lang="ko-KR" sz="700" b="0" i="0" u="none" strike="noStrike" dirty="0" err="1">
                          <a:solidFill>
                            <a:srgbClr val="333333"/>
                          </a:solidFill>
                          <a:effectLst/>
                          <a:latin typeface="Segoe UI" panose="020B0502040204020203" pitchFamily="34" charset="0"/>
                          <a:ea typeface="맑은 고딕" panose="020B0503020000020004" pitchFamily="50" charset="-127"/>
                        </a:rPr>
                        <a:t>B</a:t>
                      </a:r>
                      <a:r>
                        <a:rPr lang="ko-KR" sz="700" b="0" i="0" u="none" strike="noStrike" dirty="0">
                          <a:solidFill>
                            <a:srgbClr val="333333"/>
                          </a:solidFill>
                          <a:effectLst/>
                          <a:latin typeface="Segoe UI" panose="020B0502040204020203" pitchFamily="34" charset="0"/>
                          <a:ea typeface="맑은 고딕" panose="020B0503020000020004" pitchFamily="50" charset="-127"/>
                        </a:rPr>
                        <a:t>. A: OS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update시</a:t>
                      </a:r>
                      <a:r>
                        <a:rPr lang="ko-KR" sz="700" b="0" i="0" u="none" strike="noStrike" dirty="0">
                          <a:solidFill>
                            <a:srgbClr val="333333"/>
                          </a:solidFill>
                          <a:effectLst/>
                          <a:latin typeface="Segoe UI" panose="020B0502040204020203" pitchFamily="34" charset="0"/>
                          <a:ea typeface="맑은 고딕" panose="020B0503020000020004" pitchFamily="50" charset="-127"/>
                        </a:rPr>
                        <a:t> 변경이 필요한 모듈 수, B: 전체 </a:t>
                      </a:r>
                      <a:r>
                        <a:rPr lang="ko-KR" sz="700" b="0" i="0" u="none" strike="noStrike" dirty="0" err="1">
                          <a:solidFill>
                            <a:srgbClr val="333333"/>
                          </a:solidFill>
                          <a:effectLst/>
                          <a:latin typeface="Segoe UI" panose="020B0502040204020203" pitchFamily="34" charset="0"/>
                          <a:ea typeface="맑은 고딕" panose="020B0503020000020004" pitchFamily="50" charset="-127"/>
                        </a:rPr>
                        <a:t>모듈수</a:t>
                      </a:r>
                      <a:r>
                        <a:rPr lang="ko-KR" sz="700" b="0" i="0" u="none" strike="noStrike" dirty="0">
                          <a:solidFill>
                            <a:srgbClr val="333333"/>
                          </a:solidFill>
                          <a:effectLst/>
                          <a:latin typeface="Segoe UI" panose="020B0502040204020203" pitchFamily="34" charset="0"/>
                          <a:ea typeface="맑은 고딕" panose="020B0503020000020004" pitchFamily="50" charset="-127"/>
                        </a:rPr>
                        <a:t>] KPI: 낮을수록 좋음 (상대평가)</a:t>
                      </a: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vMerge="1">
                  <a:txBody>
                    <a:bodyPr/>
                    <a:lstStyle/>
                    <a:p>
                      <a:pPr latinLnBrk="1"/>
                      <a:endParaRPr lang="ko-KR" altLang="en-US"/>
                    </a:p>
                  </a:txBody>
                  <a:tcPr/>
                </a:tc>
                <a:tc vMerge="1">
                  <a:txBody>
                    <a:bodyPr/>
                    <a:lstStyle/>
                    <a:p>
                      <a:pPr latinLnBrk="1"/>
                      <a:endParaRPr lang="ko-KR" altLang="en-US"/>
                    </a:p>
                  </a:txBody>
                  <a:tcPr/>
                </a:tc>
                <a:tc vMerge="1">
                  <a:txBody>
                    <a:bodyPr/>
                    <a:lstStyle/>
                    <a:p>
                      <a:pPr latinLnBrk="1"/>
                      <a:endParaRPr lang="ko-KR" altLang="en-US"/>
                    </a:p>
                  </a:txBody>
                  <a:tcPr/>
                </a:tc>
                <a:extLst>
                  <a:ext uri="{0D108BD9-81ED-4DB2-BD59-A6C34878D82A}">
                    <a16:rowId xmlns:a16="http://schemas.microsoft.com/office/drawing/2014/main" val="879358686"/>
                  </a:ext>
                </a:extLst>
              </a:tr>
            </a:tbl>
          </a:graphicData>
        </a:graphic>
      </p:graphicFrame>
    </p:spTree>
    <p:extLst>
      <p:ext uri="{BB962C8B-B14F-4D97-AF65-F5344CB8AC3E}">
        <p14:creationId xmlns:p14="http://schemas.microsoft.com/office/powerpoint/2010/main" val="2569710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8E9FA2E-DB42-2B97-7821-FD1180FFC8C0}"/>
              </a:ext>
            </a:extLst>
          </p:cNvPr>
          <p:cNvSpPr>
            <a:spLocks noGrp="1"/>
          </p:cNvSpPr>
          <p:nvPr>
            <p:ph type="title"/>
          </p:nvPr>
        </p:nvSpPr>
        <p:spPr/>
        <p:txBody>
          <a:bodyPr/>
          <a:lstStyle/>
          <a:p>
            <a:r>
              <a:rPr lang="en-US" altLang="ko-KR" dirty="0"/>
              <a:t>VOS &lt;-&gt; AD</a:t>
            </a:r>
            <a:r>
              <a:rPr lang="ko-KR" altLang="en-US" dirty="0"/>
              <a:t> </a:t>
            </a:r>
            <a:r>
              <a:rPr lang="en-US" altLang="ko-KR" dirty="0"/>
              <a:t>matrix</a:t>
            </a:r>
            <a:endParaRPr lang="ko-KR" altLang="en-US" dirty="0"/>
          </a:p>
        </p:txBody>
      </p:sp>
      <p:graphicFrame>
        <p:nvGraphicFramePr>
          <p:cNvPr id="3" name="표 2">
            <a:extLst>
              <a:ext uri="{FF2B5EF4-FFF2-40B4-BE49-F238E27FC236}">
                <a16:creationId xmlns:a16="http://schemas.microsoft.com/office/drawing/2014/main" id="{73068690-801D-BBFA-8081-B04EEDF3F63E}"/>
              </a:ext>
            </a:extLst>
          </p:cNvPr>
          <p:cNvGraphicFramePr>
            <a:graphicFrameLocks noGrp="1"/>
          </p:cNvGraphicFramePr>
          <p:nvPr>
            <p:extLst>
              <p:ext uri="{D42A27DB-BD31-4B8C-83A1-F6EECF244321}">
                <p14:modId xmlns:p14="http://schemas.microsoft.com/office/powerpoint/2010/main" val="674371844"/>
              </p:ext>
            </p:extLst>
          </p:nvPr>
        </p:nvGraphicFramePr>
        <p:xfrm>
          <a:off x="485334" y="1139485"/>
          <a:ext cx="8269869" cy="3678698"/>
        </p:xfrm>
        <a:graphic>
          <a:graphicData uri="http://schemas.openxmlformats.org/drawingml/2006/table">
            <a:tbl>
              <a:tblPr>
                <a:tableStyleId>{5C22544A-7EE6-4342-B048-85BDC9FD1C3A}</a:tableStyleId>
              </a:tblPr>
              <a:tblGrid>
                <a:gridCol w="727749">
                  <a:extLst>
                    <a:ext uri="{9D8B030D-6E8A-4147-A177-3AD203B41FA5}">
                      <a16:colId xmlns:a16="http://schemas.microsoft.com/office/drawing/2014/main" val="1149177542"/>
                    </a:ext>
                  </a:extLst>
                </a:gridCol>
                <a:gridCol w="628510">
                  <a:extLst>
                    <a:ext uri="{9D8B030D-6E8A-4147-A177-3AD203B41FA5}">
                      <a16:colId xmlns:a16="http://schemas.microsoft.com/office/drawing/2014/main" val="3866760694"/>
                    </a:ext>
                  </a:extLst>
                </a:gridCol>
                <a:gridCol w="628510">
                  <a:extLst>
                    <a:ext uri="{9D8B030D-6E8A-4147-A177-3AD203B41FA5}">
                      <a16:colId xmlns:a16="http://schemas.microsoft.com/office/drawing/2014/main" val="1479597408"/>
                    </a:ext>
                  </a:extLst>
                </a:gridCol>
                <a:gridCol w="628510">
                  <a:extLst>
                    <a:ext uri="{9D8B030D-6E8A-4147-A177-3AD203B41FA5}">
                      <a16:colId xmlns:a16="http://schemas.microsoft.com/office/drawing/2014/main" val="1785814550"/>
                    </a:ext>
                  </a:extLst>
                </a:gridCol>
                <a:gridCol w="628510">
                  <a:extLst>
                    <a:ext uri="{9D8B030D-6E8A-4147-A177-3AD203B41FA5}">
                      <a16:colId xmlns:a16="http://schemas.microsoft.com/office/drawing/2014/main" val="3347868613"/>
                    </a:ext>
                  </a:extLst>
                </a:gridCol>
                <a:gridCol w="628510">
                  <a:extLst>
                    <a:ext uri="{9D8B030D-6E8A-4147-A177-3AD203B41FA5}">
                      <a16:colId xmlns:a16="http://schemas.microsoft.com/office/drawing/2014/main" val="889759460"/>
                    </a:ext>
                  </a:extLst>
                </a:gridCol>
                <a:gridCol w="628510">
                  <a:extLst>
                    <a:ext uri="{9D8B030D-6E8A-4147-A177-3AD203B41FA5}">
                      <a16:colId xmlns:a16="http://schemas.microsoft.com/office/drawing/2014/main" val="2129834184"/>
                    </a:ext>
                  </a:extLst>
                </a:gridCol>
                <a:gridCol w="628510">
                  <a:extLst>
                    <a:ext uri="{9D8B030D-6E8A-4147-A177-3AD203B41FA5}">
                      <a16:colId xmlns:a16="http://schemas.microsoft.com/office/drawing/2014/main" val="249145514"/>
                    </a:ext>
                  </a:extLst>
                </a:gridCol>
                <a:gridCol w="628510">
                  <a:extLst>
                    <a:ext uri="{9D8B030D-6E8A-4147-A177-3AD203B41FA5}">
                      <a16:colId xmlns:a16="http://schemas.microsoft.com/office/drawing/2014/main" val="2491048535"/>
                    </a:ext>
                  </a:extLst>
                </a:gridCol>
                <a:gridCol w="628510">
                  <a:extLst>
                    <a:ext uri="{9D8B030D-6E8A-4147-A177-3AD203B41FA5}">
                      <a16:colId xmlns:a16="http://schemas.microsoft.com/office/drawing/2014/main" val="32095547"/>
                    </a:ext>
                  </a:extLst>
                </a:gridCol>
                <a:gridCol w="628510">
                  <a:extLst>
                    <a:ext uri="{9D8B030D-6E8A-4147-A177-3AD203B41FA5}">
                      <a16:colId xmlns:a16="http://schemas.microsoft.com/office/drawing/2014/main" val="2744932543"/>
                    </a:ext>
                  </a:extLst>
                </a:gridCol>
                <a:gridCol w="628510">
                  <a:extLst>
                    <a:ext uri="{9D8B030D-6E8A-4147-A177-3AD203B41FA5}">
                      <a16:colId xmlns:a16="http://schemas.microsoft.com/office/drawing/2014/main" val="527167149"/>
                    </a:ext>
                  </a:extLst>
                </a:gridCol>
                <a:gridCol w="628510">
                  <a:extLst>
                    <a:ext uri="{9D8B030D-6E8A-4147-A177-3AD203B41FA5}">
                      <a16:colId xmlns:a16="http://schemas.microsoft.com/office/drawing/2014/main" val="2244196224"/>
                    </a:ext>
                  </a:extLst>
                </a:gridCol>
              </a:tblGrid>
              <a:tr h="216394">
                <a:tc>
                  <a:txBody>
                    <a:bodyPr/>
                    <a:lstStyle/>
                    <a:p>
                      <a:pPr algn="ctr" fontAlgn="ctr">
                        <a:buNone/>
                      </a:pPr>
                      <a:r>
                        <a:rPr lang="ko-KR" sz="800" b="1" i="0" u="none" strike="noStrike">
                          <a:solidFill>
                            <a:srgbClr val="000000"/>
                          </a:solidFill>
                          <a:effectLst/>
                          <a:latin typeface="Segoe UI" panose="020B0502040204020203" pitchFamily="34" charset="0"/>
                          <a:ea typeface="맑은 고딕" panose="020B0503020000020004" pitchFamily="50" charset="-127"/>
                        </a:rPr>
                        <a:t>VOS ID</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1" i="0" u="none" strike="noStrike" dirty="0">
                          <a:solidFill>
                            <a:schemeClr val="bg1"/>
                          </a:solidFill>
                          <a:effectLst/>
                          <a:latin typeface="Segoe UI" panose="020B0502040204020203" pitchFamily="34" charset="0"/>
                          <a:ea typeface="맑은 고딕" panose="020B0503020000020004" pitchFamily="50" charset="-127"/>
                        </a:rPr>
                        <a:t>FR-01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FR-02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dirty="0">
                          <a:solidFill>
                            <a:schemeClr val="bg1"/>
                          </a:solidFill>
                          <a:effectLst/>
                          <a:latin typeface="Segoe UI" panose="020B0502040204020203" pitchFamily="34" charset="0"/>
                          <a:ea typeface="맑은 고딕" panose="020B0503020000020004" pitchFamily="50" charset="-127"/>
                        </a:rPr>
                        <a:t>FR-03</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FR-04</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FR-05</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FR-06</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QA-01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QA-02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QA-03</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QA-04</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50000"/>
                      </a:schemeClr>
                    </a:solidFill>
                  </a:tcPr>
                </a:tc>
                <a:tc>
                  <a:txBody>
                    <a:bodyPr/>
                    <a:lstStyle/>
                    <a:p>
                      <a:pPr algn="ctr" fontAlgn="ctr">
                        <a:buNone/>
                      </a:pPr>
                      <a:r>
                        <a:rPr lang="ko-KR" sz="800" b="1" i="0" u="none" strike="noStrike">
                          <a:solidFill>
                            <a:schemeClr val="bg1"/>
                          </a:solidFill>
                          <a:effectLst/>
                          <a:latin typeface="Segoe UI" panose="020B0502040204020203" pitchFamily="34" charset="0"/>
                          <a:ea typeface="맑은 고딕" panose="020B0503020000020004" pitchFamily="50" charset="-127"/>
                        </a:rPr>
                        <a:t>CS-01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50000"/>
                      </a:schemeClr>
                    </a:solidFill>
                  </a:tcPr>
                </a:tc>
                <a:tc>
                  <a:txBody>
                    <a:bodyPr/>
                    <a:lstStyle/>
                    <a:p>
                      <a:pPr algn="ctr" fontAlgn="ctr">
                        <a:buNone/>
                      </a:pPr>
                      <a:r>
                        <a:rPr lang="ko-KR" sz="800" b="1" i="0" u="none" strike="noStrike" dirty="0">
                          <a:solidFill>
                            <a:schemeClr val="bg1"/>
                          </a:solidFill>
                          <a:effectLst/>
                          <a:latin typeface="Segoe UI" panose="020B0502040204020203" pitchFamily="34" charset="0"/>
                          <a:ea typeface="맑은 고딕" panose="020B0503020000020004" pitchFamily="50" charset="-127"/>
                        </a:rPr>
                        <a:t>CS-02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50000"/>
                      </a:schemeClr>
                    </a:solidFill>
                  </a:tcPr>
                </a:tc>
                <a:extLst>
                  <a:ext uri="{0D108BD9-81ED-4DB2-BD59-A6C34878D82A}">
                    <a16:rowId xmlns:a16="http://schemas.microsoft.com/office/drawing/2014/main" val="944070012"/>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err="1">
                          <a:solidFill>
                            <a:srgbClr val="000000"/>
                          </a:solidFill>
                          <a:effectLst/>
                          <a:latin typeface="Segoe UI" panose="020B0502040204020203" pitchFamily="34" charset="0"/>
                          <a:ea typeface="맑은 고딕" panose="020B0503020000020004" pitchFamily="50" charset="-127"/>
                        </a:rPr>
                        <a:t>O</a:t>
                      </a:r>
                      <a:endParaRPr lang="ko-KR" sz="800" b="0" i="0" u="none" strike="noStrike" dirty="0">
                        <a:solidFill>
                          <a:srgbClr val="000000"/>
                        </a:solidFill>
                        <a:effectLst/>
                        <a:latin typeface="Segoe UI" panose="020B0502040204020203" pitchFamily="34" charset="0"/>
                        <a:ea typeface="맑은 고딕" panose="020B0503020000020004" pitchFamily="50" charset="-127"/>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err="1">
                          <a:solidFill>
                            <a:srgbClr val="000000"/>
                          </a:solidFill>
                          <a:effectLst/>
                          <a:latin typeface="Segoe UI" panose="020B0502040204020203" pitchFamily="34" charset="0"/>
                          <a:ea typeface="맑은 고딕" panose="020B0503020000020004" pitchFamily="50" charset="-127"/>
                        </a:rPr>
                        <a:t>O</a:t>
                      </a:r>
                      <a:endParaRPr lang="ko-KR" sz="800" b="0" i="0" u="none" strike="noStrike" dirty="0">
                        <a:solidFill>
                          <a:srgbClr val="000000"/>
                        </a:solidFill>
                        <a:effectLst/>
                        <a:latin typeface="Segoe UI" panose="020B0502040204020203" pitchFamily="34" charset="0"/>
                        <a:ea typeface="맑은 고딕" panose="020B0503020000020004" pitchFamily="50" charset="-127"/>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08050365"/>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7493440"/>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VOS-03</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96081"/>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VOS-04</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gridSpan="12">
                  <a:txBody>
                    <a:bodyPr/>
                    <a:lstStyle/>
                    <a:p>
                      <a:pPr algn="ctr" fontAlgn="ctr">
                        <a:buNone/>
                      </a:pPr>
                      <a:r>
                        <a:rPr lang="ko-KR" sz="800" b="0" i="0" u="none" strike="noStrike" dirty="0">
                          <a:solidFill>
                            <a:srgbClr val="000000"/>
                          </a:solidFill>
                          <a:effectLst/>
                          <a:latin typeface="맑은 고딕" panose="020B0503020000020004" pitchFamily="50" charset="-127"/>
                          <a:ea typeface="맑은 고딕" panose="020B0503020000020004" pitchFamily="50" charset="-127"/>
                        </a:rPr>
                        <a:t>중요</a:t>
                      </a:r>
                      <a:r>
                        <a:rPr lang="ko-KR" sz="800" b="0" i="0" u="none" strike="noStrike" dirty="0">
                          <a:solidFill>
                            <a:srgbClr val="000000"/>
                          </a:solidFill>
                          <a:effectLst/>
                          <a:latin typeface="Segoe UI" panose="020B0502040204020203" pitchFamily="34" charset="0"/>
                          <a:ea typeface="맑은 고딕" panose="020B0503020000020004" pitchFamily="50" charset="-127"/>
                        </a:rPr>
                        <a:t> </a:t>
                      </a:r>
                      <a:r>
                        <a:rPr lang="ko-KR" sz="800" b="0" i="0" u="none" strike="noStrike" dirty="0">
                          <a:solidFill>
                            <a:srgbClr val="000000"/>
                          </a:solidFill>
                          <a:effectLst/>
                          <a:latin typeface="맑은 고딕" panose="020B0503020000020004" pitchFamily="50" charset="-127"/>
                          <a:ea typeface="맑은 고딕" panose="020B0503020000020004" pitchFamily="50" charset="-127"/>
                        </a:rPr>
                        <a:t>품질속성</a:t>
                      </a:r>
                      <a:r>
                        <a:rPr lang="ko-KR" sz="800" b="0" i="0" u="none" strike="noStrike" dirty="0">
                          <a:solidFill>
                            <a:srgbClr val="000000"/>
                          </a:solidFill>
                          <a:effectLst/>
                          <a:latin typeface="Segoe UI" panose="020B0502040204020203" pitchFamily="34" charset="0"/>
                          <a:ea typeface="맑은 고딕" panose="020B0503020000020004" pitchFamily="50" charset="-127"/>
                        </a:rPr>
                        <a:t> </a:t>
                      </a:r>
                      <a:r>
                        <a:rPr lang="ko-KR" sz="800" b="0" i="0" u="none" strike="noStrike" dirty="0">
                          <a:solidFill>
                            <a:srgbClr val="000000"/>
                          </a:solidFill>
                          <a:effectLst/>
                          <a:latin typeface="맑은 고딕" panose="020B0503020000020004" pitchFamily="50" charset="-127"/>
                          <a:ea typeface="맑은 고딕" panose="020B0503020000020004" pitchFamily="50" charset="-127"/>
                        </a:rPr>
                        <a:t>아님</a:t>
                      </a:r>
                      <a:endParaRPr lang="ko-KR" sz="800" b="0" i="0" u="none" strike="noStrike" dirty="0">
                        <a:solidFill>
                          <a:srgbClr val="000000"/>
                        </a:solidFill>
                        <a:effectLst/>
                        <a:latin typeface="Segoe UI" panose="020B0502040204020203" pitchFamily="34" charset="0"/>
                        <a:ea typeface="맑은 고딕" panose="020B0503020000020004" pitchFamily="50" charset="-127"/>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2612014694"/>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VOS-05</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07076866"/>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VOS-06</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gridSpan="12">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일정/인력 관련 프로젝트 관리 사항으로 구조 설계에서 제외</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187637055"/>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VOS-07</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570237920"/>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VOS-08</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03473578"/>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VOS-09</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5521916"/>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VOS-10</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97550771"/>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VOS-11</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8454134"/>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VOS-12</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77930589"/>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VOS-13</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gridSpan="12">
                  <a:txBody>
                    <a:bodyPr/>
                    <a:lstStyle/>
                    <a:p>
                      <a:pPr algn="ctr" fontAlgn="ctr">
                        <a:buNone/>
                      </a:pPr>
                      <a:r>
                        <a:rPr lang="ko-KR" sz="800" b="0" i="0" u="none" strike="noStrike">
                          <a:solidFill>
                            <a:srgbClr val="000000"/>
                          </a:solidFill>
                          <a:effectLst/>
                          <a:latin typeface="맑은 고딕" panose="020B0503020000020004" pitchFamily="50" charset="-127"/>
                          <a:ea typeface="맑은 고딕" panose="020B0503020000020004" pitchFamily="50" charset="-127"/>
                        </a:rPr>
                        <a:t>중요</a:t>
                      </a:r>
                      <a:r>
                        <a:rPr lang="ko-KR" sz="800" b="0" i="0" u="none" strike="noStrike">
                          <a:solidFill>
                            <a:srgbClr val="000000"/>
                          </a:solidFill>
                          <a:effectLst/>
                          <a:latin typeface="Segoe UI" panose="020B0502040204020203" pitchFamily="34" charset="0"/>
                          <a:ea typeface="맑은 고딕" panose="020B0503020000020004" pitchFamily="50" charset="-127"/>
                        </a:rPr>
                        <a:t> </a:t>
                      </a:r>
                      <a:r>
                        <a:rPr lang="ko-KR" sz="800" b="0" i="0" u="none" strike="noStrike">
                          <a:solidFill>
                            <a:srgbClr val="000000"/>
                          </a:solidFill>
                          <a:effectLst/>
                          <a:latin typeface="맑은 고딕" panose="020B0503020000020004" pitchFamily="50" charset="-127"/>
                          <a:ea typeface="맑은 고딕" panose="020B0503020000020004" pitchFamily="50" charset="-127"/>
                        </a:rPr>
                        <a:t>품질속성</a:t>
                      </a:r>
                      <a:r>
                        <a:rPr lang="ko-KR" sz="800" b="0" i="0" u="none" strike="noStrike">
                          <a:solidFill>
                            <a:srgbClr val="000000"/>
                          </a:solidFill>
                          <a:effectLst/>
                          <a:latin typeface="Segoe UI" panose="020B0502040204020203" pitchFamily="34" charset="0"/>
                          <a:ea typeface="맑은 고딕" panose="020B0503020000020004" pitchFamily="50" charset="-127"/>
                        </a:rPr>
                        <a:t> </a:t>
                      </a:r>
                      <a:r>
                        <a:rPr lang="ko-KR" sz="800" b="0" i="0" u="none" strike="noStrike">
                          <a:solidFill>
                            <a:srgbClr val="000000"/>
                          </a:solidFill>
                          <a:effectLst/>
                          <a:latin typeface="맑은 고딕" panose="020B0503020000020004" pitchFamily="50" charset="-127"/>
                          <a:ea typeface="맑은 고딕" panose="020B0503020000020004" pitchFamily="50" charset="-127"/>
                        </a:rPr>
                        <a:t>아님</a:t>
                      </a:r>
                      <a:endParaRPr lang="ko-KR" sz="800" b="0" i="0" u="none" strike="noStrike">
                        <a:solidFill>
                          <a:srgbClr val="000000"/>
                        </a:solidFill>
                        <a:effectLst/>
                        <a:latin typeface="Segoe UI" panose="020B0502040204020203" pitchFamily="34" charset="0"/>
                        <a:ea typeface="맑은 고딕" panose="020B0503020000020004" pitchFamily="50" charset="-127"/>
                      </a:endParaRP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16599787"/>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VOS-14</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gridSpan="12">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API 문서화 요구는 구조 설계에서 제외</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tcPr>
                </a:tc>
                <a:tc hMerge="1">
                  <a:txBody>
                    <a:bodyPr/>
                    <a:lstStyle/>
                    <a:p>
                      <a:pPr latinLnBrk="1"/>
                      <a:endParaRPr lang="ko-KR" alt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706637338"/>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VOS-15</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60799497"/>
                  </a:ext>
                </a:extLst>
              </a:tr>
              <a:tr h="216394">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VOS-16</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O</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fontAlgn="ctr">
                        <a:buNone/>
                      </a:pPr>
                      <a:r>
                        <a:rPr lang="ko-KR" sz="800" b="0" i="0" u="none" strike="noStrike" dirty="0">
                          <a:solidFill>
                            <a:srgbClr val="000000"/>
                          </a:solidFill>
                          <a:effectLst/>
                          <a:latin typeface="Segoe UI" panose="020B0502040204020203" pitchFamily="34" charset="0"/>
                          <a:ea typeface="맑은 고딕" panose="020B0503020000020004" pitchFamily="50" charset="-127"/>
                        </a:rPr>
                        <a:t>　</a:t>
                      </a:r>
                    </a:p>
                  </a:txBody>
                  <a:tcPr marL="7620" marR="7620" marT="762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14900474"/>
                  </a:ext>
                </a:extLst>
              </a:tr>
            </a:tbl>
          </a:graphicData>
        </a:graphic>
      </p:graphicFrame>
      <p:sp>
        <p:nvSpPr>
          <p:cNvPr id="7" name="내용 개체 틀 2">
            <a:extLst>
              <a:ext uri="{FF2B5EF4-FFF2-40B4-BE49-F238E27FC236}">
                <a16:creationId xmlns:a16="http://schemas.microsoft.com/office/drawing/2014/main" id="{7242498F-14C9-59BA-FE9B-0CBA3DA33907}"/>
              </a:ext>
            </a:extLst>
          </p:cNvPr>
          <p:cNvSpPr>
            <a:spLocks noGrp="1"/>
          </p:cNvSpPr>
          <p:nvPr>
            <p:ph idx="1"/>
          </p:nvPr>
        </p:nvSpPr>
        <p:spPr>
          <a:xfrm>
            <a:off x="333829" y="721467"/>
            <a:ext cx="8181521" cy="2998478"/>
          </a:xfrm>
        </p:spPr>
        <p:txBody>
          <a:bodyPr/>
          <a:lstStyle/>
          <a:p>
            <a:r>
              <a:rPr lang="en-US" altLang="ko-KR" dirty="0"/>
              <a:t>VOS</a:t>
            </a:r>
            <a:r>
              <a:rPr lang="ko-KR" altLang="en-US" dirty="0"/>
              <a:t>가 모두 </a:t>
            </a:r>
            <a:r>
              <a:rPr lang="en-US" altLang="ko-KR" dirty="0"/>
              <a:t>AD</a:t>
            </a:r>
            <a:r>
              <a:rPr lang="ko-KR" altLang="en-US" dirty="0"/>
              <a:t>에 매칭됨</a:t>
            </a:r>
            <a:r>
              <a:rPr lang="en-US" altLang="ko-KR" dirty="0"/>
              <a:t>.</a:t>
            </a:r>
            <a:endParaRPr lang="ko-KR" altLang="en-US" dirty="0"/>
          </a:p>
        </p:txBody>
      </p:sp>
    </p:spTree>
    <p:extLst>
      <p:ext uri="{BB962C8B-B14F-4D97-AF65-F5344CB8AC3E}">
        <p14:creationId xmlns:p14="http://schemas.microsoft.com/office/powerpoint/2010/main" val="204022864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ACD0DCF-8DE5-2F7C-82EE-1F7A52432718}"/>
              </a:ext>
            </a:extLst>
          </p:cNvPr>
          <p:cNvSpPr>
            <a:spLocks noGrp="1"/>
          </p:cNvSpPr>
          <p:nvPr>
            <p:ph type="title"/>
          </p:nvPr>
        </p:nvSpPr>
        <p:spPr/>
        <p:txBody>
          <a:bodyPr>
            <a:normAutofit/>
          </a:bodyPr>
          <a:lstStyle/>
          <a:p>
            <a:r>
              <a:rPr lang="en-US" altLang="ko-KR" dirty="0"/>
              <a:t>TCB – Trusted Computing Base</a:t>
            </a:r>
            <a:endParaRPr lang="ko-KR" altLang="en-US" dirty="0"/>
          </a:p>
        </p:txBody>
      </p:sp>
      <p:sp>
        <p:nvSpPr>
          <p:cNvPr id="43" name="내용 개체 틀 42">
            <a:extLst>
              <a:ext uri="{FF2B5EF4-FFF2-40B4-BE49-F238E27FC236}">
                <a16:creationId xmlns:a16="http://schemas.microsoft.com/office/drawing/2014/main" id="{3CAD032A-2C20-49FD-58BF-8B83775B3CDB}"/>
              </a:ext>
            </a:extLst>
          </p:cNvPr>
          <p:cNvSpPr>
            <a:spLocks noGrp="1"/>
          </p:cNvSpPr>
          <p:nvPr>
            <p:ph idx="1"/>
          </p:nvPr>
        </p:nvSpPr>
        <p:spPr>
          <a:xfrm>
            <a:off x="333829" y="721466"/>
            <a:ext cx="8181521" cy="4110786"/>
          </a:xfrm>
        </p:spPr>
        <p:txBody>
          <a:bodyPr/>
          <a:lstStyle/>
          <a:p>
            <a:r>
              <a:rPr lang="en-US" altLang="ko-KR" dirty="0"/>
              <a:t>TCB?</a:t>
            </a:r>
          </a:p>
          <a:p>
            <a:pPr lvl="1"/>
            <a:r>
              <a:rPr lang="ko-KR" altLang="en-US" dirty="0"/>
              <a:t>시스템의 보안 정책 집행에 책임이 있는 모든 하드웨어</a:t>
            </a:r>
            <a:r>
              <a:rPr lang="en-US" altLang="ko-KR" dirty="0"/>
              <a:t>, </a:t>
            </a:r>
            <a:r>
              <a:rPr lang="ko-KR" altLang="en-US" dirty="0"/>
              <a:t>펌웨어</a:t>
            </a:r>
            <a:r>
              <a:rPr lang="en-US" altLang="ko-KR" dirty="0"/>
              <a:t>, </a:t>
            </a:r>
            <a:r>
              <a:rPr lang="ko-KR" altLang="en-US" dirty="0"/>
              <a:t>소프트웨어 구성 요소의 총집합</a:t>
            </a:r>
            <a:endParaRPr lang="en-US" altLang="ko-KR" dirty="0"/>
          </a:p>
          <a:p>
            <a:pPr lvl="1"/>
            <a:endParaRPr lang="en-US" altLang="ko-KR" dirty="0"/>
          </a:p>
          <a:p>
            <a:pPr lvl="1"/>
            <a:endParaRPr lang="en-US" altLang="ko-KR" dirty="0"/>
          </a:p>
          <a:p>
            <a:r>
              <a:rPr lang="ko-KR" altLang="en-US" dirty="0"/>
              <a:t>특징</a:t>
            </a:r>
            <a:endParaRPr lang="en-US" altLang="ko-KR" dirty="0"/>
          </a:p>
          <a:p>
            <a:pPr lvl="1"/>
            <a:r>
              <a:rPr lang="ko-KR" altLang="en-US" dirty="0"/>
              <a:t>경계가 작고 단순해야 함</a:t>
            </a:r>
            <a:r>
              <a:rPr lang="en-US" altLang="ko-KR" dirty="0"/>
              <a:t>. -&gt; </a:t>
            </a:r>
            <a:r>
              <a:rPr lang="ko-KR" altLang="en-US" dirty="0"/>
              <a:t>크고 복잡하면 침투 표면이 넓어짐</a:t>
            </a:r>
            <a:endParaRPr lang="en-US" altLang="ko-KR" dirty="0"/>
          </a:p>
          <a:p>
            <a:pPr lvl="1"/>
            <a:r>
              <a:rPr lang="ko-KR" altLang="en-US" dirty="0"/>
              <a:t>신뢰 경계를 넘는 모든 상호작용은 검증 대상</a:t>
            </a:r>
            <a:endParaRPr lang="en-US" altLang="ko-KR" dirty="0"/>
          </a:p>
          <a:p>
            <a:pPr lvl="1"/>
            <a:endParaRPr lang="en-US" altLang="ko-KR" dirty="0"/>
          </a:p>
          <a:p>
            <a:pPr lvl="1"/>
            <a:endParaRPr lang="en-US" altLang="ko-KR" dirty="0"/>
          </a:p>
          <a:p>
            <a:pPr lvl="1"/>
            <a:endParaRPr lang="en-US" altLang="ko-KR" dirty="0"/>
          </a:p>
          <a:p>
            <a:r>
              <a:rPr lang="ko-KR" altLang="en-US" dirty="0"/>
              <a:t>검증 완료 후 릴리즈되면 실행 시 항상 무결성이 보장되어야 함</a:t>
            </a:r>
            <a:r>
              <a:rPr lang="en-US" altLang="ko-KR" dirty="0"/>
              <a:t>.</a:t>
            </a:r>
          </a:p>
          <a:p>
            <a:r>
              <a:rPr lang="ko-KR" altLang="en-US" dirty="0"/>
              <a:t>이 시스템에서 </a:t>
            </a:r>
            <a:r>
              <a:rPr lang="en-US" altLang="ko-KR" dirty="0"/>
              <a:t>pKVM, pVM,</a:t>
            </a:r>
            <a:r>
              <a:rPr lang="ko-KR" altLang="en-US" dirty="0"/>
              <a:t> </a:t>
            </a:r>
            <a:r>
              <a:rPr lang="en-US" altLang="ko-KR" dirty="0"/>
              <a:t>Workload</a:t>
            </a:r>
            <a:r>
              <a:rPr lang="ko-KR" altLang="en-US" dirty="0"/>
              <a:t>는 </a:t>
            </a:r>
            <a:r>
              <a:rPr lang="en-US" altLang="ko-KR" dirty="0"/>
              <a:t>TCB</a:t>
            </a:r>
            <a:r>
              <a:rPr lang="ko-KR" altLang="en-US" dirty="0"/>
              <a:t>에 포함 </a:t>
            </a:r>
            <a:r>
              <a:rPr lang="en-US" altLang="ko-KR" dirty="0"/>
              <a:t>(</a:t>
            </a:r>
            <a:r>
              <a:rPr lang="ko-KR" altLang="en-US" dirty="0"/>
              <a:t>다음 페이지</a:t>
            </a:r>
            <a:r>
              <a:rPr lang="en-US" altLang="ko-KR" dirty="0"/>
              <a:t>)</a:t>
            </a:r>
          </a:p>
          <a:p>
            <a:pPr lvl="1"/>
            <a:endParaRPr lang="en-US" altLang="ko-KR" dirty="0"/>
          </a:p>
          <a:p>
            <a:pPr lvl="1"/>
            <a:endParaRPr lang="en-US" altLang="ko-KR" dirty="0"/>
          </a:p>
        </p:txBody>
      </p:sp>
      <p:pic>
        <p:nvPicPr>
          <p:cNvPr id="47" name="그림 46">
            <a:extLst>
              <a:ext uri="{FF2B5EF4-FFF2-40B4-BE49-F238E27FC236}">
                <a16:creationId xmlns:a16="http://schemas.microsoft.com/office/drawing/2014/main" id="{3B73ED83-4411-3674-2DD0-48E5684C223D}"/>
              </a:ext>
            </a:extLst>
          </p:cNvPr>
          <p:cNvPicPr>
            <a:picLocks noChangeAspect="1"/>
          </p:cNvPicPr>
          <p:nvPr/>
        </p:nvPicPr>
        <p:blipFill>
          <a:blip r:embed="rId2"/>
          <a:stretch>
            <a:fillRect/>
          </a:stretch>
        </p:blipFill>
        <p:spPr>
          <a:xfrm>
            <a:off x="2908488" y="2892856"/>
            <a:ext cx="2760963" cy="830628"/>
          </a:xfrm>
          <a:prstGeom prst="rect">
            <a:avLst/>
          </a:prstGeom>
        </p:spPr>
      </p:pic>
      <p:grpSp>
        <p:nvGrpSpPr>
          <p:cNvPr id="3" name="그룹 2">
            <a:extLst>
              <a:ext uri="{FF2B5EF4-FFF2-40B4-BE49-F238E27FC236}">
                <a16:creationId xmlns:a16="http://schemas.microsoft.com/office/drawing/2014/main" id="{803D99AD-7F27-9BE9-C501-8D1B15DEF877}"/>
              </a:ext>
            </a:extLst>
          </p:cNvPr>
          <p:cNvGrpSpPr/>
          <p:nvPr/>
        </p:nvGrpSpPr>
        <p:grpSpPr>
          <a:xfrm>
            <a:off x="944669" y="1414644"/>
            <a:ext cx="7358400" cy="420687"/>
            <a:chOff x="944669" y="1414644"/>
            <a:chExt cx="7358400" cy="479343"/>
          </a:xfrm>
        </p:grpSpPr>
        <p:sp>
          <p:nvSpPr>
            <p:cNvPr id="48" name="사각형: 둥근 모서리 47">
              <a:extLst>
                <a:ext uri="{FF2B5EF4-FFF2-40B4-BE49-F238E27FC236}">
                  <a16:creationId xmlns:a16="http://schemas.microsoft.com/office/drawing/2014/main" id="{B92DDF79-E02E-7BA3-8B49-FDC812ED69A7}"/>
                </a:ext>
              </a:extLst>
            </p:cNvPr>
            <p:cNvSpPr/>
            <p:nvPr/>
          </p:nvSpPr>
          <p:spPr>
            <a:xfrm>
              <a:off x="944669" y="1425987"/>
              <a:ext cx="2208458" cy="4680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ko-KR" altLang="en-US" sz="1400" b="1" dirty="0"/>
                <a:t>신뢰할 만 한 것들</a:t>
              </a:r>
            </a:p>
          </p:txBody>
        </p:sp>
        <p:sp>
          <p:nvSpPr>
            <p:cNvPr id="49" name="사각형: 둥근 모서리 48">
              <a:extLst>
                <a:ext uri="{FF2B5EF4-FFF2-40B4-BE49-F238E27FC236}">
                  <a16:creationId xmlns:a16="http://schemas.microsoft.com/office/drawing/2014/main" id="{F2E62397-2629-E7B4-F154-8E82AA2F9673}"/>
                </a:ext>
              </a:extLst>
            </p:cNvPr>
            <p:cNvSpPr/>
            <p:nvPr/>
          </p:nvSpPr>
          <p:spPr>
            <a:xfrm>
              <a:off x="3519640" y="1425987"/>
              <a:ext cx="2208458" cy="4680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ko-KR" altLang="en-US" sz="1400" b="1" dirty="0"/>
                <a:t>올바르게 동작하는 것들</a:t>
              </a:r>
            </a:p>
          </p:txBody>
        </p:sp>
        <p:sp>
          <p:nvSpPr>
            <p:cNvPr id="50" name="사각형: 둥근 모서리 49">
              <a:extLst>
                <a:ext uri="{FF2B5EF4-FFF2-40B4-BE49-F238E27FC236}">
                  <a16:creationId xmlns:a16="http://schemas.microsoft.com/office/drawing/2014/main" id="{D76B81D2-64C8-6D5D-2E0B-27E7ACE954AA}"/>
                </a:ext>
              </a:extLst>
            </p:cNvPr>
            <p:cNvSpPr/>
            <p:nvPr/>
          </p:nvSpPr>
          <p:spPr>
            <a:xfrm>
              <a:off x="6094611" y="1414644"/>
              <a:ext cx="2208458" cy="468000"/>
            </a:xfrm>
            <a:prstGeom prst="roundRect">
              <a:avLst/>
            </a:prstGeom>
          </p:spPr>
          <p:style>
            <a:lnRef idx="0">
              <a:schemeClr val="accent1"/>
            </a:lnRef>
            <a:fillRef idx="3">
              <a:schemeClr val="accent1"/>
            </a:fillRef>
            <a:effectRef idx="3">
              <a:schemeClr val="accent1"/>
            </a:effectRef>
            <a:fontRef idx="minor">
              <a:schemeClr val="lt1"/>
            </a:fontRef>
          </p:style>
          <p:txBody>
            <a:bodyPr rtlCol="0" anchor="ctr"/>
            <a:lstStyle/>
            <a:p>
              <a:pPr algn="ctr"/>
              <a:r>
                <a:rPr lang="ko-KR" altLang="en-US" sz="1400" b="1" dirty="0"/>
                <a:t>검증 대상</a:t>
              </a:r>
            </a:p>
          </p:txBody>
        </p:sp>
      </p:grpSp>
    </p:spTree>
    <p:extLst>
      <p:ext uri="{BB962C8B-B14F-4D97-AF65-F5344CB8AC3E}">
        <p14:creationId xmlns:p14="http://schemas.microsoft.com/office/powerpoint/2010/main" val="29878754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E67EC2-A20E-3883-1EA5-6B47C39BE62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12E478F-EC13-C1D2-9B9B-090B2E57620C}"/>
              </a:ext>
            </a:extLst>
          </p:cNvPr>
          <p:cNvSpPr>
            <a:spLocks noGrp="1"/>
          </p:cNvSpPr>
          <p:nvPr>
            <p:ph type="title"/>
          </p:nvPr>
        </p:nvSpPr>
        <p:spPr>
          <a:xfrm>
            <a:off x="236765" y="166913"/>
            <a:ext cx="5960053" cy="409575"/>
          </a:xfrm>
        </p:spPr>
        <p:txBody>
          <a:bodyPr>
            <a:normAutofit/>
          </a:bodyPr>
          <a:lstStyle/>
          <a:p>
            <a:r>
              <a:rPr lang="en-US" altLang="ko-KR" dirty="0"/>
              <a:t>Secure Boot &amp; Loading Flow</a:t>
            </a:r>
            <a:endParaRPr lang="ko-KR" altLang="en-US" dirty="0"/>
          </a:p>
        </p:txBody>
      </p:sp>
      <p:sp>
        <p:nvSpPr>
          <p:cNvPr id="3" name="내용 개체 틀 42">
            <a:extLst>
              <a:ext uri="{FF2B5EF4-FFF2-40B4-BE49-F238E27FC236}">
                <a16:creationId xmlns:a16="http://schemas.microsoft.com/office/drawing/2014/main" id="{28E51D1F-B954-1227-2182-5705A3B70281}"/>
              </a:ext>
            </a:extLst>
          </p:cNvPr>
          <p:cNvSpPr>
            <a:spLocks noGrp="1"/>
          </p:cNvSpPr>
          <p:nvPr>
            <p:ph idx="1"/>
          </p:nvPr>
        </p:nvSpPr>
        <p:spPr>
          <a:xfrm>
            <a:off x="333829" y="721466"/>
            <a:ext cx="8181521" cy="409575"/>
          </a:xfrm>
        </p:spPr>
        <p:txBody>
          <a:bodyPr/>
          <a:lstStyle/>
          <a:p>
            <a:r>
              <a:rPr lang="en-US" altLang="ko-KR" dirty="0"/>
              <a:t>IROM</a:t>
            </a:r>
            <a:r>
              <a:rPr lang="ko-KR" altLang="en-US" dirty="0"/>
              <a:t>으로부터 </a:t>
            </a:r>
            <a:r>
              <a:rPr lang="en-US" altLang="ko-KR" dirty="0"/>
              <a:t>Workload</a:t>
            </a:r>
            <a:r>
              <a:rPr lang="ko-KR" altLang="en-US" dirty="0"/>
              <a:t>까지 무결성이 이어짐</a:t>
            </a:r>
          </a:p>
        </p:txBody>
      </p:sp>
      <p:sp>
        <p:nvSpPr>
          <p:cNvPr id="9" name="TextBox 8">
            <a:extLst>
              <a:ext uri="{FF2B5EF4-FFF2-40B4-BE49-F238E27FC236}">
                <a16:creationId xmlns:a16="http://schemas.microsoft.com/office/drawing/2014/main" id="{91D38835-F190-7C0A-A78E-9BA8C70AED91}"/>
              </a:ext>
            </a:extLst>
          </p:cNvPr>
          <p:cNvSpPr txBox="1"/>
          <p:nvPr/>
        </p:nvSpPr>
        <p:spPr>
          <a:xfrm>
            <a:off x="4572000" y="1237463"/>
            <a:ext cx="3395481" cy="261610"/>
          </a:xfrm>
          <a:prstGeom prst="rect">
            <a:avLst/>
          </a:prstGeom>
          <a:noFill/>
        </p:spPr>
        <p:txBody>
          <a:bodyPr wrap="none" rtlCol="0">
            <a:spAutoFit/>
          </a:bodyPr>
          <a:lstStyle/>
          <a:p>
            <a:pPr marL="171450" indent="-171450">
              <a:buFont typeface="Wingdings" panose="05000000000000000000" pitchFamily="2" charset="2"/>
              <a:buChar char="v"/>
            </a:pPr>
            <a:r>
              <a:rPr lang="en-US" altLang="ko-KR" sz="1100" b="1" dirty="0">
                <a:solidFill>
                  <a:srgbClr val="0000FF"/>
                </a:solidFill>
              </a:rPr>
              <a:t>Secure OS, pKVM, pVM, Workload </a:t>
            </a:r>
            <a:r>
              <a:rPr lang="ko-KR" altLang="en-US" sz="1100" b="1" dirty="0">
                <a:solidFill>
                  <a:srgbClr val="0000FF"/>
                </a:solidFill>
              </a:rPr>
              <a:t>모두</a:t>
            </a:r>
            <a:r>
              <a:rPr lang="en-US" altLang="ko-KR" sz="1100" b="1" dirty="0">
                <a:solidFill>
                  <a:srgbClr val="0000FF"/>
                </a:solidFill>
              </a:rPr>
              <a:t> TCB</a:t>
            </a:r>
            <a:r>
              <a:rPr lang="ko-KR" altLang="en-US" sz="1100" b="1" dirty="0">
                <a:solidFill>
                  <a:srgbClr val="0000FF"/>
                </a:solidFill>
              </a:rPr>
              <a:t>에 포함</a:t>
            </a:r>
          </a:p>
        </p:txBody>
      </p:sp>
      <p:pic>
        <p:nvPicPr>
          <p:cNvPr id="4" name="그림 3">
            <a:extLst>
              <a:ext uri="{FF2B5EF4-FFF2-40B4-BE49-F238E27FC236}">
                <a16:creationId xmlns:a16="http://schemas.microsoft.com/office/drawing/2014/main" id="{A7F1587F-FBA9-F856-65C8-89ACD45BE527}"/>
              </a:ext>
            </a:extLst>
          </p:cNvPr>
          <p:cNvPicPr>
            <a:picLocks noChangeAspect="1"/>
          </p:cNvPicPr>
          <p:nvPr/>
        </p:nvPicPr>
        <p:blipFill>
          <a:blip r:embed="rId2"/>
          <a:stretch>
            <a:fillRect/>
          </a:stretch>
        </p:blipFill>
        <p:spPr>
          <a:xfrm>
            <a:off x="1143000" y="1499073"/>
            <a:ext cx="6858000" cy="3569296"/>
          </a:xfrm>
          <a:prstGeom prst="rect">
            <a:avLst/>
          </a:prstGeom>
        </p:spPr>
      </p:pic>
    </p:spTree>
    <p:extLst>
      <p:ext uri="{BB962C8B-B14F-4D97-AF65-F5344CB8AC3E}">
        <p14:creationId xmlns:p14="http://schemas.microsoft.com/office/powerpoint/2010/main" val="39399514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052D165-3956-3F85-75FD-48ECC5490DEA}"/>
              </a:ext>
            </a:extLst>
          </p:cNvPr>
          <p:cNvSpPr>
            <a:spLocks noGrp="1"/>
          </p:cNvSpPr>
          <p:nvPr>
            <p:ph type="title"/>
          </p:nvPr>
        </p:nvSpPr>
        <p:spPr/>
        <p:txBody>
          <a:bodyPr/>
          <a:lstStyle/>
          <a:p>
            <a:r>
              <a:rPr lang="en-US" altLang="ko-KR" dirty="0"/>
              <a:t>Control Path</a:t>
            </a:r>
            <a:r>
              <a:rPr lang="ko-KR" altLang="en-US" dirty="0"/>
              <a:t>의 메타정보 노출</a:t>
            </a:r>
          </a:p>
        </p:txBody>
      </p:sp>
      <p:sp>
        <p:nvSpPr>
          <p:cNvPr id="3" name="내용 개체 틀 2">
            <a:extLst>
              <a:ext uri="{FF2B5EF4-FFF2-40B4-BE49-F238E27FC236}">
                <a16:creationId xmlns:a16="http://schemas.microsoft.com/office/drawing/2014/main" id="{F6717EC3-36CB-898F-D914-9FECF37A7195}"/>
              </a:ext>
            </a:extLst>
          </p:cNvPr>
          <p:cNvSpPr>
            <a:spLocks noGrp="1"/>
          </p:cNvSpPr>
          <p:nvPr>
            <p:ph idx="1"/>
          </p:nvPr>
        </p:nvSpPr>
        <p:spPr>
          <a:xfrm>
            <a:off x="333829" y="721466"/>
            <a:ext cx="8181521" cy="3779595"/>
          </a:xfrm>
        </p:spPr>
        <p:txBody>
          <a:bodyPr/>
          <a:lstStyle/>
          <a:p>
            <a:r>
              <a:rPr lang="ko-KR" altLang="en-US" dirty="0"/>
              <a:t>메타정보로 얻을 수 있는 정보</a:t>
            </a:r>
            <a:endParaRPr lang="en-US" altLang="ko-KR" dirty="0"/>
          </a:p>
          <a:p>
            <a:pPr lvl="1"/>
            <a:r>
              <a:rPr lang="en-US" altLang="ko-KR" dirty="0"/>
              <a:t>Camera Case</a:t>
            </a:r>
          </a:p>
          <a:p>
            <a:pPr lvl="1"/>
            <a:endParaRPr lang="en-US" altLang="ko-KR" dirty="0"/>
          </a:p>
          <a:p>
            <a:pPr lvl="1"/>
            <a:endParaRPr lang="en-US" altLang="ko-KR" dirty="0"/>
          </a:p>
          <a:p>
            <a:pPr lvl="1"/>
            <a:endParaRPr lang="en-US" altLang="ko-KR" dirty="0"/>
          </a:p>
          <a:p>
            <a:pPr lvl="1"/>
            <a:endParaRPr lang="en-US" altLang="ko-KR" dirty="0"/>
          </a:p>
          <a:p>
            <a:pPr lvl="1"/>
            <a:endParaRPr lang="en-US" altLang="ko-KR" dirty="0"/>
          </a:p>
          <a:p>
            <a:pPr lvl="1"/>
            <a:endParaRPr lang="en-US" altLang="ko-KR" dirty="0"/>
          </a:p>
          <a:p>
            <a:pPr lvl="1"/>
            <a:endParaRPr lang="en-US" altLang="ko-KR" dirty="0"/>
          </a:p>
          <a:p>
            <a:pPr lvl="1"/>
            <a:endParaRPr lang="en-US" altLang="ko-KR" dirty="0"/>
          </a:p>
          <a:p>
            <a:pPr lvl="1"/>
            <a:r>
              <a:rPr lang="en-US" altLang="ko-KR" dirty="0"/>
              <a:t>AI Case</a:t>
            </a:r>
          </a:p>
          <a:p>
            <a:pPr lvl="2"/>
            <a:r>
              <a:rPr lang="ko-KR" altLang="en-US" dirty="0"/>
              <a:t>모델의 메타 정보가 유출되면</a:t>
            </a:r>
            <a:r>
              <a:rPr lang="en-US" altLang="ko-KR" dirty="0"/>
              <a:t>, </a:t>
            </a:r>
            <a:r>
              <a:rPr lang="ko-KR" altLang="en-US" dirty="0"/>
              <a:t>관찰을 통해 </a:t>
            </a:r>
            <a:r>
              <a:rPr lang="en-US" altLang="ko-KR" dirty="0"/>
              <a:t>model</a:t>
            </a:r>
            <a:r>
              <a:rPr lang="ko-KR" altLang="en-US" dirty="0"/>
              <a:t> </a:t>
            </a:r>
            <a:r>
              <a:rPr lang="en-US" altLang="ko-KR" dirty="0"/>
              <a:t>architecture</a:t>
            </a:r>
            <a:r>
              <a:rPr lang="ko-KR" altLang="en-US" dirty="0"/>
              <a:t>가 노출될 수 있음</a:t>
            </a:r>
            <a:r>
              <a:rPr lang="en-US" altLang="ko-KR" dirty="0"/>
              <a:t>.</a:t>
            </a:r>
          </a:p>
          <a:p>
            <a:pPr lvl="2"/>
            <a:endParaRPr lang="en-US" altLang="ko-KR" dirty="0"/>
          </a:p>
          <a:p>
            <a:r>
              <a:rPr lang="en-US" altLang="ko-KR" dirty="0"/>
              <a:t>Host</a:t>
            </a:r>
            <a:r>
              <a:rPr lang="ko-KR" altLang="en-US" dirty="0"/>
              <a:t>에서 메타 정보 </a:t>
            </a:r>
            <a:r>
              <a:rPr lang="en-US" altLang="ko-KR" dirty="0">
                <a:solidFill>
                  <a:srgbClr val="FF0000"/>
                </a:solidFill>
              </a:rPr>
              <a:t>tampering(</a:t>
            </a:r>
            <a:r>
              <a:rPr lang="ko-KR" altLang="en-US" dirty="0">
                <a:solidFill>
                  <a:srgbClr val="FF0000"/>
                </a:solidFill>
              </a:rPr>
              <a:t>변조</a:t>
            </a:r>
            <a:r>
              <a:rPr lang="en-US" altLang="ko-KR" dirty="0">
                <a:solidFill>
                  <a:srgbClr val="FF0000"/>
                </a:solidFill>
              </a:rPr>
              <a:t>)</a:t>
            </a:r>
            <a:r>
              <a:rPr lang="ko-KR" altLang="en-US" dirty="0"/>
              <a:t>도 가능</a:t>
            </a:r>
          </a:p>
        </p:txBody>
      </p:sp>
      <p:graphicFrame>
        <p:nvGraphicFramePr>
          <p:cNvPr id="11" name="표 10">
            <a:extLst>
              <a:ext uri="{FF2B5EF4-FFF2-40B4-BE49-F238E27FC236}">
                <a16:creationId xmlns:a16="http://schemas.microsoft.com/office/drawing/2014/main" id="{48423BD0-620B-626E-3289-7E288BB138D0}"/>
              </a:ext>
            </a:extLst>
          </p:cNvPr>
          <p:cNvGraphicFramePr>
            <a:graphicFrameLocks noGrp="1"/>
          </p:cNvGraphicFramePr>
          <p:nvPr>
            <p:extLst>
              <p:ext uri="{D42A27DB-BD31-4B8C-83A1-F6EECF244321}">
                <p14:modId xmlns:p14="http://schemas.microsoft.com/office/powerpoint/2010/main" val="1802811222"/>
              </p:ext>
            </p:extLst>
          </p:nvPr>
        </p:nvGraphicFramePr>
        <p:xfrm>
          <a:off x="555951" y="1412461"/>
          <a:ext cx="4991100" cy="2118530"/>
        </p:xfrm>
        <a:graphic>
          <a:graphicData uri="http://schemas.openxmlformats.org/drawingml/2006/table">
            <a:tbl>
              <a:tblPr>
                <a:tableStyleId>{5C22544A-7EE6-4342-B048-85BDC9FD1C3A}</a:tableStyleId>
              </a:tblPr>
              <a:tblGrid>
                <a:gridCol w="1689100">
                  <a:extLst>
                    <a:ext uri="{9D8B030D-6E8A-4147-A177-3AD203B41FA5}">
                      <a16:colId xmlns:a16="http://schemas.microsoft.com/office/drawing/2014/main" val="283985713"/>
                    </a:ext>
                  </a:extLst>
                </a:gridCol>
                <a:gridCol w="3302000">
                  <a:extLst>
                    <a:ext uri="{9D8B030D-6E8A-4147-A177-3AD203B41FA5}">
                      <a16:colId xmlns:a16="http://schemas.microsoft.com/office/drawing/2014/main" val="1109553101"/>
                    </a:ext>
                  </a:extLst>
                </a:gridCol>
              </a:tblGrid>
              <a:tr h="211853">
                <a:tc>
                  <a:txBody>
                    <a:bodyPr/>
                    <a:lstStyle/>
                    <a:p>
                      <a:pPr algn="ctr" fontAlgn="ctr">
                        <a:buNone/>
                      </a:pPr>
                      <a:r>
                        <a:rPr lang="ko-KR" sz="1000" b="1" u="none" strike="noStrike" dirty="0">
                          <a:effectLst/>
                        </a:rPr>
                        <a:t>노출 정보</a:t>
                      </a:r>
                      <a:endParaRPr lang="ko-KR" sz="10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fontAlgn="ctr">
                        <a:buNone/>
                      </a:pPr>
                      <a:r>
                        <a:rPr lang="ko-KR" sz="1000" b="1" u="none" strike="noStrike" dirty="0">
                          <a:effectLst/>
                        </a:rPr>
                        <a:t>추론 가능한 정보</a:t>
                      </a:r>
                      <a:endParaRPr lang="ko-KR" sz="1000" b="1"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623297794"/>
                  </a:ext>
                </a:extLst>
              </a:tr>
              <a:tr h="211853">
                <a:tc>
                  <a:txBody>
                    <a:bodyPr/>
                    <a:lstStyle/>
                    <a:p>
                      <a:pPr algn="l" fontAlgn="ctr">
                        <a:buNone/>
                      </a:pPr>
                      <a:r>
                        <a:rPr lang="ko-KR" sz="800" u="none" strike="noStrike">
                          <a:effectLst/>
                        </a:rPr>
                        <a:t>CAPTURE/START/STOP</a:t>
                      </a:r>
                      <a:endParaRPr lang="ko-KR" sz="800" b="0" i="0" u="none" strike="noStrike">
                        <a:solidFill>
                          <a:srgbClr val="000000"/>
                        </a:solidFill>
                        <a:effectLst/>
                        <a:latin typeface="Arial Unicode MS" panose="020B0604020202020204" pitchFamily="50" charset="-127"/>
                        <a:ea typeface="Arial Unicode MS" panose="020B06040202020202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카메라가 언제 사용되는지</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54404455"/>
                  </a:ext>
                </a:extLst>
              </a:tr>
              <a:tr h="211853">
                <a:tc>
                  <a:txBody>
                    <a:bodyPr/>
                    <a:lstStyle/>
                    <a:p>
                      <a:pPr algn="l" fontAlgn="ctr">
                        <a:buNone/>
                      </a:pPr>
                      <a:r>
                        <a:rPr lang="ko-KR" sz="800" u="none" strike="noStrike" dirty="0" err="1">
                          <a:effectLst/>
                        </a:rPr>
                        <a:t>sensor_id</a:t>
                      </a:r>
                      <a:endParaRPr lang="ko-KR" sz="800" b="0" i="0" u="none" strike="noStrike" dirty="0">
                        <a:solidFill>
                          <a:srgbClr val="000000"/>
                        </a:solidFill>
                        <a:effectLst/>
                        <a:latin typeface="Arial Unicode MS" panose="020B0604020202020204" pitchFamily="50" charset="-127"/>
                        <a:ea typeface="Arial Unicode MS" panose="020B06040202020202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err="1">
                          <a:effectLst/>
                        </a:rPr>
                        <a:t>front</a:t>
                      </a:r>
                      <a:r>
                        <a:rPr lang="ko-KR" sz="1000" u="none" strike="noStrike" dirty="0">
                          <a:effectLst/>
                        </a:rPr>
                        <a:t>/</a:t>
                      </a:r>
                      <a:r>
                        <a:rPr lang="ko-KR" sz="1000" u="none" strike="noStrike" dirty="0" err="1">
                          <a:effectLst/>
                        </a:rPr>
                        <a:t>rear</a:t>
                      </a:r>
                      <a:r>
                        <a:rPr lang="ko-KR" sz="1000" u="none" strike="noStrike" dirty="0">
                          <a:effectLst/>
                        </a:rPr>
                        <a:t>/</a:t>
                      </a:r>
                      <a:r>
                        <a:rPr lang="ko-KR" sz="1000" u="none" strike="noStrike" dirty="0" err="1">
                          <a:effectLst/>
                        </a:rPr>
                        <a:t>robot</a:t>
                      </a:r>
                      <a:r>
                        <a:rPr lang="ko-KR" sz="1000" u="none" strike="noStrike" dirty="0">
                          <a:effectLst/>
                        </a:rPr>
                        <a:t> </a:t>
                      </a:r>
                      <a:r>
                        <a:rPr lang="ko-KR" sz="1000" u="none" strike="noStrike" dirty="0" err="1">
                          <a:effectLst/>
                        </a:rPr>
                        <a:t>arm</a:t>
                      </a:r>
                      <a:r>
                        <a:rPr lang="ko-KR" sz="1000" u="none" strike="noStrike" dirty="0">
                          <a:effectLst/>
                        </a:rPr>
                        <a:t> </a:t>
                      </a:r>
                      <a:r>
                        <a:rPr lang="ko-KR" sz="1000" u="none" strike="noStrike" dirty="0" err="1">
                          <a:effectLst/>
                        </a:rPr>
                        <a:t>camera</a:t>
                      </a:r>
                      <a:r>
                        <a:rPr lang="ko-KR" sz="1000" u="none" strike="noStrike" dirty="0">
                          <a:effectLst/>
                        </a:rPr>
                        <a:t> 등 어떤 카메라인지</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2145599"/>
                  </a:ext>
                </a:extLst>
              </a:tr>
              <a:tr h="211853">
                <a:tc>
                  <a:txBody>
                    <a:bodyPr/>
                    <a:lstStyle/>
                    <a:p>
                      <a:pPr algn="l" fontAlgn="ctr">
                        <a:buNone/>
                      </a:pPr>
                      <a:r>
                        <a:rPr lang="ko-KR" sz="1000" u="none" strike="noStrike">
                          <a:effectLst/>
                        </a:rPr>
                        <a:t>width/height</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a:effectLst/>
                        </a:rPr>
                        <a:t>영상 해상도</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45999563"/>
                  </a:ext>
                </a:extLst>
              </a:tr>
              <a:tr h="211853">
                <a:tc>
                  <a:txBody>
                    <a:bodyPr/>
                    <a:lstStyle/>
                    <a:p>
                      <a:pPr algn="l" fontAlgn="ctr">
                        <a:buNone/>
                      </a:pPr>
                      <a:r>
                        <a:rPr lang="ko-KR" sz="1000" u="none" strike="noStrike" dirty="0">
                          <a:effectLst/>
                        </a:rPr>
                        <a:t>fps</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50" charset="-127"/>
                          <a:ea typeface="맑은 고딕" panose="020B0503020000020004" pitchFamily="50" charset="-127"/>
                        </a:rPr>
                        <a:t>촬영 속도</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51687261"/>
                  </a:ext>
                </a:extLst>
              </a:tr>
              <a:tr h="211853">
                <a:tc>
                  <a:txBody>
                    <a:bodyPr/>
                    <a:lstStyle/>
                    <a:p>
                      <a:pPr algn="l" fontAlgn="ctr">
                        <a:buNone/>
                      </a:pPr>
                      <a:r>
                        <a:rPr lang="ko-KR" sz="1000" u="none" strike="noStrike">
                          <a:effectLst/>
                        </a:rPr>
                        <a:t>pixel format</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RGB/YUV/</a:t>
                      </a:r>
                      <a:r>
                        <a:rPr lang="ko-KR" sz="1000" u="none" strike="noStrike" dirty="0" err="1">
                          <a:effectLst/>
                        </a:rPr>
                        <a:t>depth</a:t>
                      </a:r>
                      <a:r>
                        <a:rPr lang="ko-KR" sz="1000" u="none" strike="noStrike" dirty="0">
                          <a:effectLst/>
                        </a:rPr>
                        <a:t> 등</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56302822"/>
                  </a:ext>
                </a:extLst>
              </a:tr>
              <a:tr h="211853">
                <a:tc>
                  <a:txBody>
                    <a:bodyPr/>
                    <a:lstStyle/>
                    <a:p>
                      <a:pPr algn="l" fontAlgn="ctr">
                        <a:buNone/>
                      </a:pPr>
                      <a:r>
                        <a:rPr lang="ko-KR" sz="1000" u="none" strike="noStrike">
                          <a:effectLst/>
                        </a:rPr>
                        <a:t>exposure/gain</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주변 밝기</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68087963"/>
                  </a:ext>
                </a:extLst>
              </a:tr>
              <a:tr h="211853">
                <a:tc>
                  <a:txBody>
                    <a:bodyPr/>
                    <a:lstStyle/>
                    <a:p>
                      <a:pPr algn="l" fontAlgn="ctr">
                        <a:buNone/>
                      </a:pPr>
                      <a:r>
                        <a:rPr lang="ko-KR" sz="1000" u="none" strike="noStrike" dirty="0" err="1">
                          <a:effectLst/>
                        </a:rPr>
                        <a:t>frame</a:t>
                      </a:r>
                      <a:r>
                        <a:rPr lang="ko-KR" sz="1000" u="none" strike="noStrike" dirty="0">
                          <a:effectLst/>
                        </a:rPr>
                        <a:t> </a:t>
                      </a:r>
                      <a:r>
                        <a:rPr lang="ko-KR" sz="1000" u="none" strike="noStrike" dirty="0" err="1">
                          <a:effectLst/>
                        </a:rPr>
                        <a:t>count</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err="1">
                          <a:effectLst/>
                        </a:rPr>
                        <a:t>촬영량</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75734443"/>
                  </a:ext>
                </a:extLst>
              </a:tr>
              <a:tr h="211853">
                <a:tc>
                  <a:txBody>
                    <a:bodyPr/>
                    <a:lstStyle/>
                    <a:p>
                      <a:pPr algn="l" fontAlgn="ctr">
                        <a:buNone/>
                      </a:pPr>
                      <a:r>
                        <a:rPr lang="ko-KR" sz="1000" u="none" strike="noStrike">
                          <a:effectLst/>
                        </a:rPr>
                        <a:t>buffer size/stride</a:t>
                      </a:r>
                      <a:endParaRPr lang="ko-KR" sz="1000" b="0" i="0" u="none" strike="noStrike">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영상 포맷 추정</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93758283"/>
                  </a:ext>
                </a:extLst>
              </a:tr>
              <a:tr h="211853">
                <a:tc>
                  <a:txBody>
                    <a:bodyPr/>
                    <a:lstStyle/>
                    <a:p>
                      <a:pPr algn="l" fontAlgn="ctr">
                        <a:buNone/>
                      </a:pPr>
                      <a:r>
                        <a:rPr lang="ko-KR" sz="1000" u="none" strike="noStrike" dirty="0" err="1">
                          <a:effectLst/>
                        </a:rPr>
                        <a:t>timestamp</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ctr">
                        <a:buNone/>
                      </a:pPr>
                      <a:r>
                        <a:rPr lang="ko-KR" sz="1000" u="none" strike="noStrike" dirty="0">
                          <a:effectLst/>
                        </a:rPr>
                        <a:t>작업 발생 시점</a:t>
                      </a:r>
                      <a:endParaRPr lang="ko-KR" sz="1000" b="0" i="0" u="none" strike="noStrike" dirty="0">
                        <a:solidFill>
                          <a:srgbClr val="000000"/>
                        </a:solidFill>
                        <a:effectLst/>
                        <a:latin typeface="맑은 고딕" panose="020B0503020000020004" pitchFamily="50" charset="-127"/>
                        <a:ea typeface="맑은 고딕" panose="020B0503020000020004" pitchFamily="50" charset="-127"/>
                      </a:endParaRPr>
                    </a:p>
                  </a:txBody>
                  <a:tcPr marL="108000" marR="108000" marT="10800" marB="108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16511300"/>
                  </a:ext>
                </a:extLst>
              </a:tr>
            </a:tbl>
          </a:graphicData>
        </a:graphic>
      </p:graphicFrame>
      <p:grpSp>
        <p:nvGrpSpPr>
          <p:cNvPr id="14" name="그룹 13">
            <a:extLst>
              <a:ext uri="{FF2B5EF4-FFF2-40B4-BE49-F238E27FC236}">
                <a16:creationId xmlns:a16="http://schemas.microsoft.com/office/drawing/2014/main" id="{3DA2DF4A-E835-B4CB-B818-2E7496EB9C56}"/>
              </a:ext>
            </a:extLst>
          </p:cNvPr>
          <p:cNvGrpSpPr/>
          <p:nvPr/>
        </p:nvGrpSpPr>
        <p:grpSpPr>
          <a:xfrm>
            <a:off x="5719098" y="1295932"/>
            <a:ext cx="3237898" cy="3205130"/>
            <a:chOff x="285703" y="1329617"/>
            <a:chExt cx="3502367" cy="3466923"/>
          </a:xfrm>
        </p:grpSpPr>
        <p:pic>
          <p:nvPicPr>
            <p:cNvPr id="5" name="그림 4">
              <a:extLst>
                <a:ext uri="{FF2B5EF4-FFF2-40B4-BE49-F238E27FC236}">
                  <a16:creationId xmlns:a16="http://schemas.microsoft.com/office/drawing/2014/main" id="{4EC7617E-5806-043F-6D3F-FC9332C99ED3}"/>
                </a:ext>
              </a:extLst>
            </p:cNvPr>
            <p:cNvPicPr>
              <a:picLocks noChangeAspect="1"/>
            </p:cNvPicPr>
            <p:nvPr/>
          </p:nvPicPr>
          <p:blipFill>
            <a:blip r:embed="rId2"/>
            <a:stretch>
              <a:fillRect/>
            </a:stretch>
          </p:blipFill>
          <p:spPr>
            <a:xfrm>
              <a:off x="475649" y="1701595"/>
              <a:ext cx="3120674" cy="1549687"/>
            </a:xfrm>
            <a:prstGeom prst="rect">
              <a:avLst/>
            </a:prstGeom>
            <a:ln>
              <a:solidFill>
                <a:schemeClr val="bg1">
                  <a:lumMod val="50000"/>
                </a:schemeClr>
              </a:solidFill>
            </a:ln>
          </p:spPr>
        </p:pic>
        <p:pic>
          <p:nvPicPr>
            <p:cNvPr id="8" name="그림 7">
              <a:extLst>
                <a:ext uri="{FF2B5EF4-FFF2-40B4-BE49-F238E27FC236}">
                  <a16:creationId xmlns:a16="http://schemas.microsoft.com/office/drawing/2014/main" id="{8D2745B5-53B6-FF87-21EA-BACD2A7B0FB0}"/>
                </a:ext>
              </a:extLst>
            </p:cNvPr>
            <p:cNvPicPr>
              <a:picLocks noChangeAspect="1"/>
            </p:cNvPicPr>
            <p:nvPr/>
          </p:nvPicPr>
          <p:blipFill>
            <a:blip r:embed="rId3"/>
            <a:stretch>
              <a:fillRect/>
            </a:stretch>
          </p:blipFill>
          <p:spPr>
            <a:xfrm>
              <a:off x="285703" y="3515537"/>
              <a:ext cx="3502367" cy="1281003"/>
            </a:xfrm>
            <a:prstGeom prst="rect">
              <a:avLst/>
            </a:prstGeom>
            <a:ln>
              <a:solidFill>
                <a:schemeClr val="bg1">
                  <a:lumMod val="50000"/>
                </a:schemeClr>
              </a:solidFill>
            </a:ln>
          </p:spPr>
        </p:pic>
        <p:sp>
          <p:nvSpPr>
            <p:cNvPr id="9" name="화살표: 오른쪽 8">
              <a:extLst>
                <a:ext uri="{FF2B5EF4-FFF2-40B4-BE49-F238E27FC236}">
                  <a16:creationId xmlns:a16="http://schemas.microsoft.com/office/drawing/2014/main" id="{6D5D86DD-03C6-5128-12CF-5DAFB09E9EA5}"/>
                </a:ext>
              </a:extLst>
            </p:cNvPr>
            <p:cNvSpPr/>
            <p:nvPr/>
          </p:nvSpPr>
          <p:spPr>
            <a:xfrm>
              <a:off x="1054463" y="1638391"/>
              <a:ext cx="1945680" cy="586998"/>
            </a:xfrm>
            <a:prstGeom prst="rightArrow">
              <a:avLst/>
            </a:prstGeom>
            <a:solidFill>
              <a:srgbClr val="FF0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0" name="화살표: 오른쪽 9">
              <a:extLst>
                <a:ext uri="{FF2B5EF4-FFF2-40B4-BE49-F238E27FC236}">
                  <a16:creationId xmlns:a16="http://schemas.microsoft.com/office/drawing/2014/main" id="{7518DCBC-6DF2-19BB-0913-F9EF651FC0AE}"/>
                </a:ext>
              </a:extLst>
            </p:cNvPr>
            <p:cNvSpPr/>
            <p:nvPr/>
          </p:nvSpPr>
          <p:spPr>
            <a:xfrm flipH="1">
              <a:off x="895188" y="3688099"/>
              <a:ext cx="2214958" cy="560356"/>
            </a:xfrm>
            <a:prstGeom prst="rightArrow">
              <a:avLst/>
            </a:prstGeom>
            <a:solidFill>
              <a:srgbClr val="FF0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화살표: 오른쪽 11">
              <a:extLst>
                <a:ext uri="{FF2B5EF4-FFF2-40B4-BE49-F238E27FC236}">
                  <a16:creationId xmlns:a16="http://schemas.microsoft.com/office/drawing/2014/main" id="{9099FFB5-FE48-DE95-F643-BDAB3E9BEFB3}"/>
                </a:ext>
              </a:extLst>
            </p:cNvPr>
            <p:cNvSpPr/>
            <p:nvPr/>
          </p:nvSpPr>
          <p:spPr>
            <a:xfrm>
              <a:off x="650397" y="1372383"/>
              <a:ext cx="302508" cy="129910"/>
            </a:xfrm>
            <a:prstGeom prst="rightArrow">
              <a:avLst/>
            </a:prstGeom>
            <a:solidFill>
              <a:srgbClr val="FF0000">
                <a:alpha val="3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3" name="TextBox 12">
              <a:extLst>
                <a:ext uri="{FF2B5EF4-FFF2-40B4-BE49-F238E27FC236}">
                  <a16:creationId xmlns:a16="http://schemas.microsoft.com/office/drawing/2014/main" id="{261728C7-D1A1-E81F-ABE0-96DCAA5D2A7C}"/>
                </a:ext>
              </a:extLst>
            </p:cNvPr>
            <p:cNvSpPr txBox="1"/>
            <p:nvPr/>
          </p:nvSpPr>
          <p:spPr>
            <a:xfrm>
              <a:off x="960925" y="1329617"/>
              <a:ext cx="708848" cy="215443"/>
            </a:xfrm>
            <a:prstGeom prst="rect">
              <a:avLst/>
            </a:prstGeom>
            <a:noFill/>
          </p:spPr>
          <p:txBody>
            <a:bodyPr wrap="none" rtlCol="0">
              <a:spAutoFit/>
            </a:bodyPr>
            <a:lstStyle/>
            <a:p>
              <a:pPr algn="l"/>
              <a:r>
                <a:rPr lang="en-US" altLang="ko-KR" sz="800" dirty="0"/>
                <a:t>Control Path</a:t>
              </a:r>
              <a:endParaRPr lang="ko-KR" altLang="en-US" sz="800" dirty="0"/>
            </a:p>
          </p:txBody>
        </p:sp>
      </p:grpSp>
    </p:spTree>
    <p:extLst>
      <p:ext uri="{BB962C8B-B14F-4D97-AF65-F5344CB8AC3E}">
        <p14:creationId xmlns:p14="http://schemas.microsoft.com/office/powerpoint/2010/main" val="15933564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A0F2BC0-12C6-4CDF-E077-8324A08490CC}"/>
              </a:ext>
            </a:extLst>
          </p:cNvPr>
          <p:cNvSpPr>
            <a:spLocks noGrp="1"/>
          </p:cNvSpPr>
          <p:nvPr>
            <p:ph type="title"/>
          </p:nvPr>
        </p:nvSpPr>
        <p:spPr>
          <a:xfrm>
            <a:off x="236765" y="166913"/>
            <a:ext cx="4848706" cy="409575"/>
          </a:xfrm>
        </p:spPr>
        <p:txBody>
          <a:bodyPr>
            <a:normAutofit/>
          </a:bodyPr>
          <a:lstStyle/>
          <a:p>
            <a:r>
              <a:rPr lang="ko-KR" altLang="en-US" dirty="0"/>
              <a:t>보안 품질속성에 적합한 정량 </a:t>
            </a:r>
            <a:r>
              <a:rPr lang="ko-KR" altLang="en-US" dirty="0" err="1"/>
              <a:t>메트릭</a:t>
            </a:r>
            <a:endParaRPr lang="ko-KR" altLang="en-US" dirty="0"/>
          </a:p>
        </p:txBody>
      </p:sp>
      <p:sp>
        <p:nvSpPr>
          <p:cNvPr id="3" name="내용 개체 틀 2">
            <a:extLst>
              <a:ext uri="{FF2B5EF4-FFF2-40B4-BE49-F238E27FC236}">
                <a16:creationId xmlns:a16="http://schemas.microsoft.com/office/drawing/2014/main" id="{BED60AEC-DF6D-9D34-D62A-BD8F4E543DB7}"/>
              </a:ext>
            </a:extLst>
          </p:cNvPr>
          <p:cNvSpPr>
            <a:spLocks noGrp="1"/>
          </p:cNvSpPr>
          <p:nvPr>
            <p:ph idx="1"/>
          </p:nvPr>
        </p:nvSpPr>
        <p:spPr>
          <a:xfrm>
            <a:off x="333829" y="721467"/>
            <a:ext cx="8181521" cy="671235"/>
          </a:xfrm>
        </p:spPr>
        <p:txBody>
          <a:bodyPr/>
          <a:lstStyle/>
          <a:p>
            <a:r>
              <a:rPr lang="ko-KR" altLang="en-US" sz="1050" b="0" dirty="0"/>
              <a:t>보안 침해가 </a:t>
            </a:r>
            <a:r>
              <a:rPr lang="ko-KR" altLang="ko-KR" sz="1050" b="0" dirty="0"/>
              <a:t>100만 건 중 1건 발생한다고 하더라도, 그 1건의 취약점을 반복 재현할 수 있다면 매우 심각한 보안 취약점</a:t>
            </a:r>
            <a:endParaRPr lang="en-US" altLang="ko-KR" sz="1050" b="0" dirty="0"/>
          </a:p>
          <a:p>
            <a:r>
              <a:rPr lang="ko-KR" altLang="ko-KR" sz="1050" b="0" dirty="0"/>
              <a:t>보안 품질속성에서는 다음과 같은 </a:t>
            </a:r>
            <a:r>
              <a:rPr lang="en-US" altLang="ko-KR" sz="1050" b="0" dirty="0"/>
              <a:t>Matric</a:t>
            </a:r>
            <a:r>
              <a:rPr lang="ko-KR" altLang="ko-KR" sz="1050" b="0" dirty="0"/>
              <a:t>을 사용하는 것이 더 적절</a:t>
            </a:r>
            <a:endParaRPr lang="en-US" altLang="ko-KR" sz="1050" b="0" dirty="0"/>
          </a:p>
          <a:p>
            <a:endParaRPr lang="ko-KR" altLang="en-US" sz="1050" dirty="0"/>
          </a:p>
        </p:txBody>
      </p:sp>
      <p:graphicFrame>
        <p:nvGraphicFramePr>
          <p:cNvPr id="4" name="표 3">
            <a:extLst>
              <a:ext uri="{FF2B5EF4-FFF2-40B4-BE49-F238E27FC236}">
                <a16:creationId xmlns:a16="http://schemas.microsoft.com/office/drawing/2014/main" id="{42957822-331B-43E7-6BB6-41D4D7E15262}"/>
              </a:ext>
            </a:extLst>
          </p:cNvPr>
          <p:cNvGraphicFramePr>
            <a:graphicFrameLocks noGrp="1"/>
          </p:cNvGraphicFramePr>
          <p:nvPr>
            <p:extLst>
              <p:ext uri="{D42A27DB-BD31-4B8C-83A1-F6EECF244321}">
                <p14:modId xmlns:p14="http://schemas.microsoft.com/office/powerpoint/2010/main" val="1313545766"/>
              </p:ext>
            </p:extLst>
          </p:nvPr>
        </p:nvGraphicFramePr>
        <p:xfrm>
          <a:off x="628649" y="1477287"/>
          <a:ext cx="8100354" cy="2809472"/>
        </p:xfrm>
        <a:graphic>
          <a:graphicData uri="http://schemas.openxmlformats.org/drawingml/2006/table">
            <a:tbl>
              <a:tblPr>
                <a:tableStyleId>{5C22544A-7EE6-4342-B048-85BDC9FD1C3A}</a:tableStyleId>
              </a:tblPr>
              <a:tblGrid>
                <a:gridCol w="1783960">
                  <a:extLst>
                    <a:ext uri="{9D8B030D-6E8A-4147-A177-3AD203B41FA5}">
                      <a16:colId xmlns:a16="http://schemas.microsoft.com/office/drawing/2014/main" val="1574263597"/>
                    </a:ext>
                  </a:extLst>
                </a:gridCol>
                <a:gridCol w="1730326">
                  <a:extLst>
                    <a:ext uri="{9D8B030D-6E8A-4147-A177-3AD203B41FA5}">
                      <a16:colId xmlns:a16="http://schemas.microsoft.com/office/drawing/2014/main" val="2020050073"/>
                    </a:ext>
                  </a:extLst>
                </a:gridCol>
                <a:gridCol w="4586068">
                  <a:extLst>
                    <a:ext uri="{9D8B030D-6E8A-4147-A177-3AD203B41FA5}">
                      <a16:colId xmlns:a16="http://schemas.microsoft.com/office/drawing/2014/main" val="2649423994"/>
                    </a:ext>
                  </a:extLst>
                </a:gridCol>
              </a:tblGrid>
              <a:tr h="301654">
                <a:tc>
                  <a:txBody>
                    <a:bodyPr/>
                    <a:lstStyle/>
                    <a:p>
                      <a:pPr algn="ctr">
                        <a:buNone/>
                      </a:pPr>
                      <a:r>
                        <a:rPr lang="it-IT" altLang="ko-KR" sz="1050" b="1" i="0" kern="1200" dirty="0">
                          <a:solidFill>
                            <a:schemeClr val="bg1"/>
                          </a:solidFill>
                          <a:effectLst/>
                          <a:latin typeface="-apple-system"/>
                          <a:ea typeface="+mn-ea"/>
                          <a:cs typeface="+mn-cs"/>
                        </a:rPr>
                        <a:t>ISO/IEC 25010:2023</a:t>
                      </a:r>
                    </a:p>
                    <a:p>
                      <a:pPr algn="ctr">
                        <a:buNone/>
                      </a:pPr>
                      <a:r>
                        <a:rPr lang="it-IT" altLang="ko-KR" sz="1050" b="1" i="0" kern="1200" dirty="0">
                          <a:solidFill>
                            <a:schemeClr val="bg1"/>
                          </a:solidFill>
                          <a:effectLst/>
                          <a:latin typeface="-apple-system"/>
                          <a:ea typeface="+mn-ea"/>
                          <a:cs typeface="+mn-cs"/>
                        </a:rPr>
                        <a:t>Quality Attribute</a:t>
                      </a:r>
                      <a:endParaRPr lang="ko-KR" altLang="en-US" sz="1050" b="1" i="0" kern="1200" dirty="0">
                        <a:solidFill>
                          <a:schemeClr val="bg1"/>
                        </a:solidFill>
                        <a:effectLst/>
                        <a:latin typeface="-apple-system"/>
                        <a:ea typeface="+mn-ea"/>
                        <a:cs typeface="+mn-cs"/>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algn="ctr">
                        <a:buNone/>
                      </a:pPr>
                      <a:r>
                        <a:rPr lang="en-US" altLang="ko-KR" sz="1050" b="1" i="0" kern="1200" dirty="0">
                          <a:solidFill>
                            <a:schemeClr val="bg1"/>
                          </a:solidFill>
                          <a:effectLst/>
                          <a:latin typeface="-apple-system"/>
                          <a:ea typeface="+mn-ea"/>
                          <a:cs typeface="+mn-cs"/>
                        </a:rPr>
                        <a:t>Matric</a:t>
                      </a:r>
                      <a:endParaRPr lang="ko-KR" altLang="en-US" sz="1050" b="1" i="0" kern="1200" dirty="0">
                        <a:solidFill>
                          <a:schemeClr val="bg1"/>
                        </a:solidFill>
                        <a:effectLst/>
                        <a:latin typeface="-apple-system"/>
                        <a:ea typeface="+mn-ea"/>
                        <a:cs typeface="+mn-cs"/>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algn="ctr">
                        <a:buNone/>
                      </a:pPr>
                      <a:r>
                        <a:rPr lang="ko-KR" sz="1050" b="1" dirty="0">
                          <a:solidFill>
                            <a:schemeClr val="bg1"/>
                          </a:solidFill>
                          <a:effectLst/>
                        </a:rPr>
                        <a:t>정량 기준</a:t>
                      </a:r>
                      <a:endParaRPr lang="ko-KR" sz="1050" b="1" i="0" dirty="0">
                        <a:solidFill>
                          <a:schemeClr val="bg1"/>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288601470"/>
                  </a:ext>
                </a:extLst>
              </a:tr>
              <a:tr h="301654">
                <a:tc>
                  <a:txBody>
                    <a:bodyPr/>
                    <a:lstStyle/>
                    <a:p>
                      <a:pPr algn="l">
                        <a:buNone/>
                      </a:pPr>
                      <a:r>
                        <a:rPr lang="en-US" altLang="ko-KR" sz="1050" b="0" i="0" dirty="0">
                          <a:solidFill>
                            <a:srgbClr val="000000"/>
                          </a:solidFill>
                          <a:effectLst/>
                          <a:latin typeface="-apple-system"/>
                        </a:rPr>
                        <a:t>Security - Resistance</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공격 </a:t>
                      </a:r>
                      <a:r>
                        <a:rPr lang="ko-KR" sz="1050" dirty="0" err="1">
                          <a:effectLst/>
                        </a:rPr>
                        <a:t>차단률</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탐지된 비인가 접근 차단율 ≥ 99.99%</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1961915"/>
                  </a:ext>
                </a:extLst>
              </a:tr>
              <a:tr h="301654">
                <a:tc>
                  <a:txBody>
                    <a:bodyPr/>
                    <a:lstStyle/>
                    <a:p>
                      <a:pPr algn="l">
                        <a:buNone/>
                      </a:pPr>
                      <a:r>
                        <a:rPr lang="en-US" altLang="ko-KR" sz="1050" b="0" i="0" dirty="0">
                          <a:solidFill>
                            <a:srgbClr val="000000"/>
                          </a:solidFill>
                          <a:effectLst/>
                          <a:latin typeface="-apple-system"/>
                        </a:rPr>
                        <a:t>Security – Authenticity</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인증 정확도</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정상 사용자 인증 성공률 ≥ 99.999%</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55504906"/>
                  </a:ext>
                </a:extLst>
              </a:tr>
              <a:tr h="301654">
                <a:tc>
                  <a:txBody>
                    <a:bodyPr/>
                    <a:lstStyle/>
                    <a:p>
                      <a:pPr algn="l">
                        <a:buNone/>
                      </a:pPr>
                      <a:r>
                        <a:rPr lang="en-US" altLang="ko-KR" sz="1050" b="0" i="0" dirty="0">
                          <a:solidFill>
                            <a:srgbClr val="000000"/>
                          </a:solidFill>
                          <a:effectLst/>
                          <a:latin typeface="-apple-system"/>
                        </a:rPr>
                        <a:t>Security – Integrity</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무결성 </a:t>
                      </a:r>
                      <a:r>
                        <a:rPr lang="ko-KR" sz="1050" dirty="0" err="1">
                          <a:effectLst/>
                        </a:rPr>
                        <a:t>검증률</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중요 메시지 및 명령 무결성 검증률 = 100%</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59838080"/>
                  </a:ext>
                </a:extLst>
              </a:tr>
              <a:tr h="301654">
                <a:tc>
                  <a:txBody>
                    <a:bodyPr/>
                    <a:lstStyle/>
                    <a:p>
                      <a:pPr algn="l">
                        <a:buNone/>
                      </a:pPr>
                      <a:r>
                        <a:rPr lang="en-US" altLang="ko-KR" sz="1050" b="0" i="0" dirty="0">
                          <a:solidFill>
                            <a:srgbClr val="000000"/>
                          </a:solidFill>
                          <a:effectLst/>
                          <a:latin typeface="-apple-system"/>
                        </a:rPr>
                        <a:t>Security – Resistance</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보안 이벤트 탐지 시간</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공격 발생 후 3초 이내 탐지</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3141586"/>
                  </a:ext>
                </a:extLst>
              </a:tr>
              <a:tr h="301654">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1050" b="0" i="0" dirty="0">
                          <a:solidFill>
                            <a:srgbClr val="000000"/>
                          </a:solidFill>
                          <a:effectLst/>
                          <a:latin typeface="-apple-system"/>
                        </a:rPr>
                        <a:t>Security – Resistance</a:t>
                      </a:r>
                      <a:endParaRPr lang="ko-KR" alt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격리 시간</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보안 침해 탐지 후 5초 이내 해당 노드 격리</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3134545"/>
                  </a:ext>
                </a:extLst>
              </a:tr>
              <a:tr h="301654">
                <a:tc>
                  <a:txBody>
                    <a:bodyPr/>
                    <a:lstStyle/>
                    <a:p>
                      <a:pPr algn="l">
                        <a:buNone/>
                      </a:pPr>
                      <a:r>
                        <a:rPr lang="en-US" altLang="ko-KR" sz="1050" b="0" i="0" dirty="0">
                          <a:solidFill>
                            <a:srgbClr val="000000"/>
                          </a:solidFill>
                          <a:effectLst/>
                          <a:latin typeface="-apple-system"/>
                        </a:rPr>
                        <a:t>Security – Resistance</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복구 시간</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침해 노드 격리 후 정상 서비스 복구 ≤ 30초</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38920444"/>
                  </a:ext>
                </a:extLst>
              </a:tr>
              <a:tr h="301654">
                <a:tc>
                  <a:txBody>
                    <a:bodyPr/>
                    <a:lstStyle/>
                    <a:p>
                      <a:pPr algn="l">
                        <a:buNone/>
                      </a:pPr>
                      <a:r>
                        <a:rPr lang="en-US" altLang="ko-KR" sz="1050" b="0" i="0" dirty="0">
                          <a:solidFill>
                            <a:srgbClr val="000000"/>
                          </a:solidFill>
                          <a:effectLst/>
                          <a:latin typeface="-apple-system"/>
                        </a:rPr>
                        <a:t>Security – Resistance</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취약점 관리</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err="1">
                          <a:effectLst/>
                        </a:rPr>
                        <a:t>Critical</a:t>
                      </a:r>
                      <a:r>
                        <a:rPr lang="ko-KR" sz="1050" dirty="0">
                          <a:effectLst/>
                        </a:rPr>
                        <a:t> 취약점 발견 후 24시간 이내 조치</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66368126"/>
                  </a:ext>
                </a:extLst>
              </a:tr>
              <a:tr h="301654">
                <a:tc>
                  <a:txBody>
                    <a:bodyPr/>
                    <a:lstStyle/>
                    <a:p>
                      <a:pPr algn="l">
                        <a:buNone/>
                      </a:pPr>
                      <a:r>
                        <a:rPr lang="en-US" altLang="ko-KR" sz="1050" b="0" i="0" dirty="0">
                          <a:solidFill>
                            <a:srgbClr val="000000"/>
                          </a:solidFill>
                          <a:effectLst/>
                          <a:latin typeface="-apple-system"/>
                        </a:rPr>
                        <a:t>Security - Accountability</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a:effectLst/>
                        </a:rPr>
                        <a:t>보안 로그 완전성</a:t>
                      </a:r>
                      <a:endParaRPr lang="ko-KR" sz="105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1050" dirty="0">
                          <a:effectLst/>
                        </a:rPr>
                        <a:t>중요 보안 이벤트 </a:t>
                      </a:r>
                      <a:r>
                        <a:rPr lang="ko-KR" sz="1050" dirty="0" err="1">
                          <a:effectLst/>
                        </a:rPr>
                        <a:t>기록률</a:t>
                      </a:r>
                      <a:r>
                        <a:rPr lang="ko-KR" sz="1050" dirty="0">
                          <a:effectLst/>
                        </a:rPr>
                        <a:t> = 100%</a:t>
                      </a:r>
                      <a:endParaRPr lang="ko-KR" sz="105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09337499"/>
                  </a:ext>
                </a:extLst>
              </a:tr>
            </a:tbl>
          </a:graphicData>
        </a:graphic>
      </p:graphicFrame>
    </p:spTree>
    <p:extLst>
      <p:ext uri="{BB962C8B-B14F-4D97-AF65-F5344CB8AC3E}">
        <p14:creationId xmlns:p14="http://schemas.microsoft.com/office/powerpoint/2010/main" val="31379752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A042E71-075C-226F-AF72-D791AB4C99B6}"/>
              </a:ext>
            </a:extLst>
          </p:cNvPr>
          <p:cNvSpPr>
            <a:spLocks noGrp="1"/>
          </p:cNvSpPr>
          <p:nvPr>
            <p:ph type="title"/>
          </p:nvPr>
        </p:nvSpPr>
        <p:spPr/>
        <p:txBody>
          <a:bodyPr/>
          <a:lstStyle/>
          <a:p>
            <a:r>
              <a:rPr lang="ko-KR" altLang="en-US" dirty="0"/>
              <a:t>추가 </a:t>
            </a:r>
            <a:r>
              <a:rPr lang="en-US" altLang="ko-KR" dirty="0"/>
              <a:t>DP</a:t>
            </a:r>
            <a:endParaRPr lang="ko-KR" altLang="en-US" dirty="0"/>
          </a:p>
        </p:txBody>
      </p:sp>
      <p:graphicFrame>
        <p:nvGraphicFramePr>
          <p:cNvPr id="4" name="내용 개체 틀 3">
            <a:extLst>
              <a:ext uri="{FF2B5EF4-FFF2-40B4-BE49-F238E27FC236}">
                <a16:creationId xmlns:a16="http://schemas.microsoft.com/office/drawing/2014/main" id="{BE10A295-7B45-1D6B-9EC5-434D6321D46C}"/>
              </a:ext>
            </a:extLst>
          </p:cNvPr>
          <p:cNvGraphicFramePr>
            <a:graphicFrameLocks noGrp="1"/>
          </p:cNvGraphicFramePr>
          <p:nvPr>
            <p:ph idx="1"/>
            <p:extLst>
              <p:ext uri="{D42A27DB-BD31-4B8C-83A1-F6EECF244321}">
                <p14:modId xmlns:p14="http://schemas.microsoft.com/office/powerpoint/2010/main" val="579322645"/>
              </p:ext>
            </p:extLst>
          </p:nvPr>
        </p:nvGraphicFramePr>
        <p:xfrm>
          <a:off x="333374" y="720724"/>
          <a:ext cx="8529273" cy="2336039"/>
        </p:xfrm>
        <a:graphic>
          <a:graphicData uri="http://schemas.openxmlformats.org/drawingml/2006/table">
            <a:tbl>
              <a:tblPr firstRow="1" bandRow="1">
                <a:tableStyleId>{5C22544A-7EE6-4342-B048-85BDC9FD1C3A}</a:tableStyleId>
              </a:tblPr>
              <a:tblGrid>
                <a:gridCol w="630072">
                  <a:extLst>
                    <a:ext uri="{9D8B030D-6E8A-4147-A177-3AD203B41FA5}">
                      <a16:colId xmlns:a16="http://schemas.microsoft.com/office/drawing/2014/main" val="363059223"/>
                    </a:ext>
                  </a:extLst>
                </a:gridCol>
                <a:gridCol w="3320166">
                  <a:extLst>
                    <a:ext uri="{9D8B030D-6E8A-4147-A177-3AD203B41FA5}">
                      <a16:colId xmlns:a16="http://schemas.microsoft.com/office/drawing/2014/main" val="4292649216"/>
                    </a:ext>
                  </a:extLst>
                </a:gridCol>
                <a:gridCol w="4579035">
                  <a:extLst>
                    <a:ext uri="{9D8B030D-6E8A-4147-A177-3AD203B41FA5}">
                      <a16:colId xmlns:a16="http://schemas.microsoft.com/office/drawing/2014/main" val="512140042"/>
                    </a:ext>
                  </a:extLst>
                </a:gridCol>
              </a:tblGrid>
              <a:tr h="0">
                <a:tc>
                  <a:txBody>
                    <a:bodyPr/>
                    <a:lstStyle/>
                    <a:p>
                      <a:pPr algn="ctr" latinLnBrk="1"/>
                      <a:r>
                        <a:rPr lang="en-US" altLang="ko-KR" sz="900" dirty="0">
                          <a:solidFill>
                            <a:schemeClr val="tx1"/>
                          </a:solidFill>
                          <a:latin typeface="+mn-ea"/>
                          <a:ea typeface="+mn-ea"/>
                        </a:rPr>
                        <a:t>DP</a:t>
                      </a:r>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1"/>
                      <a:r>
                        <a:rPr lang="ko-KR" altLang="en-US" sz="900" dirty="0">
                          <a:solidFill>
                            <a:schemeClr val="tx1"/>
                          </a:solidFill>
                          <a:latin typeface="+mn-ea"/>
                          <a:ea typeface="+mn-ea"/>
                        </a:rPr>
                        <a:t>문제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latinLnBrk="1"/>
                      <a:r>
                        <a:rPr lang="ko-KR" altLang="en-US" sz="900" dirty="0">
                          <a:solidFill>
                            <a:schemeClr val="tx1"/>
                          </a:solidFill>
                          <a:latin typeface="+mn-ea"/>
                          <a:ea typeface="+mn-ea"/>
                        </a:rPr>
                        <a:t>설계결정</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5832843"/>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900" dirty="0">
                          <a:solidFill>
                            <a:schemeClr val="tx1"/>
                          </a:solidFill>
                          <a:latin typeface="+mn-ea"/>
                          <a:ea typeface="+mn-ea"/>
                        </a:rPr>
                        <a:t>시스템의 보안 정책 신뢰를 위한 신뢰 모델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44854258"/>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900" dirty="0">
                          <a:solidFill>
                            <a:schemeClr val="tx1"/>
                          </a:solidFill>
                          <a:latin typeface="+mn-ea"/>
                          <a:ea typeface="+mn-ea"/>
                        </a:rPr>
                        <a:t>접근 통제 일관성을 위한 보안 정책 및 권한 집행 모델</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186735000"/>
                  </a:ext>
                </a:extLst>
              </a:tr>
              <a:tr h="310855">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900" dirty="0">
                          <a:solidFill>
                            <a:schemeClr val="tx1"/>
                          </a:solidFill>
                          <a:latin typeface="+mn-ea"/>
                          <a:ea typeface="+mn-ea"/>
                        </a:rPr>
                        <a:t>pVM </a:t>
                      </a:r>
                      <a:r>
                        <a:rPr lang="ko-KR" altLang="en-US" sz="900" dirty="0">
                          <a:solidFill>
                            <a:schemeClr val="tx1"/>
                          </a:solidFill>
                          <a:latin typeface="+mn-ea"/>
                          <a:ea typeface="+mn-ea"/>
                        </a:rPr>
                        <a:t>관리 골격 설계</a:t>
                      </a:r>
                      <a:endParaRPr lang="en-US" altLang="ko-KR" sz="900" dirty="0">
                        <a:solidFill>
                          <a:schemeClr val="tx1"/>
                        </a:solidFill>
                        <a:latin typeface="+mn-ea"/>
                        <a:ea typeface="+mn-ea"/>
                      </a:endParaRPr>
                    </a:p>
                    <a:p>
                      <a:pPr latinLnBrk="1"/>
                      <a:r>
                        <a:rPr lang="ko-KR" altLang="en-US" sz="900" dirty="0">
                          <a:solidFill>
                            <a:schemeClr val="tx1"/>
                          </a:solidFill>
                          <a:latin typeface="+mn-ea"/>
                          <a:ea typeface="+mn-ea"/>
                        </a:rPr>
                        <a:t>한 </a:t>
                      </a:r>
                      <a:r>
                        <a:rPr lang="en-US" altLang="ko-KR" sz="900" dirty="0">
                          <a:solidFill>
                            <a:schemeClr val="tx1"/>
                          </a:solidFill>
                          <a:latin typeface="+mn-ea"/>
                          <a:ea typeface="+mn-ea"/>
                        </a:rPr>
                        <a:t>pVM</a:t>
                      </a:r>
                      <a:r>
                        <a:rPr lang="ko-KR" altLang="en-US" sz="900" dirty="0">
                          <a:solidFill>
                            <a:schemeClr val="tx1"/>
                          </a:solidFill>
                          <a:latin typeface="+mn-ea"/>
                          <a:ea typeface="+mn-ea"/>
                        </a:rPr>
                        <a:t>을 다루는 코드가 멈추거나 잘못 동작하면 공용 실행 흐름이 막혀 다른 </a:t>
                      </a:r>
                      <a:r>
                        <a:rPr lang="en-US" altLang="ko-KR" sz="900" dirty="0">
                          <a:solidFill>
                            <a:schemeClr val="tx1"/>
                          </a:solidFill>
                          <a:latin typeface="+mn-ea"/>
                          <a:ea typeface="+mn-ea"/>
                        </a:rPr>
                        <a:t>pVM</a:t>
                      </a:r>
                      <a:r>
                        <a:rPr lang="ko-KR" altLang="en-US" sz="900" dirty="0">
                          <a:solidFill>
                            <a:schemeClr val="tx1"/>
                          </a:solidFill>
                          <a:latin typeface="+mn-ea"/>
                          <a:ea typeface="+mn-ea"/>
                        </a:rPr>
                        <a:t>과 </a:t>
                      </a:r>
                      <a:r>
                        <a:rPr lang="en-US" altLang="ko-KR" sz="900" dirty="0">
                          <a:solidFill>
                            <a:schemeClr val="tx1"/>
                          </a:solidFill>
                          <a:latin typeface="+mn-ea"/>
                          <a:ea typeface="+mn-ea"/>
                        </a:rPr>
                        <a:t>Host </a:t>
                      </a:r>
                      <a:r>
                        <a:rPr lang="ko-KR" altLang="en-US" sz="900" dirty="0">
                          <a:solidFill>
                            <a:schemeClr val="tx1"/>
                          </a:solidFill>
                          <a:latin typeface="+mn-ea"/>
                          <a:ea typeface="+mn-ea"/>
                        </a:rPr>
                        <a:t>기능도 함께 중단될 수 있다</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7738535"/>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900" dirty="0">
                          <a:solidFill>
                            <a:schemeClr val="tx1"/>
                          </a:solidFill>
                          <a:latin typeface="+mn-ea"/>
                          <a:ea typeface="+mn-ea"/>
                        </a:rPr>
                        <a:t>보안 </a:t>
                      </a:r>
                      <a:r>
                        <a:rPr lang="en-US" altLang="ko-KR" sz="900" dirty="0">
                          <a:solidFill>
                            <a:schemeClr val="tx1"/>
                          </a:solidFill>
                          <a:latin typeface="+mn-ea"/>
                          <a:ea typeface="+mn-ea"/>
                        </a:rPr>
                        <a:t>Workload </a:t>
                      </a:r>
                      <a:r>
                        <a:rPr lang="ko-KR" altLang="en-US" sz="900" dirty="0">
                          <a:solidFill>
                            <a:schemeClr val="tx1"/>
                          </a:solidFill>
                          <a:latin typeface="+mn-ea"/>
                          <a:ea typeface="+mn-ea"/>
                        </a:rPr>
                        <a:t>실행 방식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95706872"/>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pVM-TEE </a:t>
                      </a:r>
                      <a:r>
                        <a:rPr lang="ko-KR" altLang="en-US" sz="900" dirty="0">
                          <a:solidFill>
                            <a:schemeClr val="tx1"/>
                          </a:solidFill>
                          <a:latin typeface="+mn-ea"/>
                          <a:ea typeface="+mn-ea"/>
                        </a:rPr>
                        <a:t>호출 경로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99870650"/>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ko-KR" altLang="en-US" sz="900" dirty="0">
                          <a:solidFill>
                            <a:schemeClr val="tx1"/>
                          </a:solidFill>
                          <a:latin typeface="+mn-ea"/>
                          <a:ea typeface="+mn-ea"/>
                        </a:rPr>
                        <a:t>작은 파일 </a:t>
                      </a:r>
                      <a:r>
                        <a:rPr lang="en-US" altLang="ko-KR" sz="900" dirty="0">
                          <a:solidFill>
                            <a:schemeClr val="tx1"/>
                          </a:solidFill>
                          <a:latin typeface="+mn-ea"/>
                          <a:ea typeface="+mn-ea"/>
                        </a:rPr>
                        <a:t>pVM</a:t>
                      </a:r>
                      <a:r>
                        <a:rPr lang="ko-KR" altLang="en-US" sz="900" dirty="0">
                          <a:solidFill>
                            <a:schemeClr val="tx1"/>
                          </a:solidFill>
                          <a:latin typeface="+mn-ea"/>
                          <a:ea typeface="+mn-ea"/>
                        </a:rPr>
                        <a:t>에 영구 저장</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749977016"/>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r>
                        <a:rPr lang="en-US" altLang="ko-KR" sz="900" dirty="0">
                          <a:solidFill>
                            <a:schemeClr val="tx1"/>
                          </a:solidFill>
                          <a:latin typeface="+mn-ea"/>
                          <a:ea typeface="+mn-ea"/>
                        </a:rPr>
                        <a:t>Host</a:t>
                      </a:r>
                      <a:r>
                        <a:rPr lang="ko-KR" altLang="en-US" sz="900" dirty="0">
                          <a:solidFill>
                            <a:schemeClr val="tx1"/>
                          </a:solidFill>
                          <a:latin typeface="+mn-ea"/>
                          <a:ea typeface="+mn-ea"/>
                        </a:rPr>
                        <a:t>의 저장소를 </a:t>
                      </a:r>
                      <a:r>
                        <a:rPr lang="en-US" altLang="ko-KR" sz="900" dirty="0">
                          <a:solidFill>
                            <a:schemeClr val="tx1"/>
                          </a:solidFill>
                          <a:latin typeface="+mn-ea"/>
                          <a:ea typeface="+mn-ea"/>
                        </a:rPr>
                        <a:t>pVM</a:t>
                      </a:r>
                      <a:r>
                        <a:rPr lang="ko-KR" altLang="en-US" sz="900" dirty="0">
                          <a:solidFill>
                            <a:schemeClr val="tx1"/>
                          </a:solidFill>
                          <a:latin typeface="+mn-ea"/>
                          <a:ea typeface="+mn-ea"/>
                        </a:rPr>
                        <a:t>의 </a:t>
                      </a:r>
                      <a:r>
                        <a:rPr lang="en-US" altLang="ko-KR" sz="900" dirty="0">
                          <a:solidFill>
                            <a:schemeClr val="tx1"/>
                          </a:solidFill>
                          <a:latin typeface="+mn-ea"/>
                          <a:ea typeface="+mn-ea"/>
                        </a:rPr>
                        <a:t>VFS</a:t>
                      </a:r>
                      <a:r>
                        <a:rPr lang="ko-KR" altLang="en-US" sz="900" dirty="0">
                          <a:solidFill>
                            <a:schemeClr val="tx1"/>
                          </a:solidFill>
                          <a:latin typeface="+mn-ea"/>
                          <a:ea typeface="+mn-ea"/>
                        </a:rPr>
                        <a:t>연결하는 방식</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900" dirty="0">
                          <a:solidFill>
                            <a:schemeClr val="tx1"/>
                          </a:solidFill>
                          <a:latin typeface="+mn-ea"/>
                          <a:ea typeface="+mn-ea"/>
                        </a:rPr>
                        <a:t>이 과제 설계의 범위 밖</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6341018"/>
                  </a:ext>
                </a:extLst>
              </a:tr>
              <a:tr h="229217">
                <a:tc>
                  <a:txBody>
                    <a:bodyPr/>
                    <a:lstStyle/>
                    <a:p>
                      <a:pPr algn="ct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1" hangingPunct="1">
                        <a:lnSpc>
                          <a:spcPct val="100000"/>
                        </a:lnSpc>
                        <a:spcBef>
                          <a:spcPts val="0"/>
                        </a:spcBef>
                        <a:spcAft>
                          <a:spcPts val="0"/>
                        </a:spcAft>
                        <a:buClrTx/>
                        <a:buSzTx/>
                        <a:buFontTx/>
                        <a:buNone/>
                        <a:tabLst/>
                        <a:defRPr/>
                      </a:pPr>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endParaRPr lang="ko-KR" altLang="en-US" sz="900" dirty="0">
                        <a:solidFill>
                          <a:schemeClr val="tx1"/>
                        </a:solidFill>
                        <a:latin typeface="+mn-ea"/>
                        <a:ea typeface="+mn-ea"/>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9531710"/>
                  </a:ext>
                </a:extLst>
              </a:tr>
            </a:tbl>
          </a:graphicData>
        </a:graphic>
      </p:graphicFrame>
    </p:spTree>
    <p:extLst>
      <p:ext uri="{BB962C8B-B14F-4D97-AF65-F5344CB8AC3E}">
        <p14:creationId xmlns:p14="http://schemas.microsoft.com/office/powerpoint/2010/main" val="27360223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2A6CF-8E5D-15AD-9E48-67F7648C2FE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7381810B-FD6B-AFD4-90C3-45F297754B29}"/>
              </a:ext>
            </a:extLst>
          </p:cNvPr>
          <p:cNvSpPr>
            <a:spLocks noGrp="1"/>
          </p:cNvSpPr>
          <p:nvPr>
            <p:ph type="title"/>
          </p:nvPr>
        </p:nvSpPr>
        <p:spPr/>
        <p:txBody>
          <a:bodyPr>
            <a:normAutofit/>
          </a:bodyPr>
          <a:lstStyle/>
          <a:p>
            <a:r>
              <a:rPr lang="en-US" altLang="ko-KR" dirty="0"/>
              <a:t>ATE, AVA</a:t>
            </a:r>
            <a:endParaRPr lang="ko-KR" altLang="en-US" dirty="0"/>
          </a:p>
        </p:txBody>
      </p:sp>
      <p:sp>
        <p:nvSpPr>
          <p:cNvPr id="7" name="내용 개체 틀 6">
            <a:extLst>
              <a:ext uri="{FF2B5EF4-FFF2-40B4-BE49-F238E27FC236}">
                <a16:creationId xmlns:a16="http://schemas.microsoft.com/office/drawing/2014/main" id="{66B0A405-E7E5-03FB-870D-A58F7ABF69B6}"/>
              </a:ext>
            </a:extLst>
          </p:cNvPr>
          <p:cNvSpPr>
            <a:spLocks noGrp="1"/>
          </p:cNvSpPr>
          <p:nvPr>
            <p:ph idx="1"/>
          </p:nvPr>
        </p:nvSpPr>
        <p:spPr>
          <a:xfrm>
            <a:off x="288388" y="721467"/>
            <a:ext cx="8114012" cy="3843499"/>
          </a:xfrm>
        </p:spPr>
        <p:txBody>
          <a:bodyPr/>
          <a:lstStyle/>
          <a:p>
            <a:r>
              <a:rPr lang="en-US" altLang="ko-KR" dirty="0"/>
              <a:t>EAL4(</a:t>
            </a:r>
            <a:r>
              <a:rPr lang="ko-KR" altLang="en-US" dirty="0"/>
              <a:t>설계부터 </a:t>
            </a:r>
            <a:r>
              <a:rPr lang="ko-KR" altLang="en-US" dirty="0" err="1"/>
              <a:t>쳬계적으로</a:t>
            </a:r>
            <a:r>
              <a:rPr lang="ko-KR" altLang="en-US" dirty="0"/>
              <a:t> 검증</a:t>
            </a:r>
            <a:r>
              <a:rPr lang="en-US" altLang="ko-KR" dirty="0"/>
              <a:t>)</a:t>
            </a:r>
            <a:endParaRPr lang="ko-KR" altLang="en-US" dirty="0"/>
          </a:p>
        </p:txBody>
      </p:sp>
      <p:graphicFrame>
        <p:nvGraphicFramePr>
          <p:cNvPr id="3" name="표 2">
            <a:extLst>
              <a:ext uri="{FF2B5EF4-FFF2-40B4-BE49-F238E27FC236}">
                <a16:creationId xmlns:a16="http://schemas.microsoft.com/office/drawing/2014/main" id="{350F45D8-F308-4F26-6993-C3BD6A24111F}"/>
              </a:ext>
            </a:extLst>
          </p:cNvPr>
          <p:cNvGraphicFramePr>
            <a:graphicFrameLocks noGrp="1"/>
          </p:cNvGraphicFramePr>
          <p:nvPr>
            <p:extLst>
              <p:ext uri="{D42A27DB-BD31-4B8C-83A1-F6EECF244321}">
                <p14:modId xmlns:p14="http://schemas.microsoft.com/office/powerpoint/2010/main" val="651323542"/>
              </p:ext>
            </p:extLst>
          </p:nvPr>
        </p:nvGraphicFramePr>
        <p:xfrm>
          <a:off x="4619656" y="1239387"/>
          <a:ext cx="3092025" cy="3262307"/>
        </p:xfrm>
        <a:graphic>
          <a:graphicData uri="http://schemas.openxmlformats.org/drawingml/2006/table">
            <a:tbl>
              <a:tblPr>
                <a:tableStyleId>{5C22544A-7EE6-4342-B048-85BDC9FD1C3A}</a:tableStyleId>
              </a:tblPr>
              <a:tblGrid>
                <a:gridCol w="1030675">
                  <a:extLst>
                    <a:ext uri="{9D8B030D-6E8A-4147-A177-3AD203B41FA5}">
                      <a16:colId xmlns:a16="http://schemas.microsoft.com/office/drawing/2014/main" val="2781179650"/>
                    </a:ext>
                  </a:extLst>
                </a:gridCol>
                <a:gridCol w="1030675">
                  <a:extLst>
                    <a:ext uri="{9D8B030D-6E8A-4147-A177-3AD203B41FA5}">
                      <a16:colId xmlns:a16="http://schemas.microsoft.com/office/drawing/2014/main" val="3630589722"/>
                    </a:ext>
                  </a:extLst>
                </a:gridCol>
                <a:gridCol w="1030675">
                  <a:extLst>
                    <a:ext uri="{9D8B030D-6E8A-4147-A177-3AD203B41FA5}">
                      <a16:colId xmlns:a16="http://schemas.microsoft.com/office/drawing/2014/main" val="2646064199"/>
                    </a:ext>
                  </a:extLst>
                </a:gridCol>
              </a:tblGrid>
              <a:tr h="143398">
                <a:tc>
                  <a:txBody>
                    <a:bodyPr/>
                    <a:lstStyle/>
                    <a:p>
                      <a:pPr>
                        <a:buNone/>
                      </a:pPr>
                      <a:r>
                        <a:rPr lang="ko-KR" sz="700"/>
                        <a:t>보증 클래스</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EAL4 요구 항목</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의미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42501518"/>
                  </a:ext>
                </a:extLst>
              </a:tr>
              <a:tr h="143398">
                <a:tc>
                  <a:txBody>
                    <a:bodyPr/>
                    <a:lstStyle/>
                    <a:p>
                      <a:pPr>
                        <a:buNone/>
                      </a:pPr>
                      <a:r>
                        <a:rPr lang="ko-KR" sz="700" dirty="0"/>
                        <a:t>ADV – </a:t>
                      </a:r>
                      <a:r>
                        <a:rPr lang="ko-KR" sz="700" dirty="0" err="1"/>
                        <a:t>Development</a:t>
                      </a: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ADV_ARC.1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보안 아키텍처 설명</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59428874"/>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ADV_FSP.4</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완전한 보안 기능 명세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70181928"/>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ADV_IMP.1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TSF 구현 표현</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2784253"/>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ADV_TDS.3</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모듈 수준 설계</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6864575"/>
                  </a:ext>
                </a:extLst>
              </a:tr>
              <a:tr h="143398">
                <a:tc>
                  <a:txBody>
                    <a:bodyPr/>
                    <a:lstStyle/>
                    <a:p>
                      <a:pPr>
                        <a:buNone/>
                      </a:pPr>
                      <a:r>
                        <a:rPr lang="ko-KR" sz="700"/>
                        <a:t>AGD – Guidance</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AGD_OPE.1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운영자/사용자 가이드</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43125958"/>
                  </a:ext>
                </a:extLst>
              </a:tr>
              <a:tr h="250947">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AGD_PRE.1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안전한 설치·초기화 절차</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120529875"/>
                  </a:ext>
                </a:extLst>
              </a:tr>
              <a:tr h="250947">
                <a:tc>
                  <a:txBody>
                    <a:bodyPr/>
                    <a:lstStyle/>
                    <a:p>
                      <a:pPr>
                        <a:buNone/>
                      </a:pPr>
                      <a:r>
                        <a:rPr lang="ko-KR" sz="700"/>
                        <a:t>ALC – Life-cycle</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ALC_CMC.4</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형상관리 자동화 및 릴리스 관리</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91372263"/>
                  </a:ext>
                </a:extLst>
              </a:tr>
              <a:tr h="250947">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ALC_CMS.4</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문제 추적을 포함한 형상관리 범위</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76980967"/>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ALC_DEL.1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안전한 제품 전달 절차</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45300305"/>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ALC_DVS.1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개발 환경 보안 대책</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4298021"/>
                  </a:ext>
                </a:extLst>
              </a:tr>
              <a:tr h="143398">
                <a:tc>
                  <a:txBody>
                    <a:bodyPr/>
                    <a:lstStyle/>
                    <a:p>
                      <a:pPr>
                        <a:buNone/>
                      </a:pP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ALC_LCD.1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개발 생명주기 모델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17458419"/>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ALC_TAT.1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개발 도구 관리</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170167"/>
                  </a:ext>
                </a:extLst>
              </a:tr>
              <a:tr h="250947">
                <a:tc>
                  <a:txBody>
                    <a:bodyPr/>
                    <a:lstStyle/>
                    <a:p>
                      <a:pPr>
                        <a:buNone/>
                      </a:pPr>
                      <a:r>
                        <a:rPr lang="ko-KR" sz="700" dirty="0"/>
                        <a:t>ASE – Security Target</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ASE_*</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a:t>Security Target 작성 및 검증</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285445103"/>
                  </a:ext>
                </a:extLst>
              </a:tr>
              <a:tr h="250947">
                <a:tc>
                  <a:txBody>
                    <a:bodyPr/>
                    <a:lstStyle/>
                    <a:p>
                      <a:pPr>
                        <a:buNone/>
                      </a:pPr>
                      <a:r>
                        <a:rPr lang="ko-KR" sz="700" dirty="0"/>
                        <a:t>ATE – </a:t>
                      </a:r>
                      <a:r>
                        <a:rPr lang="ko-KR" sz="700" dirty="0" err="1"/>
                        <a:t>Tests</a:t>
                      </a: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ATE_COV.2</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보안 요구사항-테스트 커버리지 분석</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3016671673"/>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ATE_DPT.1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설계 기반 테스트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1426775495"/>
                  </a:ext>
                </a:extLst>
              </a:tr>
              <a:tr h="143398">
                <a:tc>
                  <a:txBody>
                    <a:bodyPr/>
                    <a:lstStyle/>
                    <a:p>
                      <a:pPr>
                        <a:buNone/>
                      </a:pPr>
                      <a:endParaRPr lang="ko-KR" sz="70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ATE_FUN.1</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개발자 기능 테스트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424471569"/>
                  </a:ext>
                </a:extLst>
              </a:tr>
              <a:tr h="143398">
                <a:tc>
                  <a:txBody>
                    <a:bodyPr/>
                    <a:lstStyle/>
                    <a:p>
                      <a:pPr>
                        <a:buNone/>
                      </a:pP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dirty="0"/>
                        <a:t>ATE_IND.2</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buNone/>
                      </a:pPr>
                      <a:r>
                        <a:rPr lang="ko-KR" sz="700" dirty="0"/>
                        <a:t>평가기관 독립 테스트</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990120813"/>
                  </a:ext>
                </a:extLst>
              </a:tr>
              <a:tr h="143398">
                <a:tc>
                  <a:txBody>
                    <a:bodyPr/>
                    <a:lstStyle/>
                    <a:p>
                      <a:pPr>
                        <a:buNone/>
                      </a:pPr>
                      <a:r>
                        <a:rPr lang="ko-KR" sz="700" dirty="0"/>
                        <a:t>AVA – </a:t>
                      </a:r>
                      <a:r>
                        <a:rPr lang="ko-KR" sz="700" dirty="0" err="1"/>
                        <a:t>Vulnerability</a:t>
                      </a:r>
                      <a:endParaRPr lang="ko-KR" sz="700" dirty="0"/>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AVA_VAN.3</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tc>
                  <a:txBody>
                    <a:bodyPr/>
                    <a:lstStyle/>
                    <a:p>
                      <a:pPr>
                        <a:buNone/>
                      </a:pPr>
                      <a:r>
                        <a:rPr lang="ko-KR" sz="700" dirty="0"/>
                        <a:t>집중적인 취약점 분석</a:t>
                      </a:r>
                    </a:p>
                  </a:txBody>
                  <a:tcPr marL="35850" marR="35850" marT="17925" marB="179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20000"/>
                        <a:lumOff val="80000"/>
                      </a:schemeClr>
                    </a:solidFill>
                  </a:tcPr>
                </a:tc>
                <a:extLst>
                  <a:ext uri="{0D108BD9-81ED-4DB2-BD59-A6C34878D82A}">
                    <a16:rowId xmlns:a16="http://schemas.microsoft.com/office/drawing/2014/main" val="3785606377"/>
                  </a:ext>
                </a:extLst>
              </a:tr>
            </a:tbl>
          </a:graphicData>
        </a:graphic>
      </p:graphicFrame>
      <p:graphicFrame>
        <p:nvGraphicFramePr>
          <p:cNvPr id="4" name="표 3">
            <a:extLst>
              <a:ext uri="{FF2B5EF4-FFF2-40B4-BE49-F238E27FC236}">
                <a16:creationId xmlns:a16="http://schemas.microsoft.com/office/drawing/2014/main" id="{89EF82DE-5C81-9C99-C65F-882ADD777FA3}"/>
              </a:ext>
            </a:extLst>
          </p:cNvPr>
          <p:cNvGraphicFramePr>
            <a:graphicFrameLocks noGrp="1"/>
          </p:cNvGraphicFramePr>
          <p:nvPr>
            <p:extLst>
              <p:ext uri="{D42A27DB-BD31-4B8C-83A1-F6EECF244321}">
                <p14:modId xmlns:p14="http://schemas.microsoft.com/office/powerpoint/2010/main" val="2156565881"/>
              </p:ext>
            </p:extLst>
          </p:nvPr>
        </p:nvGraphicFramePr>
        <p:xfrm>
          <a:off x="552656" y="1246522"/>
          <a:ext cx="3536020" cy="2401019"/>
        </p:xfrm>
        <a:graphic>
          <a:graphicData uri="http://schemas.openxmlformats.org/drawingml/2006/table">
            <a:tbl>
              <a:tblPr>
                <a:tableStyleId>{5C22544A-7EE6-4342-B048-85BDC9FD1C3A}</a:tableStyleId>
              </a:tblPr>
              <a:tblGrid>
                <a:gridCol w="884005">
                  <a:extLst>
                    <a:ext uri="{9D8B030D-6E8A-4147-A177-3AD203B41FA5}">
                      <a16:colId xmlns:a16="http://schemas.microsoft.com/office/drawing/2014/main" val="3504725756"/>
                    </a:ext>
                  </a:extLst>
                </a:gridCol>
                <a:gridCol w="884005">
                  <a:extLst>
                    <a:ext uri="{9D8B030D-6E8A-4147-A177-3AD203B41FA5}">
                      <a16:colId xmlns:a16="http://schemas.microsoft.com/office/drawing/2014/main" val="625659574"/>
                    </a:ext>
                  </a:extLst>
                </a:gridCol>
                <a:gridCol w="884005">
                  <a:extLst>
                    <a:ext uri="{9D8B030D-6E8A-4147-A177-3AD203B41FA5}">
                      <a16:colId xmlns:a16="http://schemas.microsoft.com/office/drawing/2014/main" val="2341294007"/>
                    </a:ext>
                  </a:extLst>
                </a:gridCol>
                <a:gridCol w="884005">
                  <a:extLst>
                    <a:ext uri="{9D8B030D-6E8A-4147-A177-3AD203B41FA5}">
                      <a16:colId xmlns:a16="http://schemas.microsoft.com/office/drawing/2014/main" val="3289051576"/>
                    </a:ext>
                  </a:extLst>
                </a:gridCol>
              </a:tblGrid>
              <a:tr h="144438">
                <a:tc>
                  <a:txBody>
                    <a:bodyPr/>
                    <a:lstStyle/>
                    <a:p>
                      <a:pPr>
                        <a:buNone/>
                      </a:pPr>
                      <a:r>
                        <a:rPr lang="ko-KR" sz="700"/>
                        <a:t>레벨</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공식적 성격</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핵심 의미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검증 수준</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46043184"/>
                  </a:ext>
                </a:extLst>
              </a:tr>
              <a:tr h="253093">
                <a:tc>
                  <a:txBody>
                    <a:bodyPr/>
                    <a:lstStyle/>
                    <a:p>
                      <a:pPr>
                        <a:buNone/>
                      </a:pPr>
                      <a:r>
                        <a:rPr lang="ko-KR" sz="700"/>
                        <a:t>EAL1</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dirty="0" err="1"/>
                        <a:t>Functionally</a:t>
                      </a:r>
                      <a:r>
                        <a:rPr lang="ko-KR" sz="700" dirty="0"/>
                        <a:t> </a:t>
                      </a:r>
                      <a:r>
                        <a:rPr lang="ko-KR" sz="700" dirty="0" err="1"/>
                        <a:t>Tested</a:t>
                      </a:r>
                      <a:endParaRPr lang="ko-KR" sz="700" dirty="0"/>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기능적으로 테스트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기본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27944975"/>
                  </a:ext>
                </a:extLst>
              </a:tr>
              <a:tr h="253093">
                <a:tc>
                  <a:txBody>
                    <a:bodyPr/>
                    <a:lstStyle/>
                    <a:p>
                      <a:pPr>
                        <a:buNone/>
                      </a:pPr>
                      <a:r>
                        <a:rPr lang="ko-KR" sz="700"/>
                        <a:t>EAL2</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Structurally Tested</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구조를 고려한 테스트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낮음</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151458441"/>
                  </a:ext>
                </a:extLst>
              </a:tr>
              <a:tr h="361748">
                <a:tc>
                  <a:txBody>
                    <a:bodyPr/>
                    <a:lstStyle/>
                    <a:p>
                      <a:pPr>
                        <a:buNone/>
                      </a:pPr>
                      <a:r>
                        <a:rPr lang="ko-KR" sz="700"/>
                        <a:t>EAL3</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dirty="0" err="1"/>
                        <a:t>Methodically</a:t>
                      </a:r>
                      <a:r>
                        <a:rPr lang="ko-KR" sz="700" dirty="0"/>
                        <a:t> </a:t>
                      </a:r>
                      <a:r>
                        <a:rPr lang="ko-KR" sz="700" dirty="0" err="1"/>
                        <a:t>Tested</a:t>
                      </a:r>
                      <a:r>
                        <a:rPr lang="ko-KR" sz="700" dirty="0"/>
                        <a:t> and </a:t>
                      </a:r>
                      <a:r>
                        <a:rPr lang="ko-KR" sz="700" dirty="0" err="1"/>
                        <a:t>Checked</a:t>
                      </a:r>
                      <a:endParaRPr lang="ko-KR" sz="700" dirty="0"/>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체계적 테스트/검토</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중간</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57042364"/>
                  </a:ext>
                </a:extLst>
              </a:tr>
              <a:tr h="361748">
                <a:tc>
                  <a:txBody>
                    <a:bodyPr/>
                    <a:lstStyle/>
                    <a:p>
                      <a:pPr>
                        <a:buNone/>
                      </a:pPr>
                      <a:r>
                        <a:rPr lang="ko-KR" sz="700" dirty="0"/>
                        <a:t>EAL4</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ko-KR" sz="700" dirty="0" err="1"/>
                        <a:t>Methodically</a:t>
                      </a:r>
                      <a:r>
                        <a:rPr lang="ko-KR" sz="700" dirty="0"/>
                        <a:t> </a:t>
                      </a:r>
                      <a:r>
                        <a:rPr lang="ko-KR" sz="700" dirty="0" err="1"/>
                        <a:t>Designed</a:t>
                      </a:r>
                      <a:r>
                        <a:rPr lang="ko-KR" sz="700" dirty="0"/>
                        <a:t>, </a:t>
                      </a:r>
                      <a:r>
                        <a:rPr lang="ko-KR" sz="700" dirty="0" err="1"/>
                        <a:t>Tested</a:t>
                      </a:r>
                      <a:r>
                        <a:rPr lang="ko-KR" sz="700" dirty="0"/>
                        <a:t> and </a:t>
                      </a:r>
                      <a:r>
                        <a:rPr lang="ko-KR" sz="700" dirty="0" err="1"/>
                        <a:t>Reviewed</a:t>
                      </a:r>
                      <a:endParaRPr lang="ko-KR" sz="700" dirty="0"/>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ko-KR" sz="700" dirty="0"/>
                        <a:t>설계부터 체계적으로 검증</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buNone/>
                      </a:pPr>
                      <a:r>
                        <a:rPr lang="ko-KR" sz="700" dirty="0"/>
                        <a:t>중상</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1679146513"/>
                  </a:ext>
                </a:extLst>
              </a:tr>
              <a:tr h="361748">
                <a:tc>
                  <a:txBody>
                    <a:bodyPr/>
                    <a:lstStyle/>
                    <a:p>
                      <a:pPr>
                        <a:buNone/>
                      </a:pPr>
                      <a:r>
                        <a:rPr lang="ko-KR" sz="700"/>
                        <a:t>EAL5</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Semiformally Designed and Tested</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반정형 설계 및 테스트</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높음</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27321532"/>
                  </a:ext>
                </a:extLst>
              </a:tr>
              <a:tr h="361748">
                <a:tc>
                  <a:txBody>
                    <a:bodyPr/>
                    <a:lstStyle/>
                    <a:p>
                      <a:pPr>
                        <a:buNone/>
                      </a:pPr>
                      <a:r>
                        <a:rPr lang="ko-KR" sz="700" dirty="0"/>
                        <a:t>EAL6</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Semiformally Verified Design and Tested</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반정형 설계 검증</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매우 높음</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12184206"/>
                  </a:ext>
                </a:extLst>
              </a:tr>
              <a:tr h="253093">
                <a:tc>
                  <a:txBody>
                    <a:bodyPr/>
                    <a:lstStyle/>
                    <a:p>
                      <a:pPr>
                        <a:buNone/>
                      </a:pPr>
                      <a:r>
                        <a:rPr lang="ko-KR" sz="700"/>
                        <a:t>EAL7</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Formally Verified Design and Tested</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a:t>형식적 검증</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ko-KR" sz="700" dirty="0"/>
                        <a:t>최고</a:t>
                      </a:r>
                    </a:p>
                  </a:txBody>
                  <a:tcPr marL="50189" marR="50189" marT="25095" marB="2509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48892186"/>
                  </a:ext>
                </a:extLst>
              </a:tr>
            </a:tbl>
          </a:graphicData>
        </a:graphic>
      </p:graphicFrame>
    </p:spTree>
    <p:extLst>
      <p:ext uri="{BB962C8B-B14F-4D97-AF65-F5344CB8AC3E}">
        <p14:creationId xmlns:p14="http://schemas.microsoft.com/office/powerpoint/2010/main" val="255932347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0C9A2C-75C8-0A6C-06C8-F633233F7605}"/>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FA842A5-BEBB-EC31-7168-0D564F293A9D}"/>
              </a:ext>
            </a:extLst>
          </p:cNvPr>
          <p:cNvSpPr>
            <a:spLocks noGrp="1"/>
          </p:cNvSpPr>
          <p:nvPr>
            <p:ph type="title"/>
          </p:nvPr>
        </p:nvSpPr>
        <p:spPr>
          <a:xfrm>
            <a:off x="236765" y="166913"/>
            <a:ext cx="6234373" cy="409575"/>
          </a:xfrm>
        </p:spPr>
        <p:txBody>
          <a:bodyPr>
            <a:normAutofit/>
          </a:bodyPr>
          <a:lstStyle/>
          <a:p>
            <a:r>
              <a:rPr lang="en-US" altLang="ko-KR" dirty="0"/>
              <a:t>RPMB (Replay Protected Memory Block)</a:t>
            </a:r>
            <a:endParaRPr lang="ko-KR" altLang="en-US" dirty="0"/>
          </a:p>
        </p:txBody>
      </p:sp>
      <p:sp>
        <p:nvSpPr>
          <p:cNvPr id="7" name="내용 개체 틀 6">
            <a:extLst>
              <a:ext uri="{FF2B5EF4-FFF2-40B4-BE49-F238E27FC236}">
                <a16:creationId xmlns:a16="http://schemas.microsoft.com/office/drawing/2014/main" id="{437DEF75-A7F5-2253-A8B4-568FBDA3A036}"/>
              </a:ext>
            </a:extLst>
          </p:cNvPr>
          <p:cNvSpPr>
            <a:spLocks noGrp="1"/>
          </p:cNvSpPr>
          <p:nvPr>
            <p:ph idx="1"/>
          </p:nvPr>
        </p:nvSpPr>
        <p:spPr>
          <a:xfrm>
            <a:off x="288388" y="721467"/>
            <a:ext cx="8114012" cy="3843499"/>
          </a:xfrm>
        </p:spPr>
        <p:txBody>
          <a:bodyPr/>
          <a:lstStyle/>
          <a:p>
            <a:r>
              <a:rPr lang="ko-KR" altLang="en-US" sz="1200" dirty="0"/>
              <a:t>데이터의 위조와 이전 데이터의 재사용을 탐지</a:t>
            </a:r>
            <a:endParaRPr lang="en-US" altLang="ko-KR" sz="1200" dirty="0"/>
          </a:p>
          <a:p>
            <a:r>
              <a:rPr lang="ko-KR" altLang="en-US" sz="1200" dirty="0"/>
              <a:t>핵심요소</a:t>
            </a:r>
          </a:p>
        </p:txBody>
      </p:sp>
      <p:graphicFrame>
        <p:nvGraphicFramePr>
          <p:cNvPr id="5" name="표 4">
            <a:extLst>
              <a:ext uri="{FF2B5EF4-FFF2-40B4-BE49-F238E27FC236}">
                <a16:creationId xmlns:a16="http://schemas.microsoft.com/office/drawing/2014/main" id="{A2C100A6-13C2-976D-9C02-F143395992F9}"/>
              </a:ext>
            </a:extLst>
          </p:cNvPr>
          <p:cNvGraphicFramePr>
            <a:graphicFrameLocks noGrp="1"/>
          </p:cNvGraphicFramePr>
          <p:nvPr>
            <p:extLst>
              <p:ext uri="{D42A27DB-BD31-4B8C-83A1-F6EECF244321}">
                <p14:modId xmlns:p14="http://schemas.microsoft.com/office/powerpoint/2010/main" val="47865810"/>
              </p:ext>
            </p:extLst>
          </p:nvPr>
        </p:nvGraphicFramePr>
        <p:xfrm>
          <a:off x="514994" y="1400571"/>
          <a:ext cx="8114012" cy="1360344"/>
        </p:xfrm>
        <a:graphic>
          <a:graphicData uri="http://schemas.openxmlformats.org/drawingml/2006/table">
            <a:tbl>
              <a:tblPr>
                <a:tableStyleId>{5C22544A-7EE6-4342-B048-85BDC9FD1C3A}</a:tableStyleId>
              </a:tblPr>
              <a:tblGrid>
                <a:gridCol w="1347861">
                  <a:extLst>
                    <a:ext uri="{9D8B030D-6E8A-4147-A177-3AD203B41FA5}">
                      <a16:colId xmlns:a16="http://schemas.microsoft.com/office/drawing/2014/main" val="1961150165"/>
                    </a:ext>
                  </a:extLst>
                </a:gridCol>
                <a:gridCol w="2609557">
                  <a:extLst>
                    <a:ext uri="{9D8B030D-6E8A-4147-A177-3AD203B41FA5}">
                      <a16:colId xmlns:a16="http://schemas.microsoft.com/office/drawing/2014/main" val="653072366"/>
                    </a:ext>
                  </a:extLst>
                </a:gridCol>
                <a:gridCol w="4156594">
                  <a:extLst>
                    <a:ext uri="{9D8B030D-6E8A-4147-A177-3AD203B41FA5}">
                      <a16:colId xmlns:a16="http://schemas.microsoft.com/office/drawing/2014/main" val="1779645293"/>
                    </a:ext>
                  </a:extLst>
                </a:gridCol>
              </a:tblGrid>
              <a:tr h="174541">
                <a:tc>
                  <a:txBody>
                    <a:bodyPr/>
                    <a:lstStyle/>
                    <a:p>
                      <a:pPr algn="ctr">
                        <a:buNone/>
                      </a:pPr>
                      <a:r>
                        <a:rPr lang="ko-KR" sz="900" b="1" dirty="0">
                          <a:solidFill>
                            <a:schemeClr val="bg1"/>
                          </a:solidFill>
                          <a:effectLst/>
                        </a:rPr>
                        <a:t>요소</a:t>
                      </a:r>
                      <a:endParaRPr lang="ko-KR" sz="900" b="1" i="0" dirty="0">
                        <a:solidFill>
                          <a:schemeClr val="bg1"/>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algn="ctr">
                        <a:buNone/>
                      </a:pPr>
                      <a:r>
                        <a:rPr lang="ko-KR" altLang="en-US" sz="900" b="1" i="0" dirty="0">
                          <a:solidFill>
                            <a:schemeClr val="bg1"/>
                          </a:solidFill>
                          <a:effectLst/>
                          <a:latin typeface="-apple-system"/>
                        </a:rPr>
                        <a:t>생성 및 관리 주체</a:t>
                      </a:r>
                      <a:endParaRPr lang="ko-KR" sz="900" b="1" i="0" dirty="0">
                        <a:solidFill>
                          <a:schemeClr val="bg1"/>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algn="ctr">
                        <a:buNone/>
                      </a:pPr>
                      <a:r>
                        <a:rPr lang="ko-KR" sz="900" b="1" dirty="0">
                          <a:solidFill>
                            <a:schemeClr val="bg1"/>
                          </a:solidFill>
                          <a:effectLst/>
                        </a:rPr>
                        <a:t>역할</a:t>
                      </a:r>
                      <a:endParaRPr lang="ko-KR" sz="900" b="1" i="0" dirty="0">
                        <a:solidFill>
                          <a:schemeClr val="bg1"/>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3696109503"/>
                  </a:ext>
                </a:extLst>
              </a:tr>
              <a:tr h="286746">
                <a:tc>
                  <a:txBody>
                    <a:bodyPr/>
                    <a:lstStyle/>
                    <a:p>
                      <a:pPr algn="l">
                        <a:buNone/>
                      </a:pPr>
                      <a:r>
                        <a:rPr lang="ko-KR" sz="900" dirty="0" err="1">
                          <a:effectLst/>
                        </a:rPr>
                        <a:t>Authentication</a:t>
                      </a:r>
                      <a:r>
                        <a:rPr lang="ko-KR" sz="900" dirty="0">
                          <a:effectLst/>
                        </a:rPr>
                        <a:t> </a:t>
                      </a:r>
                      <a:r>
                        <a:rPr lang="ko-KR" sz="900" dirty="0" err="1">
                          <a:effectLst/>
                        </a:rPr>
                        <a:t>Key</a:t>
                      </a:r>
                      <a:endParaRPr lang="ko-KR" sz="90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ko-KR" sz="900" kern="1200" dirty="0">
                          <a:solidFill>
                            <a:schemeClr val="dk1"/>
                          </a:solidFill>
                          <a:effectLst/>
                          <a:latin typeface="+mn-lt"/>
                          <a:ea typeface="+mn-ea"/>
                          <a:cs typeface="+mn-cs"/>
                        </a:rPr>
                        <a:t>RPMB</a:t>
                      </a:r>
                      <a:r>
                        <a:rPr lang="ko-KR" altLang="ko-KR" sz="900" kern="1200" dirty="0">
                          <a:solidFill>
                            <a:schemeClr val="dk1"/>
                          </a:solidFill>
                          <a:effectLst/>
                          <a:latin typeface="+mn-lt"/>
                          <a:ea typeface="+mn-ea"/>
                          <a:cs typeface="+mn-cs"/>
                        </a:rPr>
                        <a:t>장치</a:t>
                      </a:r>
                      <a:r>
                        <a:rPr lang="en-US" altLang="ko-KR" sz="900" kern="1200" dirty="0">
                          <a:solidFill>
                            <a:schemeClr val="dk1"/>
                          </a:solidFill>
                          <a:effectLst/>
                          <a:latin typeface="+mn-lt"/>
                          <a:ea typeface="+mn-ea"/>
                          <a:cs typeface="+mn-cs"/>
                        </a:rPr>
                        <a:t>,</a:t>
                      </a:r>
                      <a:r>
                        <a:rPr lang="ko-KR" altLang="ko-KR" sz="900" kern="1200" dirty="0">
                          <a:solidFill>
                            <a:schemeClr val="dk1"/>
                          </a:solidFill>
                          <a:effectLst/>
                          <a:latin typeface="+mn-lt"/>
                          <a:ea typeface="+mn-ea"/>
                          <a:cs typeface="+mn-cs"/>
                        </a:rPr>
                        <a:t> 보안 소프트웨어</a:t>
                      </a:r>
                      <a:endParaRPr lang="ko-KR" altLang="en-US" sz="900" kern="1200" dirty="0">
                        <a:solidFill>
                          <a:schemeClr val="dk1"/>
                        </a:solidFill>
                        <a:effectLst/>
                        <a:latin typeface="+mn-lt"/>
                        <a:ea typeface="+mn-ea"/>
                        <a:cs typeface="+mn-cs"/>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900" dirty="0">
                          <a:effectLst/>
                        </a:rPr>
                        <a:t>요청과 응답의 인증에 사용</a:t>
                      </a:r>
                      <a:endParaRPr lang="en-US" altLang="ko-KR" sz="900" dirty="0">
                        <a:effectLst/>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68629408"/>
                  </a:ext>
                </a:extLst>
              </a:tr>
              <a:tr h="286746">
                <a:tc>
                  <a:txBody>
                    <a:bodyPr/>
                    <a:lstStyle/>
                    <a:p>
                      <a:pPr algn="l">
                        <a:buNone/>
                      </a:pPr>
                      <a:r>
                        <a:rPr lang="ko-KR" sz="900" dirty="0">
                          <a:effectLst/>
                        </a:rPr>
                        <a:t>HMAC-SHA256</a:t>
                      </a:r>
                      <a:endParaRPr lang="ko-KR" sz="90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altLang="ko-KR" sz="900" kern="1200" dirty="0">
                          <a:solidFill>
                            <a:schemeClr val="dk1"/>
                          </a:solidFill>
                          <a:effectLst/>
                          <a:latin typeface="+mn-lt"/>
                          <a:ea typeface="+mn-ea"/>
                          <a:cs typeface="+mn-cs"/>
                        </a:rPr>
                        <a:t>보안 소프트웨어</a:t>
                      </a:r>
                      <a:r>
                        <a:rPr lang="en-US" altLang="ko-KR" sz="900" kern="1200" dirty="0">
                          <a:solidFill>
                            <a:schemeClr val="dk1"/>
                          </a:solidFill>
                          <a:effectLst/>
                          <a:latin typeface="+mn-lt"/>
                          <a:ea typeface="+mn-ea"/>
                          <a:cs typeface="+mn-cs"/>
                        </a:rPr>
                        <a:t> (</a:t>
                      </a:r>
                      <a:r>
                        <a:rPr lang="ko-KR" altLang="ko-KR" sz="900" kern="1200" dirty="0">
                          <a:solidFill>
                            <a:schemeClr val="dk1"/>
                          </a:solidFill>
                          <a:effectLst/>
                          <a:latin typeface="+mn-lt"/>
                          <a:ea typeface="+mn-ea"/>
                          <a:cs typeface="+mn-cs"/>
                        </a:rPr>
                        <a:t>쓰기</a:t>
                      </a:r>
                      <a:r>
                        <a:rPr lang="en-US" altLang="ko-KR" sz="900" kern="1200" dirty="0">
                          <a:solidFill>
                            <a:schemeClr val="dk1"/>
                          </a:solidFill>
                          <a:effectLst/>
                          <a:latin typeface="+mn-lt"/>
                          <a:ea typeface="+mn-ea"/>
                          <a:cs typeface="+mn-cs"/>
                        </a:rPr>
                        <a:t>)</a:t>
                      </a:r>
                      <a:r>
                        <a:rPr lang="ko-KR" altLang="ko-KR" sz="900" kern="1200" dirty="0">
                          <a:solidFill>
                            <a:schemeClr val="dk1"/>
                          </a:solidFill>
                          <a:effectLst/>
                          <a:latin typeface="+mn-lt"/>
                          <a:ea typeface="+mn-ea"/>
                          <a:cs typeface="+mn-cs"/>
                        </a:rPr>
                        <a:t> </a:t>
                      </a:r>
                      <a:r>
                        <a:rPr lang="en-US" altLang="ko-KR" sz="900" kern="1200" dirty="0">
                          <a:solidFill>
                            <a:schemeClr val="dk1"/>
                          </a:solidFill>
                          <a:effectLst/>
                          <a:latin typeface="+mn-lt"/>
                          <a:ea typeface="+mn-ea"/>
                          <a:cs typeface="+mn-cs"/>
                        </a:rPr>
                        <a:t>, RPMB</a:t>
                      </a:r>
                      <a:r>
                        <a:rPr lang="ko-KR" altLang="ko-KR" sz="900" kern="1200" dirty="0">
                          <a:solidFill>
                            <a:schemeClr val="dk1"/>
                          </a:solidFill>
                          <a:effectLst/>
                          <a:latin typeface="+mn-lt"/>
                          <a:ea typeface="+mn-ea"/>
                          <a:cs typeface="+mn-cs"/>
                        </a:rPr>
                        <a:t>장치</a:t>
                      </a:r>
                      <a:r>
                        <a:rPr lang="en-US" altLang="ko-KR" sz="900" kern="1200" dirty="0">
                          <a:solidFill>
                            <a:schemeClr val="dk1"/>
                          </a:solidFill>
                          <a:effectLst/>
                          <a:latin typeface="+mn-lt"/>
                          <a:ea typeface="+mn-ea"/>
                          <a:cs typeface="+mn-cs"/>
                        </a:rPr>
                        <a:t> (</a:t>
                      </a:r>
                      <a:r>
                        <a:rPr lang="ko-KR" altLang="ko-KR" sz="900" kern="1200" dirty="0">
                          <a:solidFill>
                            <a:schemeClr val="dk1"/>
                          </a:solidFill>
                          <a:effectLst/>
                          <a:latin typeface="+mn-lt"/>
                          <a:ea typeface="+mn-ea"/>
                          <a:cs typeface="+mn-cs"/>
                        </a:rPr>
                        <a:t>읽기</a:t>
                      </a:r>
                      <a:r>
                        <a:rPr lang="en-US" altLang="ko-KR" sz="900" kern="1200" dirty="0">
                          <a:solidFill>
                            <a:schemeClr val="dk1"/>
                          </a:solidFill>
                          <a:effectLst/>
                          <a:latin typeface="+mn-lt"/>
                          <a:ea typeface="+mn-ea"/>
                          <a:cs typeface="+mn-cs"/>
                        </a:rPr>
                        <a:t>)</a:t>
                      </a:r>
                      <a:endParaRPr lang="ko-KR" altLang="en-US" sz="900" kern="1200" dirty="0">
                        <a:solidFill>
                          <a:schemeClr val="dk1"/>
                        </a:solidFill>
                        <a:effectLst/>
                        <a:latin typeface="+mn-lt"/>
                        <a:ea typeface="+mn-ea"/>
                        <a:cs typeface="+mn-cs"/>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900" b="1" dirty="0">
                          <a:solidFill>
                            <a:srgbClr val="0000FF"/>
                          </a:solidFill>
                          <a:effectLst/>
                        </a:rPr>
                        <a:t>올바른 주체</a:t>
                      </a:r>
                      <a:r>
                        <a:rPr lang="ko-KR" sz="900" dirty="0">
                          <a:effectLst/>
                        </a:rPr>
                        <a:t>에게서 </a:t>
                      </a:r>
                      <a:r>
                        <a:rPr lang="ko-KR" altLang="ko-KR" sz="900" dirty="0">
                          <a:effectLst/>
                        </a:rPr>
                        <a:t>데이터가 </a:t>
                      </a:r>
                      <a:r>
                        <a:rPr lang="ko-KR" sz="900" dirty="0">
                          <a:effectLst/>
                        </a:rPr>
                        <a:t>왔고 변경되지 않았는지 확인</a:t>
                      </a:r>
                      <a:endParaRPr lang="ko-KR" sz="900" b="0" i="0" dirty="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3548259"/>
                  </a:ext>
                </a:extLst>
              </a:tr>
              <a:tr h="286746">
                <a:tc>
                  <a:txBody>
                    <a:bodyPr/>
                    <a:lstStyle/>
                    <a:p>
                      <a:pPr algn="l">
                        <a:buNone/>
                      </a:pPr>
                      <a:r>
                        <a:rPr lang="ko-KR" sz="900">
                          <a:effectLst/>
                        </a:rPr>
                        <a:t>Write Counter</a:t>
                      </a:r>
                      <a:endParaRPr lang="ko-KR" sz="90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en-US" altLang="ko-KR" sz="900" kern="1200" dirty="0">
                          <a:solidFill>
                            <a:schemeClr val="dk1"/>
                          </a:solidFill>
                          <a:effectLst/>
                          <a:latin typeface="+mn-lt"/>
                          <a:ea typeface="+mn-ea"/>
                          <a:cs typeface="+mn-cs"/>
                        </a:rPr>
                        <a:t>RPMB </a:t>
                      </a:r>
                      <a:r>
                        <a:rPr lang="ko-KR" altLang="en-US" sz="900" kern="1200" dirty="0">
                          <a:solidFill>
                            <a:schemeClr val="dk1"/>
                          </a:solidFill>
                          <a:effectLst/>
                          <a:latin typeface="+mn-lt"/>
                          <a:ea typeface="+mn-ea"/>
                          <a:cs typeface="+mn-cs"/>
                        </a:rPr>
                        <a:t>장치</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900" b="1" dirty="0">
                          <a:solidFill>
                            <a:srgbClr val="0000FF"/>
                          </a:solidFill>
                          <a:effectLst/>
                        </a:rPr>
                        <a:t>쓰기가 성공할 때마다 증가</a:t>
                      </a:r>
                      <a:r>
                        <a:rPr lang="ko-KR" sz="900" dirty="0">
                          <a:effectLst/>
                        </a:rPr>
                        <a:t>. 과거 쓰기 요청의 </a:t>
                      </a:r>
                      <a:r>
                        <a:rPr lang="ko-KR" sz="900" b="0" dirty="0">
                          <a:solidFill>
                            <a:schemeClr val="tx1"/>
                          </a:solidFill>
                          <a:effectLst/>
                        </a:rPr>
                        <a:t>재사용을 차단</a:t>
                      </a:r>
                      <a:endParaRPr lang="en-US" altLang="ko-KR" sz="900" b="0" dirty="0">
                        <a:solidFill>
                          <a:schemeClr val="tx1"/>
                        </a:solidFill>
                        <a:effectLst/>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84610003"/>
                  </a:ext>
                </a:extLst>
              </a:tr>
              <a:tr h="286746">
                <a:tc>
                  <a:txBody>
                    <a:bodyPr/>
                    <a:lstStyle/>
                    <a:p>
                      <a:pPr algn="l">
                        <a:buNone/>
                      </a:pPr>
                      <a:r>
                        <a:rPr lang="ko-KR" sz="900">
                          <a:effectLst/>
                        </a:rPr>
                        <a:t>Nonce</a:t>
                      </a:r>
                      <a:endParaRPr lang="ko-KR" sz="900" b="0" i="0">
                        <a:solidFill>
                          <a:srgbClr val="000000"/>
                        </a:solidFill>
                        <a:effectLst/>
                        <a:latin typeface="-apple-system"/>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altLang="en-US" sz="900" kern="1200" dirty="0">
                          <a:solidFill>
                            <a:schemeClr val="dk1"/>
                          </a:solidFill>
                          <a:effectLst/>
                          <a:latin typeface="+mn-lt"/>
                          <a:ea typeface="+mn-ea"/>
                          <a:cs typeface="+mn-cs"/>
                        </a:rPr>
                        <a:t>보안 소프트웨어</a:t>
                      </a: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a:buNone/>
                      </a:pPr>
                      <a:r>
                        <a:rPr lang="ko-KR" sz="900" b="1" dirty="0">
                          <a:solidFill>
                            <a:srgbClr val="0000FF"/>
                          </a:solidFill>
                          <a:effectLst/>
                        </a:rPr>
                        <a:t>읽기 요청마다 새로 생성</a:t>
                      </a:r>
                      <a:r>
                        <a:rPr lang="ko-KR" sz="900" dirty="0">
                          <a:effectLst/>
                        </a:rPr>
                        <a:t>하는 임의 값. 과거 읽기 응답의 재사용을 탐지</a:t>
                      </a:r>
                      <a:endParaRPr lang="ko-KR" altLang="en-US" sz="900" dirty="0">
                        <a:effectLst/>
                      </a:endParaRPr>
                    </a:p>
                  </a:txBody>
                  <a:tcPr marL="76200" marR="76200" marT="38100" marB="381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06181636"/>
                  </a:ext>
                </a:extLst>
              </a:tr>
            </a:tbl>
          </a:graphicData>
        </a:graphic>
      </p:graphicFrame>
      <p:pic>
        <p:nvPicPr>
          <p:cNvPr id="9" name="그림 8">
            <a:extLst>
              <a:ext uri="{FF2B5EF4-FFF2-40B4-BE49-F238E27FC236}">
                <a16:creationId xmlns:a16="http://schemas.microsoft.com/office/drawing/2014/main" id="{4980F438-F4CE-FE66-B246-1579528C9CC4}"/>
              </a:ext>
            </a:extLst>
          </p:cNvPr>
          <p:cNvPicPr>
            <a:picLocks noChangeAspect="1"/>
          </p:cNvPicPr>
          <p:nvPr/>
        </p:nvPicPr>
        <p:blipFill>
          <a:blip r:embed="rId2"/>
          <a:stretch>
            <a:fillRect/>
          </a:stretch>
        </p:blipFill>
        <p:spPr>
          <a:xfrm>
            <a:off x="554539" y="2884402"/>
            <a:ext cx="2331168" cy="1856239"/>
          </a:xfrm>
          <a:prstGeom prst="rect">
            <a:avLst/>
          </a:prstGeom>
        </p:spPr>
      </p:pic>
      <p:pic>
        <p:nvPicPr>
          <p:cNvPr id="11" name="그림 10">
            <a:extLst>
              <a:ext uri="{FF2B5EF4-FFF2-40B4-BE49-F238E27FC236}">
                <a16:creationId xmlns:a16="http://schemas.microsoft.com/office/drawing/2014/main" id="{6663E947-3A9A-E963-8403-16D723A4946D}"/>
              </a:ext>
            </a:extLst>
          </p:cNvPr>
          <p:cNvPicPr>
            <a:picLocks noChangeAspect="1"/>
          </p:cNvPicPr>
          <p:nvPr/>
        </p:nvPicPr>
        <p:blipFill>
          <a:blip r:embed="rId3"/>
          <a:stretch>
            <a:fillRect/>
          </a:stretch>
        </p:blipFill>
        <p:spPr>
          <a:xfrm>
            <a:off x="3273356" y="2884402"/>
            <a:ext cx="3197782" cy="1989357"/>
          </a:xfrm>
          <a:prstGeom prst="rect">
            <a:avLst/>
          </a:prstGeom>
        </p:spPr>
      </p:pic>
      <p:pic>
        <p:nvPicPr>
          <p:cNvPr id="14" name="그림 13">
            <a:extLst>
              <a:ext uri="{FF2B5EF4-FFF2-40B4-BE49-F238E27FC236}">
                <a16:creationId xmlns:a16="http://schemas.microsoft.com/office/drawing/2014/main" id="{A6F34605-7DCF-EDA1-92E2-F7224846113C}"/>
              </a:ext>
            </a:extLst>
          </p:cNvPr>
          <p:cNvPicPr>
            <a:picLocks noChangeAspect="1"/>
          </p:cNvPicPr>
          <p:nvPr/>
        </p:nvPicPr>
        <p:blipFill>
          <a:blip r:embed="rId4"/>
          <a:stretch>
            <a:fillRect/>
          </a:stretch>
        </p:blipFill>
        <p:spPr>
          <a:xfrm>
            <a:off x="6880282" y="3396153"/>
            <a:ext cx="1635421" cy="1126323"/>
          </a:xfrm>
          <a:prstGeom prst="rect">
            <a:avLst/>
          </a:prstGeom>
        </p:spPr>
      </p:pic>
    </p:spTree>
    <p:extLst>
      <p:ext uri="{BB962C8B-B14F-4D97-AF65-F5344CB8AC3E}">
        <p14:creationId xmlns:p14="http://schemas.microsoft.com/office/powerpoint/2010/main" val="1994680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7BC208D-2C82-5AAC-79F9-14B273ACCCD2}"/>
              </a:ext>
            </a:extLst>
          </p:cNvPr>
          <p:cNvSpPr>
            <a:spLocks noGrp="1"/>
          </p:cNvSpPr>
          <p:nvPr>
            <p:ph type="title"/>
          </p:nvPr>
        </p:nvSpPr>
        <p:spPr>
          <a:xfrm>
            <a:off x="236765" y="166913"/>
            <a:ext cx="6555921" cy="409575"/>
          </a:xfrm>
        </p:spPr>
        <p:txBody>
          <a:bodyPr>
            <a:normAutofit/>
          </a:bodyPr>
          <a:lstStyle/>
          <a:p>
            <a:r>
              <a:rPr lang="en-US" altLang="ko-KR" dirty="0"/>
              <a:t>DMA HW</a:t>
            </a:r>
            <a:r>
              <a:rPr lang="ko-KR" altLang="en-US" dirty="0"/>
              <a:t>의 </a:t>
            </a:r>
            <a:r>
              <a:rPr lang="en-US" altLang="ko-KR" dirty="0"/>
              <a:t>Protected</a:t>
            </a:r>
            <a:r>
              <a:rPr lang="ko-KR" altLang="en-US" dirty="0"/>
              <a:t> </a:t>
            </a:r>
            <a:r>
              <a:rPr lang="en-US" altLang="ko-KR" dirty="0"/>
              <a:t>Memory </a:t>
            </a:r>
            <a:r>
              <a:rPr lang="ko-KR" altLang="en-US" dirty="0"/>
              <a:t>침해 방지 방법</a:t>
            </a:r>
          </a:p>
        </p:txBody>
      </p:sp>
      <p:sp>
        <p:nvSpPr>
          <p:cNvPr id="3" name="내용 개체 틀 2">
            <a:extLst>
              <a:ext uri="{FF2B5EF4-FFF2-40B4-BE49-F238E27FC236}">
                <a16:creationId xmlns:a16="http://schemas.microsoft.com/office/drawing/2014/main" id="{ED7C955F-8AA2-8DA5-636A-C9C563D14869}"/>
              </a:ext>
            </a:extLst>
          </p:cNvPr>
          <p:cNvSpPr>
            <a:spLocks noGrp="1"/>
          </p:cNvSpPr>
          <p:nvPr>
            <p:ph idx="1"/>
          </p:nvPr>
        </p:nvSpPr>
        <p:spPr>
          <a:xfrm>
            <a:off x="333829" y="721467"/>
            <a:ext cx="8181521" cy="800356"/>
          </a:xfrm>
        </p:spPr>
        <p:txBody>
          <a:bodyPr/>
          <a:lstStyle/>
          <a:p>
            <a:r>
              <a:rPr lang="en-US" altLang="ko-KR" dirty="0"/>
              <a:t>VID</a:t>
            </a:r>
            <a:r>
              <a:rPr lang="ko-KR" altLang="en-US" dirty="0"/>
              <a:t>기반의 하드웨어 </a:t>
            </a:r>
            <a:r>
              <a:rPr lang="en-US" altLang="ko-KR" dirty="0"/>
              <a:t>2</a:t>
            </a:r>
            <a:r>
              <a:rPr lang="ko-KR" altLang="en-US" dirty="0"/>
              <a:t>단계 보안 체계</a:t>
            </a:r>
            <a:r>
              <a:rPr lang="en-US" altLang="ko-KR" dirty="0"/>
              <a:t>(VGEN &amp; S2MPU)</a:t>
            </a:r>
            <a:r>
              <a:rPr lang="ko-KR" altLang="en-US" dirty="0"/>
              <a:t>를 적용하여 </a:t>
            </a:r>
            <a:r>
              <a:rPr lang="en-US" altLang="ko-KR" dirty="0"/>
              <a:t>Host</a:t>
            </a:r>
            <a:r>
              <a:rPr lang="ko-KR" altLang="en-US" dirty="0"/>
              <a:t>와 </a:t>
            </a:r>
            <a:r>
              <a:rPr lang="en-US" altLang="ko-KR" dirty="0"/>
              <a:t>pVM</a:t>
            </a:r>
            <a:r>
              <a:rPr lang="ko-KR" altLang="en-US" dirty="0"/>
              <a:t>간의 </a:t>
            </a:r>
            <a:r>
              <a:rPr lang="en-US" altLang="ko-KR" dirty="0"/>
              <a:t>DMA </a:t>
            </a:r>
            <a:r>
              <a:rPr lang="ko-KR" altLang="en-US" dirty="0"/>
              <a:t>메모리 상호 침범을 원천 차단</a:t>
            </a:r>
          </a:p>
        </p:txBody>
      </p:sp>
      <p:sp>
        <p:nvSpPr>
          <p:cNvPr id="5" name="TextBox 4">
            <a:extLst>
              <a:ext uri="{FF2B5EF4-FFF2-40B4-BE49-F238E27FC236}">
                <a16:creationId xmlns:a16="http://schemas.microsoft.com/office/drawing/2014/main" id="{9D854786-4C42-F9C0-C199-FBF3CC10E12D}"/>
              </a:ext>
            </a:extLst>
          </p:cNvPr>
          <p:cNvSpPr txBox="1"/>
          <p:nvPr/>
        </p:nvSpPr>
        <p:spPr>
          <a:xfrm>
            <a:off x="5657892" y="2779864"/>
            <a:ext cx="2623959" cy="626262"/>
          </a:xfrm>
          <a:prstGeom prst="rect">
            <a:avLst/>
          </a:prstGeom>
          <a:noFill/>
        </p:spPr>
        <p:txBody>
          <a:bodyPr wrap="square" rtlCol="0">
            <a:spAutoFit/>
          </a:bodyPr>
          <a:lstStyle/>
          <a:p>
            <a:pPr algn="l">
              <a:lnSpc>
                <a:spcPct val="150000"/>
              </a:lnSpc>
            </a:pPr>
            <a:r>
              <a:rPr lang="en-US" altLang="ko-KR" sz="800" b="1" dirty="0">
                <a:solidFill>
                  <a:srgbClr val="0000FF"/>
                </a:solidFill>
              </a:rPr>
              <a:t>VGEN </a:t>
            </a:r>
            <a:r>
              <a:rPr lang="ko-KR" altLang="en-US" sz="800" b="1" dirty="0">
                <a:solidFill>
                  <a:srgbClr val="0000FF"/>
                </a:solidFill>
              </a:rPr>
              <a:t>에서 </a:t>
            </a:r>
            <a:r>
              <a:rPr lang="en-US" altLang="ko-KR" sz="800" b="1" dirty="0">
                <a:solidFill>
                  <a:srgbClr val="0000FF"/>
                </a:solidFill>
              </a:rPr>
              <a:t>VID</a:t>
            </a:r>
            <a:r>
              <a:rPr lang="ko-KR" altLang="en-US" sz="800" b="1" dirty="0">
                <a:solidFill>
                  <a:srgbClr val="0000FF"/>
                </a:solidFill>
              </a:rPr>
              <a:t>를 </a:t>
            </a:r>
            <a:r>
              <a:rPr lang="en-US" altLang="ko-KR" sz="800" b="1" dirty="0">
                <a:solidFill>
                  <a:srgbClr val="0000FF"/>
                </a:solidFill>
              </a:rPr>
              <a:t>switch</a:t>
            </a:r>
            <a:r>
              <a:rPr lang="ko-KR" altLang="en-US" sz="800" b="1" dirty="0">
                <a:solidFill>
                  <a:srgbClr val="0000FF"/>
                </a:solidFill>
              </a:rPr>
              <a:t>하여</a:t>
            </a:r>
            <a:endParaRPr lang="en-US" altLang="ko-KR" sz="800" b="1" dirty="0">
              <a:solidFill>
                <a:srgbClr val="0000FF"/>
              </a:solidFill>
            </a:endParaRPr>
          </a:p>
          <a:p>
            <a:pPr algn="l">
              <a:lnSpc>
                <a:spcPct val="150000"/>
              </a:lnSpc>
            </a:pPr>
            <a:r>
              <a:rPr lang="en-US" altLang="ko-KR" sz="800" b="1" dirty="0">
                <a:solidFill>
                  <a:srgbClr val="0000FF"/>
                </a:solidFill>
              </a:rPr>
              <a:t>Stage</a:t>
            </a:r>
            <a:r>
              <a:rPr lang="ko-KR" altLang="en-US" sz="800" b="1" dirty="0">
                <a:solidFill>
                  <a:srgbClr val="0000FF"/>
                </a:solidFill>
              </a:rPr>
              <a:t> </a:t>
            </a:r>
            <a:r>
              <a:rPr lang="en-US" altLang="ko-KR" sz="800" b="1" dirty="0">
                <a:solidFill>
                  <a:srgbClr val="0000FF"/>
                </a:solidFill>
              </a:rPr>
              <a:t>2</a:t>
            </a:r>
            <a:r>
              <a:rPr lang="ko-KR" altLang="en-US" sz="800" b="1" dirty="0">
                <a:solidFill>
                  <a:srgbClr val="0000FF"/>
                </a:solidFill>
              </a:rPr>
              <a:t> </a:t>
            </a:r>
            <a:r>
              <a:rPr lang="en-US" altLang="ko-KR" sz="800" b="1" dirty="0">
                <a:solidFill>
                  <a:srgbClr val="0000FF"/>
                </a:solidFill>
              </a:rPr>
              <a:t>MMU</a:t>
            </a:r>
            <a:r>
              <a:rPr lang="ko-KR" altLang="en-US" sz="800" b="1" dirty="0">
                <a:solidFill>
                  <a:srgbClr val="0000FF"/>
                </a:solidFill>
              </a:rPr>
              <a:t>가 참조하는 </a:t>
            </a:r>
            <a:r>
              <a:rPr lang="en-US" altLang="ko-KR" sz="800" b="1" dirty="0">
                <a:solidFill>
                  <a:srgbClr val="0000FF"/>
                </a:solidFill>
              </a:rPr>
              <a:t>Page Table</a:t>
            </a:r>
            <a:r>
              <a:rPr lang="ko-KR" altLang="en-US" sz="800" b="1" dirty="0">
                <a:solidFill>
                  <a:srgbClr val="0000FF"/>
                </a:solidFill>
              </a:rPr>
              <a:t>이 달라지고</a:t>
            </a:r>
            <a:endParaRPr lang="en-US" altLang="ko-KR" sz="800" b="1" dirty="0">
              <a:solidFill>
                <a:srgbClr val="0000FF"/>
              </a:solidFill>
            </a:endParaRPr>
          </a:p>
          <a:p>
            <a:pPr algn="l">
              <a:lnSpc>
                <a:spcPct val="150000"/>
              </a:lnSpc>
            </a:pPr>
            <a:r>
              <a:rPr lang="ko-KR" altLang="en-US" sz="800" b="1" dirty="0">
                <a:solidFill>
                  <a:srgbClr val="0000FF"/>
                </a:solidFill>
              </a:rPr>
              <a:t>이로 인해 </a:t>
            </a:r>
            <a:r>
              <a:rPr lang="en-US" altLang="ko-KR" sz="800" b="1" dirty="0">
                <a:solidFill>
                  <a:srgbClr val="0000FF"/>
                </a:solidFill>
              </a:rPr>
              <a:t>Access</a:t>
            </a:r>
            <a:r>
              <a:rPr lang="ko-KR" altLang="en-US" sz="800" b="1" dirty="0">
                <a:solidFill>
                  <a:srgbClr val="0000FF"/>
                </a:solidFill>
              </a:rPr>
              <a:t>하는 메모리가 달라짐</a:t>
            </a:r>
          </a:p>
        </p:txBody>
      </p:sp>
      <p:pic>
        <p:nvPicPr>
          <p:cNvPr id="6" name="그림 5">
            <a:extLst>
              <a:ext uri="{FF2B5EF4-FFF2-40B4-BE49-F238E27FC236}">
                <a16:creationId xmlns:a16="http://schemas.microsoft.com/office/drawing/2014/main" id="{E4D33359-1111-7C12-13F0-83283F572D0D}"/>
              </a:ext>
            </a:extLst>
          </p:cNvPr>
          <p:cNvPicPr>
            <a:picLocks noChangeAspect="1"/>
          </p:cNvPicPr>
          <p:nvPr/>
        </p:nvPicPr>
        <p:blipFill>
          <a:blip r:embed="rId2"/>
          <a:stretch>
            <a:fillRect/>
          </a:stretch>
        </p:blipFill>
        <p:spPr>
          <a:xfrm>
            <a:off x="2174445" y="1710947"/>
            <a:ext cx="3927927" cy="2877381"/>
          </a:xfrm>
          <a:prstGeom prst="rect">
            <a:avLst/>
          </a:prstGeom>
        </p:spPr>
      </p:pic>
    </p:spTree>
    <p:extLst>
      <p:ext uri="{BB962C8B-B14F-4D97-AF65-F5344CB8AC3E}">
        <p14:creationId xmlns:p14="http://schemas.microsoft.com/office/powerpoint/2010/main" val="240358396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2422812-CB6C-ED19-CA29-EADB89697288}"/>
              </a:ext>
            </a:extLst>
          </p:cNvPr>
          <p:cNvSpPr>
            <a:spLocks noGrp="1"/>
          </p:cNvSpPr>
          <p:nvPr>
            <p:ph type="title"/>
          </p:nvPr>
        </p:nvSpPr>
        <p:spPr>
          <a:xfrm>
            <a:off x="236765" y="166913"/>
            <a:ext cx="5386795" cy="409575"/>
          </a:xfrm>
        </p:spPr>
        <p:txBody>
          <a:bodyPr/>
          <a:lstStyle/>
          <a:p>
            <a:r>
              <a:rPr lang="en-US" altLang="ko-KR" dirty="0"/>
              <a:t>ARM Exception Level (EL)</a:t>
            </a:r>
            <a:endParaRPr lang="ko-KR" altLang="en-US" dirty="0"/>
          </a:p>
        </p:txBody>
      </p:sp>
      <p:sp>
        <p:nvSpPr>
          <p:cNvPr id="3" name="내용 개체 틀 2">
            <a:extLst>
              <a:ext uri="{FF2B5EF4-FFF2-40B4-BE49-F238E27FC236}">
                <a16:creationId xmlns:a16="http://schemas.microsoft.com/office/drawing/2014/main" id="{CFB9A216-F6D1-99E7-2C9B-797231F73822}"/>
              </a:ext>
            </a:extLst>
          </p:cNvPr>
          <p:cNvSpPr>
            <a:spLocks noGrp="1"/>
          </p:cNvSpPr>
          <p:nvPr>
            <p:ph idx="1"/>
          </p:nvPr>
        </p:nvSpPr>
        <p:spPr/>
        <p:txBody>
          <a:bodyPr/>
          <a:lstStyle/>
          <a:p>
            <a:r>
              <a:rPr lang="en-US" altLang="ko-KR" dirty="0"/>
              <a:t>CPU </a:t>
            </a:r>
            <a:r>
              <a:rPr lang="ko-KR" altLang="en-US" dirty="0"/>
              <a:t>권한과 격리를 나누는 </a:t>
            </a:r>
            <a:r>
              <a:rPr lang="en-US" altLang="ko-KR" dirty="0"/>
              <a:t>4</a:t>
            </a:r>
            <a:r>
              <a:rPr lang="ko-KR" altLang="en-US" dirty="0"/>
              <a:t>단계 실행 계층</a:t>
            </a:r>
            <a:endParaRPr lang="en-US" altLang="ko-KR" dirty="0"/>
          </a:p>
          <a:p>
            <a:endParaRPr lang="en-US" altLang="ko-KR" dirty="0"/>
          </a:p>
          <a:p>
            <a:endParaRPr lang="en-US" altLang="ko-KR" dirty="0"/>
          </a:p>
          <a:p>
            <a:endParaRPr lang="en-US" altLang="ko-KR" dirty="0"/>
          </a:p>
          <a:p>
            <a:endParaRPr lang="en-US" altLang="ko-KR" dirty="0"/>
          </a:p>
          <a:p>
            <a:r>
              <a:rPr lang="en-US" altLang="ko-KR" dirty="0"/>
              <a:t>EL</a:t>
            </a:r>
            <a:r>
              <a:rPr lang="ko-KR" altLang="en-US" dirty="0"/>
              <a:t>간 전환</a:t>
            </a:r>
          </a:p>
        </p:txBody>
      </p:sp>
      <p:graphicFrame>
        <p:nvGraphicFramePr>
          <p:cNvPr id="4" name="표 3">
            <a:extLst>
              <a:ext uri="{FF2B5EF4-FFF2-40B4-BE49-F238E27FC236}">
                <a16:creationId xmlns:a16="http://schemas.microsoft.com/office/drawing/2014/main" id="{26F1C25C-F0A3-5EE1-D07E-796F5D4FAAD6}"/>
              </a:ext>
            </a:extLst>
          </p:cNvPr>
          <p:cNvGraphicFramePr>
            <a:graphicFrameLocks noGrp="1"/>
          </p:cNvGraphicFramePr>
          <p:nvPr>
            <p:extLst>
              <p:ext uri="{D42A27DB-BD31-4B8C-83A1-F6EECF244321}">
                <p14:modId xmlns:p14="http://schemas.microsoft.com/office/powerpoint/2010/main" val="2675758577"/>
              </p:ext>
            </p:extLst>
          </p:nvPr>
        </p:nvGraphicFramePr>
        <p:xfrm>
          <a:off x="701040" y="1232082"/>
          <a:ext cx="3237411" cy="1257300"/>
        </p:xfrm>
        <a:graphic>
          <a:graphicData uri="http://schemas.openxmlformats.org/drawingml/2006/table">
            <a:tbl>
              <a:tblPr firstRow="1" bandRow="1">
                <a:tableStyleId>{5C22544A-7EE6-4342-B048-85BDC9FD1C3A}</a:tableStyleId>
              </a:tblPr>
              <a:tblGrid>
                <a:gridCol w="470581">
                  <a:extLst>
                    <a:ext uri="{9D8B030D-6E8A-4147-A177-3AD203B41FA5}">
                      <a16:colId xmlns:a16="http://schemas.microsoft.com/office/drawing/2014/main" val="3242671622"/>
                    </a:ext>
                  </a:extLst>
                </a:gridCol>
                <a:gridCol w="1262590">
                  <a:extLst>
                    <a:ext uri="{9D8B030D-6E8A-4147-A177-3AD203B41FA5}">
                      <a16:colId xmlns:a16="http://schemas.microsoft.com/office/drawing/2014/main" val="1101510208"/>
                    </a:ext>
                  </a:extLst>
                </a:gridCol>
                <a:gridCol w="1504240">
                  <a:extLst>
                    <a:ext uri="{9D8B030D-6E8A-4147-A177-3AD203B41FA5}">
                      <a16:colId xmlns:a16="http://schemas.microsoft.com/office/drawing/2014/main" val="2473124378"/>
                    </a:ext>
                  </a:extLst>
                </a:gridCol>
              </a:tblGrid>
              <a:tr h="175026">
                <a:tc>
                  <a:txBody>
                    <a:bodyPr/>
                    <a:lstStyle/>
                    <a:p>
                      <a:pPr latinLnBrk="1"/>
                      <a:r>
                        <a:rPr lang="en-US" altLang="ko-KR" sz="1050" dirty="0"/>
                        <a:t>EL</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latinLnBrk="1"/>
                      <a:r>
                        <a:rPr lang="ko-KR" altLang="en-US" sz="1050" dirty="0"/>
                        <a:t>책임</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tc>
                  <a:txBody>
                    <a:bodyPr/>
                    <a:lstStyle/>
                    <a:p>
                      <a:pPr latinLnBrk="1"/>
                      <a:r>
                        <a:rPr lang="ko-KR" altLang="en-US" sz="1050" dirty="0"/>
                        <a:t>주체</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201411244"/>
                  </a:ext>
                </a:extLst>
              </a:tr>
              <a:tr h="175026">
                <a:tc>
                  <a:txBody>
                    <a:bodyPr/>
                    <a:lstStyle/>
                    <a:p>
                      <a:pPr latinLnBrk="1"/>
                      <a:r>
                        <a:rPr lang="en-US" altLang="ko-KR" sz="1050" dirty="0"/>
                        <a:t>EL0</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Business Logic </a:t>
                      </a:r>
                      <a:r>
                        <a:rPr lang="ko-KR" altLang="en-US" sz="1050" dirty="0"/>
                        <a:t>실행</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Application</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15623894"/>
                  </a:ext>
                </a:extLst>
              </a:tr>
              <a:tr h="175026">
                <a:tc>
                  <a:txBody>
                    <a:bodyPr/>
                    <a:lstStyle/>
                    <a:p>
                      <a:pPr latinLnBrk="1"/>
                      <a:r>
                        <a:rPr lang="en-US" altLang="ko-KR" sz="1050" dirty="0"/>
                        <a:t>EL1</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OS </a:t>
                      </a:r>
                      <a:r>
                        <a:rPr lang="ko-KR" altLang="en-US" sz="1050" dirty="0"/>
                        <a:t>자원 통제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Kernel</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33139469"/>
                  </a:ext>
                </a:extLst>
              </a:tr>
              <a:tr h="175026">
                <a:tc>
                  <a:txBody>
                    <a:bodyPr/>
                    <a:lstStyle/>
                    <a:p>
                      <a:pPr latinLnBrk="1"/>
                      <a:r>
                        <a:rPr lang="en-US" altLang="ko-KR" sz="1050" dirty="0"/>
                        <a:t>EL2</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VM </a:t>
                      </a:r>
                      <a:r>
                        <a:rPr lang="ko-KR" altLang="en-US" sz="1050" dirty="0"/>
                        <a:t>격리 통제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Hypervisor</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546502907"/>
                  </a:ext>
                </a:extLst>
              </a:tr>
              <a:tr h="118682">
                <a:tc>
                  <a:txBody>
                    <a:bodyPr/>
                    <a:lstStyle/>
                    <a:p>
                      <a:pPr latinLnBrk="1"/>
                      <a:r>
                        <a:rPr lang="en-US" altLang="ko-KR" sz="1050" dirty="0"/>
                        <a:t>EL3</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ko-KR" altLang="en-US" sz="1050" dirty="0"/>
                        <a:t>최상위 보안 통제</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latinLnBrk="1"/>
                      <a:r>
                        <a:rPr lang="en-US" altLang="ko-KR" sz="1050" dirty="0"/>
                        <a:t>Secure Monitor</a:t>
                      </a:r>
                      <a:endParaRPr lang="ko-KR" altLang="en-US" sz="105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294188894"/>
                  </a:ext>
                </a:extLst>
              </a:tr>
            </a:tbl>
          </a:graphicData>
        </a:graphic>
      </p:graphicFrame>
      <p:sp>
        <p:nvSpPr>
          <p:cNvPr id="5" name="화살표: 아래쪽 4">
            <a:extLst>
              <a:ext uri="{FF2B5EF4-FFF2-40B4-BE49-F238E27FC236}">
                <a16:creationId xmlns:a16="http://schemas.microsoft.com/office/drawing/2014/main" id="{50CEE31D-CAF9-0040-0E76-A5582DF7BE92}"/>
              </a:ext>
            </a:extLst>
          </p:cNvPr>
          <p:cNvSpPr/>
          <p:nvPr/>
        </p:nvSpPr>
        <p:spPr>
          <a:xfrm>
            <a:off x="283106" y="1731794"/>
            <a:ext cx="285749" cy="51598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TextBox 5">
            <a:extLst>
              <a:ext uri="{FF2B5EF4-FFF2-40B4-BE49-F238E27FC236}">
                <a16:creationId xmlns:a16="http://schemas.microsoft.com/office/drawing/2014/main" id="{E055EA35-E181-EFA2-AAC4-710C46EC3D03}"/>
              </a:ext>
            </a:extLst>
          </p:cNvPr>
          <p:cNvSpPr txBox="1"/>
          <p:nvPr/>
        </p:nvSpPr>
        <p:spPr>
          <a:xfrm>
            <a:off x="143691" y="2266406"/>
            <a:ext cx="564578" cy="200055"/>
          </a:xfrm>
          <a:prstGeom prst="rect">
            <a:avLst/>
          </a:prstGeom>
          <a:noFill/>
        </p:spPr>
        <p:txBody>
          <a:bodyPr wrap="none" rtlCol="0">
            <a:spAutoFit/>
          </a:bodyPr>
          <a:lstStyle/>
          <a:p>
            <a:pPr algn="l"/>
            <a:r>
              <a:rPr lang="ko-KR" altLang="en-US" sz="700" dirty="0">
                <a:solidFill>
                  <a:srgbClr val="0000FF"/>
                </a:solidFill>
              </a:rPr>
              <a:t>높은 권한</a:t>
            </a:r>
          </a:p>
        </p:txBody>
      </p:sp>
      <p:sp>
        <p:nvSpPr>
          <p:cNvPr id="7" name="TextBox 6">
            <a:extLst>
              <a:ext uri="{FF2B5EF4-FFF2-40B4-BE49-F238E27FC236}">
                <a16:creationId xmlns:a16="http://schemas.microsoft.com/office/drawing/2014/main" id="{E37E54AF-92FD-3AB0-C50F-7D19B7968DDA}"/>
              </a:ext>
            </a:extLst>
          </p:cNvPr>
          <p:cNvSpPr txBox="1"/>
          <p:nvPr/>
        </p:nvSpPr>
        <p:spPr>
          <a:xfrm>
            <a:off x="143691" y="1513111"/>
            <a:ext cx="564578" cy="200055"/>
          </a:xfrm>
          <a:prstGeom prst="rect">
            <a:avLst/>
          </a:prstGeom>
          <a:noFill/>
        </p:spPr>
        <p:txBody>
          <a:bodyPr wrap="none" rtlCol="0">
            <a:spAutoFit/>
          </a:bodyPr>
          <a:lstStyle/>
          <a:p>
            <a:pPr algn="l"/>
            <a:r>
              <a:rPr lang="ko-KR" altLang="en-US" sz="700" dirty="0">
                <a:solidFill>
                  <a:srgbClr val="0000FF"/>
                </a:solidFill>
              </a:rPr>
              <a:t>낮은 권한</a:t>
            </a:r>
          </a:p>
        </p:txBody>
      </p:sp>
      <p:pic>
        <p:nvPicPr>
          <p:cNvPr id="12" name="그림 11">
            <a:extLst>
              <a:ext uri="{FF2B5EF4-FFF2-40B4-BE49-F238E27FC236}">
                <a16:creationId xmlns:a16="http://schemas.microsoft.com/office/drawing/2014/main" id="{BCFDBBE2-C293-BE33-8D75-5F95736B7A3A}"/>
              </a:ext>
            </a:extLst>
          </p:cNvPr>
          <p:cNvPicPr>
            <a:picLocks noChangeAspect="1"/>
          </p:cNvPicPr>
          <p:nvPr/>
        </p:nvPicPr>
        <p:blipFill>
          <a:blip r:embed="rId2"/>
          <a:stretch>
            <a:fillRect/>
          </a:stretch>
        </p:blipFill>
        <p:spPr>
          <a:xfrm>
            <a:off x="4572000" y="1860732"/>
            <a:ext cx="3678310" cy="2266866"/>
          </a:xfrm>
          <a:prstGeom prst="rect">
            <a:avLst/>
          </a:prstGeom>
        </p:spPr>
      </p:pic>
    </p:spTree>
    <p:extLst>
      <p:ext uri="{BB962C8B-B14F-4D97-AF65-F5344CB8AC3E}">
        <p14:creationId xmlns:p14="http://schemas.microsoft.com/office/powerpoint/2010/main" val="1807393495"/>
      </p:ext>
    </p:extLst>
  </p:cSld>
  <p:clrMapOvr>
    <a:masterClrMapping/>
  </p:clrMapOvr>
</p:sld>
</file>

<file path=ppt/theme/theme1.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맑은 고딕">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wrap="none" rtlCol="0">
        <a:spAutoFit/>
      </a:bodyPr>
      <a:lstStyle>
        <a:defPPr algn="l">
          <a:defRPr sz="600" dirty="0" smtClean="0">
            <a:solidFill>
              <a:srgbClr val="FF0000"/>
            </a:solidFill>
            <a:highlight>
              <a:srgbClr val="FFFF00"/>
            </a:highlight>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6648</TotalTime>
  <Words>2825</Words>
  <Application>Microsoft Office PowerPoint</Application>
  <PresentationFormat>화면 슬라이드 쇼(16:9)</PresentationFormat>
  <Paragraphs>620</Paragraphs>
  <Slides>17</Slides>
  <Notes>0</Notes>
  <HiddenSlides>0</HiddenSlides>
  <MMClips>0</MMClips>
  <ScaleCrop>false</ScaleCrop>
  <HeadingPairs>
    <vt:vector size="8" baseType="variant">
      <vt:variant>
        <vt:lpstr>사용한 글꼴</vt:lpstr>
      </vt:variant>
      <vt:variant>
        <vt:i4>7</vt:i4>
      </vt:variant>
      <vt:variant>
        <vt:lpstr>테마</vt:lpstr>
      </vt:variant>
      <vt:variant>
        <vt:i4>1</vt:i4>
      </vt:variant>
      <vt:variant>
        <vt:lpstr>포함된 OLE 서버</vt:lpstr>
      </vt:variant>
      <vt:variant>
        <vt:i4>1</vt:i4>
      </vt:variant>
      <vt:variant>
        <vt:lpstr>슬라이드 제목</vt:lpstr>
      </vt:variant>
      <vt:variant>
        <vt:i4>17</vt:i4>
      </vt:variant>
    </vt:vector>
  </HeadingPairs>
  <TitlesOfParts>
    <vt:vector size="26" baseType="lpstr">
      <vt:lpstr>-apple-system</vt:lpstr>
      <vt:lpstr>Arial Unicode MS</vt:lpstr>
      <vt:lpstr>맑은 고딕</vt:lpstr>
      <vt:lpstr>Arial</vt:lpstr>
      <vt:lpstr>Calibri</vt:lpstr>
      <vt:lpstr>Segoe UI</vt:lpstr>
      <vt:lpstr>Wingdings</vt:lpstr>
      <vt:lpstr>디자인 사용자 지정</vt:lpstr>
      <vt:lpstr>Document</vt:lpstr>
      <vt:lpstr>GlobalPlatform 표준 지원 - 타사 현황</vt:lpstr>
      <vt:lpstr>Secure Vision AI 시나리오</vt:lpstr>
      <vt:lpstr>보안과 연관된 법규 사례</vt:lpstr>
      <vt:lpstr>Voice Of Stakeholder</vt:lpstr>
      <vt:lpstr>유즈케이스 도출</vt:lpstr>
      <vt:lpstr>Utility Tree</vt:lpstr>
      <vt:lpstr>품질 속성 평가</vt:lpstr>
      <vt:lpstr>VOS &lt;-&gt; AD matrix</vt:lpstr>
      <vt:lpstr>TCB – Trusted Computing Base</vt:lpstr>
      <vt:lpstr>Secure Boot &amp; Loading Flow</vt:lpstr>
      <vt:lpstr>Control Path의 메타정보 노출</vt:lpstr>
      <vt:lpstr>보안 품질속성에 적합한 정량 메트릭</vt:lpstr>
      <vt:lpstr>추가 DP</vt:lpstr>
      <vt:lpstr>ATE, AVA</vt:lpstr>
      <vt:lpstr>RPMB (Replay Protected Memory Block)</vt:lpstr>
      <vt:lpstr>DMA HW의 Protected Memory 침해 방지 방법</vt:lpstr>
      <vt:lpstr>ARM Exception Level (EL)</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Boram Park</cp:lastModifiedBy>
  <cp:revision>282</cp:revision>
  <dcterms:created xsi:type="dcterms:W3CDTF">2026-06-24T10:41:37Z</dcterms:created>
  <dcterms:modified xsi:type="dcterms:W3CDTF">2026-09-03T03:21:18Z</dcterms:modified>
</cp:coreProperties>
</file>