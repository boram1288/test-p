
<file path=[Content_Types].xml><?xml version="1.0" encoding="utf-8"?>
<Types xmlns="http://schemas.openxmlformats.org/package/2006/content-types">
  <Default Extension="docx" ContentType="application/vnd.openxmlformats-officedocument.wordprocessingml.document"/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1"/>
  </p:sldMasterIdLst>
  <p:notesMasterIdLst>
    <p:notesMasterId r:id="rId19"/>
  </p:notesMasterIdLst>
  <p:sldIdLst>
    <p:sldId id="276" r:id="rId2"/>
    <p:sldId id="297" r:id="rId3"/>
    <p:sldId id="296" r:id="rId4"/>
    <p:sldId id="283" r:id="rId5"/>
    <p:sldId id="284" r:id="rId6"/>
    <p:sldId id="285" r:id="rId7"/>
    <p:sldId id="286" r:id="rId8"/>
    <p:sldId id="287" r:id="rId9"/>
    <p:sldId id="293" r:id="rId10"/>
    <p:sldId id="288" r:id="rId11"/>
    <p:sldId id="298" r:id="rId12"/>
    <p:sldId id="301" r:id="rId13"/>
    <p:sldId id="303" r:id="rId14"/>
    <p:sldId id="302" r:id="rId15"/>
    <p:sldId id="300" r:id="rId16"/>
    <p:sldId id="304" r:id="rId17"/>
    <p:sldId id="305" r:id="rId1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000D25"/>
    <a:srgbClr val="000066"/>
    <a:srgbClr val="001E54"/>
    <a:srgbClr val="C8D5FF"/>
    <a:srgbClr val="00E5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024" autoAdjust="0"/>
    <p:restoredTop sz="91273" autoAdjust="0"/>
  </p:normalViewPr>
  <p:slideViewPr>
    <p:cSldViewPr snapToGrid="0" snapToObjects="1">
      <p:cViewPr varScale="1">
        <p:scale>
          <a:sx n="146" d="100"/>
          <a:sy n="146" d="100"/>
        </p:scale>
        <p:origin x="858" y="11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 snapToObjects="1">
      <p:cViewPr varScale="1">
        <p:scale>
          <a:sx n="62" d="100"/>
          <a:sy n="62" d="100"/>
        </p:scale>
        <p:origin x="3562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709016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158776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736977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AE1A9C-FC98-3A78-5374-58F8EFBD3D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6765" y="166913"/>
            <a:ext cx="4052205" cy="409575"/>
          </a:xfrm>
        </p:spPr>
        <p:txBody>
          <a:bodyPr>
            <a:normAutofit/>
          </a:bodyPr>
          <a:lstStyle>
            <a:lvl1pPr>
              <a:defRPr sz="2200">
                <a:solidFill>
                  <a:schemeClr val="tx1"/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DE25A48-D972-99C6-6D45-5547084FB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543300" y="4967018"/>
            <a:ext cx="2057400" cy="140195"/>
          </a:xfrm>
        </p:spPr>
        <p:txBody>
          <a:bodyPr/>
          <a:lstStyle>
            <a:lvl1pPr algn="ctr">
              <a:defRPr/>
            </a:lvl1pPr>
          </a:lstStyle>
          <a:p>
            <a:pPr algn="ctr"/>
            <a:fld id="{0C4C3D73-DF24-43D6-9730-D1B53762B53A}" type="slidenum">
              <a:rPr lang="ko-KR" altLang="en-US" smtClean="0"/>
              <a:pPr/>
              <a:t>‹#›</a:t>
            </a:fld>
            <a:endParaRPr lang="ko-KR" altLang="en-US"/>
          </a:p>
        </p:txBody>
      </p: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B92EF4B3-6A60-92A0-F8BB-FBE8CC1887FB}"/>
              </a:ext>
            </a:extLst>
          </p:cNvPr>
          <p:cNvCxnSpPr/>
          <p:nvPr userDrawn="1"/>
        </p:nvCxnSpPr>
        <p:spPr>
          <a:xfrm>
            <a:off x="185966" y="181427"/>
            <a:ext cx="0" cy="355600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1D397C1-0FFF-9070-F7FD-C37D52E875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3829" y="721467"/>
            <a:ext cx="8181521" cy="2998478"/>
          </a:xfrm>
          <a:prstGeom prst="rect">
            <a:avLst/>
          </a:prstGeom>
        </p:spPr>
        <p:txBody>
          <a:bodyPr/>
          <a:lstStyle>
            <a:lvl1pPr>
              <a:lnSpc>
                <a:spcPct val="120000"/>
              </a:lnSpc>
              <a:buFont typeface="Wingdings" panose="05000000000000000000" pitchFamily="2" charset="2"/>
              <a:buChar char="ü"/>
              <a:defRPr sz="1600" b="1">
                <a:latin typeface="+mn-ea"/>
                <a:ea typeface="+mn-ea"/>
              </a:defRPr>
            </a:lvl1pPr>
            <a:lvl2pPr marL="432000">
              <a:lnSpc>
                <a:spcPct val="120000"/>
              </a:lnSpc>
              <a:buFont typeface="Wingdings" panose="05000000000000000000" pitchFamily="2" charset="2"/>
              <a:buChar char="l"/>
              <a:defRPr sz="1200">
                <a:latin typeface="+mn-ea"/>
                <a:ea typeface="+mn-ea"/>
              </a:defRPr>
            </a:lvl2pPr>
            <a:lvl3pPr marL="532800" indent="-115200">
              <a:buFont typeface="Wingdings" panose="05000000000000000000" pitchFamily="2" charset="2"/>
              <a:buChar char="§"/>
              <a:defRPr sz="1050"/>
            </a:lvl3pPr>
            <a:lvl4pPr marL="864000">
              <a:defRPr sz="700"/>
            </a:lvl4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  <a:endParaRPr lang="en-US" altLang="ko-KR" dirty="0"/>
          </a:p>
          <a:p>
            <a:pPr lvl="2"/>
            <a:r>
              <a:rPr lang="ko-KR" altLang="en-US" dirty="0"/>
              <a:t>세번째 수준</a:t>
            </a:r>
          </a:p>
        </p:txBody>
      </p:sp>
    </p:spTree>
    <p:extLst>
      <p:ext uri="{BB962C8B-B14F-4D97-AF65-F5344CB8AC3E}">
        <p14:creationId xmlns:p14="http://schemas.microsoft.com/office/powerpoint/2010/main" val="14430531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슬라이드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0D060EF7-7470-FB9E-1EFC-ED23C2A1915B}"/>
              </a:ext>
            </a:extLst>
          </p:cNvPr>
          <p:cNvSpPr/>
          <p:nvPr userDrawn="1"/>
        </p:nvSpPr>
        <p:spPr>
          <a:xfrm>
            <a:off x="0" y="0"/>
            <a:ext cx="9144000" cy="173181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A66C22F-BB9B-1FC0-9201-972B6F576BF7}"/>
              </a:ext>
            </a:extLst>
          </p:cNvPr>
          <p:cNvSpPr/>
          <p:nvPr userDrawn="1"/>
        </p:nvSpPr>
        <p:spPr>
          <a:xfrm>
            <a:off x="0" y="2958021"/>
            <a:ext cx="9144000" cy="21854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E868DCA2-18CB-49A6-B959-E3CD6EE233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38009" y="1945409"/>
            <a:ext cx="5162145" cy="799019"/>
          </a:xfrm>
          <a:solidFill>
            <a:srgbClr val="000D25">
              <a:alpha val="47843"/>
            </a:srgbClr>
          </a:solidFill>
          <a:ln>
            <a:noFill/>
          </a:ln>
        </p:spPr>
        <p:txBody>
          <a:bodyPr anchor="ctr">
            <a:normAutofit/>
          </a:bodyPr>
          <a:lstStyle>
            <a:lvl1pPr algn="ctr">
              <a:defRPr sz="3200">
                <a:solidFill>
                  <a:schemeClr val="bg1"/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689618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D20ECF5-690A-4355-800C-90DC9036C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4638"/>
            <a:ext cx="7886700" cy="5962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E34C767-C6BE-FE36-F8D3-4ABE64605B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4C3D73-DF24-43D6-9730-D1B53762B5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80395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51" r:id="rId2"/>
    <p:sldLayoutId id="2147483666" r:id="rId3"/>
    <p:sldLayoutId id="2147483665" r:id="rId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400" b="1" kern="1200">
          <a:solidFill>
            <a:srgbClr val="00006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optee.readthedocs.io/en/latest/architecture/globalplatform_api.html" TargetMode="Externa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Word_Document.docx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package" Target="../embeddings/Microsoft_Word_Document1.docx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9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7F6EB-EBE1-66F6-C5B2-6AF4E23628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CB79A5-C062-2550-8864-5DD1D5D94A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요구사항 분석</a:t>
            </a:r>
          </a:p>
        </p:txBody>
      </p:sp>
    </p:spTree>
    <p:extLst>
      <p:ext uri="{BB962C8B-B14F-4D97-AF65-F5344CB8AC3E}">
        <p14:creationId xmlns:p14="http://schemas.microsoft.com/office/powerpoint/2010/main" val="7334302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F73E8A-5FF4-D1CB-F742-934177095E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타사 현황</a:t>
            </a:r>
          </a:p>
        </p:txBody>
      </p:sp>
      <p:graphicFrame>
        <p:nvGraphicFramePr>
          <p:cNvPr id="4" name="내용 개체 틀 3">
            <a:extLst>
              <a:ext uri="{FF2B5EF4-FFF2-40B4-BE49-F238E27FC236}">
                <a16:creationId xmlns:a16="http://schemas.microsoft.com/office/drawing/2014/main" id="{4F0EF36E-84A3-D22B-C69A-65D002FC0CD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67675284"/>
              </p:ext>
            </p:extLst>
          </p:nvPr>
        </p:nvGraphicFramePr>
        <p:xfrm>
          <a:off x="300532" y="749297"/>
          <a:ext cx="8519912" cy="3787651"/>
        </p:xfrm>
        <a:graphic>
          <a:graphicData uri="http://schemas.openxmlformats.org/drawingml/2006/table">
            <a:tbl>
              <a:tblPr/>
              <a:tblGrid>
                <a:gridCol w="972594">
                  <a:extLst>
                    <a:ext uri="{9D8B030D-6E8A-4147-A177-3AD203B41FA5}">
                      <a16:colId xmlns:a16="http://schemas.microsoft.com/office/drawing/2014/main" val="2848902809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153074573"/>
                    </a:ext>
                  </a:extLst>
                </a:gridCol>
                <a:gridCol w="1329397">
                  <a:extLst>
                    <a:ext uri="{9D8B030D-6E8A-4147-A177-3AD203B41FA5}">
                      <a16:colId xmlns:a16="http://schemas.microsoft.com/office/drawing/2014/main" val="364038947"/>
                    </a:ext>
                  </a:extLst>
                </a:gridCol>
                <a:gridCol w="1329397">
                  <a:extLst>
                    <a:ext uri="{9D8B030D-6E8A-4147-A177-3AD203B41FA5}">
                      <a16:colId xmlns:a16="http://schemas.microsoft.com/office/drawing/2014/main" val="3151439181"/>
                    </a:ext>
                  </a:extLst>
                </a:gridCol>
                <a:gridCol w="2693964">
                  <a:extLst>
                    <a:ext uri="{9D8B030D-6E8A-4147-A177-3AD203B41FA5}">
                      <a16:colId xmlns:a16="http://schemas.microsoft.com/office/drawing/2014/main" val="3238966100"/>
                    </a:ext>
                  </a:extLst>
                </a:gridCol>
              </a:tblGrid>
              <a:tr h="530863">
                <a:tc>
                  <a:txBody>
                    <a:bodyPr/>
                    <a:lstStyle/>
                    <a:p>
                      <a:pPr marL="0" marR="0" algn="ctr" rtl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100" b="1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제조사</a:t>
                      </a: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rtl="0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로봇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/ IoT</a:t>
                      </a:r>
                    </a:p>
                    <a:p>
                      <a:pPr marL="0" marR="0" algn="ctr" rtl="0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ko-KR" sz="1100" b="1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SoC 제품군</a:t>
                      </a: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rtl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Host OS</a:t>
                      </a:r>
                      <a:endParaRPr lang="ko-KR" sz="1100" b="1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rtl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Secure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OS</a:t>
                      </a:r>
                      <a:endParaRPr lang="ko-KR" sz="1100" b="1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rtl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ko-KR" sz="11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GP 관련 핵심 보안 기술 / 인증</a:t>
                      </a:r>
                      <a:endParaRPr lang="ko-KR" sz="1100" b="1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407507"/>
                  </a:ext>
                </a:extLst>
              </a:tr>
              <a:tr h="814197">
                <a:tc>
                  <a:txBody>
                    <a:bodyPr/>
                    <a:lstStyle/>
                    <a:p>
                      <a:pPr marL="0" marR="0" algn="ctr" rtl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altLang="ko-KR" sz="1100" b="1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Qualcomm</a:t>
                      </a: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 defTabSz="914400" rtl="0" eaLnBrk="1" latinLnBrk="1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Robotics</a:t>
                      </a:r>
                      <a:r>
                        <a:rPr lang="ko-KR" altLang="en-US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Platform</a:t>
                      </a:r>
                      <a:endParaRPr lang="ko-KR" altLang="en-US" sz="11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algn="l" defTabSz="914400" rtl="0" eaLnBrk="1" latinLnBrk="1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(RB5, RB3 </a:t>
                      </a:r>
                      <a:r>
                        <a:rPr lang="ko-KR" altLang="en-US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등</a:t>
                      </a: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1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ko-KR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Qualcomm Linux</a:t>
                      </a:r>
                      <a:b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</a:br>
                      <a:r>
                        <a:rPr lang="ko-KR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(Ubuntu 기반)</a:t>
                      </a: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1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QTEE</a:t>
                      </a:r>
                      <a:b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</a:br>
                      <a:r>
                        <a:rPr lang="ko-KR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(Qualcomm TEE)</a:t>
                      </a: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 defTabSz="914400" rtl="0" eaLnBrk="1" latinLnBrk="1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GP </a:t>
                      </a:r>
                      <a:r>
                        <a:rPr lang="ko-KR" altLang="en-US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협회 핵심 회원사로 활동 및 표준 지원 </a:t>
                      </a:r>
                      <a:endParaRPr lang="ko-KR" altLang="ko-KR" sz="11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016703"/>
                  </a:ext>
                </a:extLst>
              </a:tr>
              <a:tr h="814197">
                <a:tc>
                  <a:txBody>
                    <a:bodyPr/>
                    <a:lstStyle/>
                    <a:p>
                      <a:pPr marL="0" marR="0" algn="ctr" rtl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altLang="ko-KR" sz="1100" b="1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NXP</a:t>
                      </a: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 defTabSz="914400" rtl="0" eaLnBrk="1" latinLnBrk="1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i.MX </a:t>
                      </a:r>
                      <a:r>
                        <a:rPr lang="ko-KR" altLang="en-US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시리즈</a:t>
                      </a: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</a:p>
                    <a:p>
                      <a:pPr marL="0" marR="0" algn="l" defTabSz="914400" rtl="0" eaLnBrk="1" latinLnBrk="1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(i.MX 8, i.MX 9 </a:t>
                      </a:r>
                      <a:r>
                        <a:rPr lang="ko-KR" altLang="en-US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등</a:t>
                      </a: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Embedded Linux</a:t>
                      </a:r>
                      <a:endParaRPr lang="ko-KR" altLang="ko-KR" sz="11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1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ko-KR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OP-TEE</a:t>
                      </a: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/</a:t>
                      </a:r>
                      <a:endParaRPr lang="ko-KR" altLang="ko-KR" sz="11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algn="ctr" defTabSz="914400" rtl="0" eaLnBrk="1" latinLnBrk="1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ko-KR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Proprietary TEE</a:t>
                      </a: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 defTabSz="914400" rtl="0" eaLnBrk="1" latinLnBrk="1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ko-KR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SESIP </a:t>
                      </a:r>
                      <a:r>
                        <a:rPr lang="ko-KR" altLang="en-US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전단계 인증</a:t>
                      </a:r>
                      <a:endParaRPr lang="ko-KR" altLang="ko-KR" sz="11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6896755"/>
                  </a:ext>
                </a:extLst>
              </a:tr>
              <a:tr h="814197">
                <a:tc>
                  <a:txBody>
                    <a:bodyPr/>
                    <a:lstStyle/>
                    <a:p>
                      <a:pPr marL="0" marR="0" algn="ctr" rtl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altLang="ko-KR" sz="1100" b="1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TI</a:t>
                      </a: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rtl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AM6x </a:t>
                      </a:r>
                      <a:r>
                        <a:rPr lang="ko-KR" altLang="en-US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시리즈</a:t>
                      </a:r>
                      <a:endParaRPr lang="en-US" altLang="ko-KR" sz="11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rtl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Processor SDK Linux</a:t>
                      </a:r>
                      <a:endParaRPr lang="ko-KR" altLang="en-US" sz="11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1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ko-KR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OP-TEE</a:t>
                      </a:r>
                      <a:endParaRPr lang="ko-KR" altLang="en-US" sz="11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 defTabSz="914400" rtl="0" eaLnBrk="1" latinLnBrk="1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ko-KR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PSA Certified 체계 및 SESIP 요구사항을 칩 설계 단계부터 반영</a:t>
                      </a:r>
                      <a:endParaRPr lang="ko-KR" altLang="en-US" sz="11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3835409"/>
                  </a:ext>
                </a:extLst>
              </a:tr>
              <a:tr h="814197">
                <a:tc>
                  <a:txBody>
                    <a:bodyPr/>
                    <a:lstStyle/>
                    <a:p>
                      <a:pPr marL="0" marR="0" algn="ctr" rtl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altLang="ko-KR" sz="1100" b="1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Nvidia</a:t>
                      </a:r>
                      <a:endParaRPr lang="ko-KR" altLang="en-US" sz="1100" b="1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 defTabSz="914400" rtl="0" eaLnBrk="1" latinLnBrk="1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Jetson</a:t>
                      </a:r>
                      <a:r>
                        <a:rPr lang="ko-KR" altLang="en-US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시리즈</a:t>
                      </a: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</a:p>
                    <a:p>
                      <a:pPr marL="0" marR="0" algn="l" defTabSz="914400" rtl="0" eaLnBrk="1" latinLnBrk="1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(Orin, Xavier</a:t>
                      </a:r>
                      <a:r>
                        <a:rPr lang="ko-KR" altLang="en-US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등</a:t>
                      </a: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Ubuntu Linux</a:t>
                      </a: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OP-TEE</a:t>
                      </a:r>
                      <a:endParaRPr lang="ko-KR" altLang="ko-KR" sz="11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 defTabSz="914400" rtl="0" eaLnBrk="1" latinLnBrk="1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ko-KR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하드웨어 RoT</a:t>
                      </a: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(Root of Trust) 및 TEE</a:t>
                      </a: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제공</a:t>
                      </a: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306780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DFCCF4A-0602-0B2E-883F-4681329571C0}"/>
              </a:ext>
            </a:extLst>
          </p:cNvPr>
          <p:cNvSpPr txBox="1"/>
          <p:nvPr/>
        </p:nvSpPr>
        <p:spPr>
          <a:xfrm>
            <a:off x="6184903" y="2600864"/>
            <a:ext cx="24174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Wingdings" panose="05000000000000000000" pitchFamily="2" charset="2"/>
              <a:buChar char="v"/>
            </a:pPr>
            <a:r>
              <a:rPr lang="en-US" altLang="ko-KR" sz="800" dirty="0">
                <a:solidFill>
                  <a:srgbClr val="0000FF"/>
                </a:solidFill>
              </a:rPr>
              <a:t>SESIP</a:t>
            </a:r>
            <a:r>
              <a:rPr lang="ko-KR" altLang="en-US" sz="800" dirty="0">
                <a:solidFill>
                  <a:srgbClr val="0000FF"/>
                </a:solidFill>
              </a:rPr>
              <a:t>인증</a:t>
            </a:r>
            <a:r>
              <a:rPr lang="en-US" altLang="ko-KR" sz="800" dirty="0">
                <a:solidFill>
                  <a:srgbClr val="0000FF"/>
                </a:solidFill>
              </a:rPr>
              <a:t>: </a:t>
            </a:r>
            <a:r>
              <a:rPr lang="ko-KR" altLang="ko-KR" sz="800" dirty="0">
                <a:solidFill>
                  <a:srgbClr val="0000FF"/>
                </a:solidFill>
              </a:rPr>
              <a:t>GlobalPlatform</a:t>
            </a:r>
            <a:r>
              <a:rPr lang="en-US" altLang="ko-KR" sz="800" dirty="0">
                <a:solidFill>
                  <a:srgbClr val="0000FF"/>
                </a:solidFill>
              </a:rPr>
              <a:t> </a:t>
            </a:r>
            <a:r>
              <a:rPr lang="ko-KR" altLang="en-US" sz="800" dirty="0">
                <a:solidFill>
                  <a:srgbClr val="0000FF"/>
                </a:solidFill>
              </a:rPr>
              <a:t>협회가 주관하는 </a:t>
            </a:r>
            <a:r>
              <a:rPr lang="en-US" altLang="ko-KR" sz="800" dirty="0">
                <a:solidFill>
                  <a:srgbClr val="0000FF"/>
                </a:solidFill>
              </a:rPr>
              <a:t>IoT</a:t>
            </a:r>
            <a:r>
              <a:rPr lang="ko-KR" altLang="en-US" sz="800" dirty="0">
                <a:solidFill>
                  <a:srgbClr val="0000FF"/>
                </a:solidFill>
              </a:rPr>
              <a:t>플랫폼 보안 </a:t>
            </a:r>
            <a:r>
              <a:rPr lang="ko-KR" altLang="en-US" sz="800" b="1" dirty="0">
                <a:solidFill>
                  <a:srgbClr val="0000FF"/>
                </a:solidFill>
              </a:rPr>
              <a:t>평가 표준</a:t>
            </a:r>
            <a:endParaRPr lang="ko-KR" altLang="en-US" sz="600" b="1" dirty="0">
              <a:solidFill>
                <a:srgbClr val="0000FF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E08FF4B-8914-4AA4-EC2D-C09F5B8DBD00}"/>
              </a:ext>
            </a:extLst>
          </p:cNvPr>
          <p:cNvSpPr txBox="1"/>
          <p:nvPr/>
        </p:nvSpPr>
        <p:spPr>
          <a:xfrm>
            <a:off x="6184903" y="3429016"/>
            <a:ext cx="20657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Wingdings" panose="05000000000000000000" pitchFamily="2" charset="2"/>
              <a:buChar char="v"/>
            </a:pPr>
            <a:r>
              <a:rPr lang="en-US" altLang="ko-KR" sz="800" dirty="0">
                <a:solidFill>
                  <a:srgbClr val="0000FF"/>
                </a:solidFill>
              </a:rPr>
              <a:t>PSA Certified: </a:t>
            </a:r>
            <a:r>
              <a:rPr lang="ko-KR" altLang="ko-KR" sz="800" dirty="0" err="1">
                <a:solidFill>
                  <a:srgbClr val="0000FF"/>
                </a:solidFill>
              </a:rPr>
              <a:t>GP로</a:t>
            </a:r>
            <a:r>
              <a:rPr lang="ko-KR" altLang="ko-KR" sz="800" dirty="0">
                <a:solidFill>
                  <a:srgbClr val="0000FF"/>
                </a:solidFill>
              </a:rPr>
              <a:t> 거버넌스가 이관된 글로벌 </a:t>
            </a:r>
            <a:r>
              <a:rPr lang="ko-KR" altLang="ko-KR" sz="800" b="1" dirty="0">
                <a:solidFill>
                  <a:srgbClr val="0000FF"/>
                </a:solidFill>
              </a:rPr>
              <a:t>보안 표준</a:t>
            </a:r>
            <a:endParaRPr lang="ko-KR" altLang="en-US" sz="600" b="1" dirty="0">
              <a:solidFill>
                <a:srgbClr val="0000FF"/>
              </a:solidFill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717D8A4-68B7-8695-3D52-E61AB39846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4896" y="1368761"/>
            <a:ext cx="739559" cy="607037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B1C4129A-3E56-85D7-4D5D-883A3BB5A9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2806" y="2221378"/>
            <a:ext cx="624589" cy="590163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A7047864-2BD0-9E73-F8C9-4E4241634A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3187" y="3010244"/>
            <a:ext cx="603825" cy="61184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C05E1E02-41D6-E5AF-CF0D-CFD887436F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22533" y="3794902"/>
            <a:ext cx="624479" cy="60703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D52661C-859B-9166-0DB4-51E3CA74C963}"/>
              </a:ext>
            </a:extLst>
          </p:cNvPr>
          <p:cNvSpPr txBox="1"/>
          <p:nvPr/>
        </p:nvSpPr>
        <p:spPr>
          <a:xfrm>
            <a:off x="2544896" y="1933163"/>
            <a:ext cx="124264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 typeface="Wingdings" panose="05000000000000000000" pitchFamily="2" charset="2"/>
              <a:buChar char="v"/>
            </a:pPr>
            <a:r>
              <a:rPr lang="ko-KR" altLang="ko-KR" sz="800" dirty="0">
                <a:solidFill>
                  <a:srgbClr val="0000FF"/>
                </a:solidFill>
              </a:rPr>
              <a:t>RB3 </a:t>
            </a:r>
            <a:r>
              <a:rPr lang="ko-KR" altLang="ko-KR" sz="800" dirty="0" err="1">
                <a:solidFill>
                  <a:srgbClr val="0000FF"/>
                </a:solidFill>
              </a:rPr>
              <a:t>Gen</a:t>
            </a:r>
            <a:r>
              <a:rPr lang="ko-KR" altLang="ko-KR" sz="800" dirty="0">
                <a:solidFill>
                  <a:srgbClr val="0000FF"/>
                </a:solidFill>
              </a:rPr>
              <a:t> 2 개발 키트</a:t>
            </a:r>
            <a:endParaRPr lang="ko-KR" altLang="en-US" sz="100" dirty="0">
              <a:solidFill>
                <a:srgbClr val="0000FF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E1BAEF-ECB2-2AA7-733B-B2FFED2E3537}"/>
              </a:ext>
            </a:extLst>
          </p:cNvPr>
          <p:cNvSpPr txBox="1"/>
          <p:nvPr/>
        </p:nvSpPr>
        <p:spPr>
          <a:xfrm>
            <a:off x="2622533" y="4359303"/>
            <a:ext cx="148149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 typeface="Wingdings" panose="05000000000000000000" pitchFamily="2" charset="2"/>
              <a:buChar char="v"/>
            </a:pPr>
            <a:r>
              <a:rPr lang="en-US" altLang="ko-KR" sz="800" dirty="0">
                <a:solidFill>
                  <a:srgbClr val="0000FF"/>
                </a:solidFill>
              </a:rPr>
              <a:t>Jetson AGX Orin </a:t>
            </a:r>
            <a:r>
              <a:rPr lang="ko-KR" altLang="en-US" sz="800" dirty="0">
                <a:solidFill>
                  <a:srgbClr val="0000FF"/>
                </a:solidFill>
              </a:rPr>
              <a:t>개발</a:t>
            </a:r>
            <a:r>
              <a:rPr lang="en-US" altLang="ko-KR" sz="800" dirty="0">
                <a:solidFill>
                  <a:srgbClr val="0000FF"/>
                </a:solidFill>
              </a:rPr>
              <a:t> </a:t>
            </a:r>
            <a:r>
              <a:rPr lang="ko-KR" altLang="en-US" sz="800" dirty="0">
                <a:solidFill>
                  <a:srgbClr val="0000FF"/>
                </a:solidFill>
              </a:rPr>
              <a:t>키트</a:t>
            </a:r>
            <a:endParaRPr lang="ko-KR" altLang="en-US" sz="100" dirty="0">
              <a:solidFill>
                <a:srgbClr val="0000FF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BE53B2-87BE-D7BB-AA15-28DF50D84671}"/>
              </a:ext>
            </a:extLst>
          </p:cNvPr>
          <p:cNvSpPr txBox="1"/>
          <p:nvPr/>
        </p:nvSpPr>
        <p:spPr>
          <a:xfrm>
            <a:off x="5120280" y="166913"/>
            <a:ext cx="348211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00" b="1" dirty="0">
                <a:solidFill>
                  <a:srgbClr val="0000FF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OP-TEE</a:t>
            </a:r>
            <a:r>
              <a:rPr lang="ko-KR" altLang="en-US" sz="600" b="1" dirty="0">
                <a:solidFill>
                  <a:srgbClr val="0000FF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는 </a:t>
            </a:r>
            <a:r>
              <a:rPr lang="en-US" altLang="ko-KR" sz="600" b="1" dirty="0">
                <a:solidFill>
                  <a:srgbClr val="0000FF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GlobalPlatform </a:t>
            </a:r>
            <a:r>
              <a:rPr lang="ko-KR" altLang="en-US" sz="600" b="1" dirty="0">
                <a:solidFill>
                  <a:srgbClr val="0000FF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표준을 지원함</a:t>
            </a:r>
            <a:endParaRPr lang="en-US" altLang="ko-KR" sz="600" b="1" dirty="0">
              <a:solidFill>
                <a:srgbClr val="0000FF"/>
              </a:solidFill>
              <a:hlinkClick r:id="rId6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r>
              <a:rPr lang="en-US" altLang="ko-KR" sz="600" b="1" dirty="0">
                <a:solidFill>
                  <a:srgbClr val="0000FF"/>
                </a:solidFill>
                <a:hlinkClick r:id="rId6"/>
              </a:rPr>
              <a:t>https://optee.readthedocs.io/en/latest/architecture/globalplatform_api.html</a:t>
            </a:r>
            <a:endParaRPr lang="en-US" altLang="ko-KR" sz="600" b="1" dirty="0">
              <a:solidFill>
                <a:srgbClr val="0000FF"/>
              </a:solidFill>
            </a:endParaRPr>
          </a:p>
          <a:p>
            <a:pPr marL="171450" indent="-171450">
              <a:buFont typeface="Wingdings" panose="05000000000000000000" pitchFamily="2" charset="2"/>
              <a:buChar char="v"/>
            </a:pPr>
            <a:r>
              <a:rPr lang="en-US" altLang="ko-KR" sz="600" b="1" dirty="0">
                <a:solidFill>
                  <a:srgbClr val="0000FF"/>
                </a:solidFill>
              </a:rPr>
              <a:t>OP-TEE has support for GlobalPlatform TEE Client API Specification v1.0 (GPD_SPE_007) plus Errata and Precisions 2.0 (GPD_EPR_028) and TEE Internal Core API Specification v1.3.1 (GPD_SPE_010).</a:t>
            </a:r>
          </a:p>
        </p:txBody>
      </p:sp>
    </p:spTree>
    <p:extLst>
      <p:ext uri="{BB962C8B-B14F-4D97-AF65-F5344CB8AC3E}">
        <p14:creationId xmlns:p14="http://schemas.microsoft.com/office/powerpoint/2010/main" val="3623592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그림 26">
            <a:extLst>
              <a:ext uri="{FF2B5EF4-FFF2-40B4-BE49-F238E27FC236}">
                <a16:creationId xmlns:a16="http://schemas.microsoft.com/office/drawing/2014/main" id="{03B24CFC-9B6E-FF0E-BD91-0CBE11F07B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7072" y="1120279"/>
            <a:ext cx="5608509" cy="3856308"/>
          </a:xfrm>
          <a:prstGeom prst="rect">
            <a:avLst/>
          </a:prstGeom>
        </p:spPr>
      </p:pic>
      <p:grpSp>
        <p:nvGrpSpPr>
          <p:cNvPr id="10" name="그룹 9">
            <a:extLst>
              <a:ext uri="{FF2B5EF4-FFF2-40B4-BE49-F238E27FC236}">
                <a16:creationId xmlns:a16="http://schemas.microsoft.com/office/drawing/2014/main" id="{3463EB85-C284-ADC6-CF58-D81C11E89C7A}"/>
              </a:ext>
            </a:extLst>
          </p:cNvPr>
          <p:cNvGrpSpPr/>
          <p:nvPr/>
        </p:nvGrpSpPr>
        <p:grpSpPr>
          <a:xfrm>
            <a:off x="384597" y="1845321"/>
            <a:ext cx="2201594" cy="2285622"/>
            <a:chOff x="633046" y="1209330"/>
            <a:chExt cx="2286000" cy="2436056"/>
          </a:xfrm>
        </p:grpSpPr>
        <p:sp>
          <p:nvSpPr>
            <p:cNvPr id="9" name="사각형: 둥근 모서리 8">
              <a:extLst>
                <a:ext uri="{FF2B5EF4-FFF2-40B4-BE49-F238E27FC236}">
                  <a16:creationId xmlns:a16="http://schemas.microsoft.com/office/drawing/2014/main" id="{04DFC57A-7D41-08F2-469D-8D9F00CDB642}"/>
                </a:ext>
              </a:extLst>
            </p:cNvPr>
            <p:cNvSpPr/>
            <p:nvPr/>
          </p:nvSpPr>
          <p:spPr>
            <a:xfrm>
              <a:off x="633046" y="1336432"/>
              <a:ext cx="2286000" cy="2308954"/>
            </a:xfrm>
            <a:prstGeom prst="roundRect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90B2636-9DCF-6F4F-684D-F606677E57C7}"/>
                </a:ext>
              </a:extLst>
            </p:cNvPr>
            <p:cNvSpPr txBox="1"/>
            <p:nvPr/>
          </p:nvSpPr>
          <p:spPr>
            <a:xfrm>
              <a:off x="950934" y="1209330"/>
              <a:ext cx="1650223" cy="338554"/>
            </a:xfrm>
            <a:prstGeom prst="rect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ko-KR" altLang="en-US" sz="1600" b="1" dirty="0">
                  <a:solidFill>
                    <a:schemeClr val="tx1"/>
                  </a:solidFill>
                </a:rPr>
                <a:t>고객 요구 사항</a:t>
              </a:r>
            </a:p>
          </p:txBody>
        </p:sp>
      </p:grpSp>
      <p:sp>
        <p:nvSpPr>
          <p:cNvPr id="2" name="제목 1">
            <a:extLst>
              <a:ext uri="{FF2B5EF4-FFF2-40B4-BE49-F238E27FC236}">
                <a16:creationId xmlns:a16="http://schemas.microsoft.com/office/drawing/2014/main" id="{C9E4C256-CC7C-E30A-4343-664E0714EA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6765" y="166913"/>
            <a:ext cx="5523955" cy="409575"/>
          </a:xfrm>
        </p:spPr>
        <p:txBody>
          <a:bodyPr>
            <a:normAutofit/>
          </a:bodyPr>
          <a:lstStyle/>
          <a:p>
            <a:r>
              <a:rPr lang="en-US" altLang="ko-KR" dirty="0"/>
              <a:t>Secure Vision AI </a:t>
            </a:r>
            <a:r>
              <a:rPr lang="ko-KR" altLang="en-US" dirty="0"/>
              <a:t>레퍼런스 시나리오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00E9D4B-D61E-777A-3C23-8C938B5C48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3829" y="721467"/>
            <a:ext cx="8181521" cy="409575"/>
          </a:xfrm>
        </p:spPr>
        <p:txBody>
          <a:bodyPr/>
          <a:lstStyle/>
          <a:p>
            <a:r>
              <a:rPr lang="en-US" altLang="ko-KR" dirty="0"/>
              <a:t>Framework </a:t>
            </a:r>
            <a:r>
              <a:rPr lang="ko-KR" altLang="en-US" dirty="0"/>
              <a:t>개발을 위해 고객 요구사항 반영하여 레퍼런스 시나리오를 우선 선정</a:t>
            </a:r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DF82A223-4EB3-E080-9357-E119B0AAED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2180190" y="2779575"/>
            <a:ext cx="1659113" cy="694650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97458940-30C7-4555-E0F6-7464B7CE0F32}"/>
              </a:ext>
            </a:extLst>
          </p:cNvPr>
          <p:cNvSpPr txBox="1"/>
          <p:nvPr/>
        </p:nvSpPr>
        <p:spPr>
          <a:xfrm>
            <a:off x="5444197" y="2499606"/>
            <a:ext cx="84510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ko-KR" altLang="en-US" sz="800" b="1" dirty="0">
                <a:solidFill>
                  <a:srgbClr val="0000FF"/>
                </a:solidFill>
              </a:rPr>
              <a:t>영상 자산 보호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FB5985B-8EFD-4044-8814-F77D1FBFB179}"/>
              </a:ext>
            </a:extLst>
          </p:cNvPr>
          <p:cNvSpPr txBox="1"/>
          <p:nvPr/>
        </p:nvSpPr>
        <p:spPr>
          <a:xfrm>
            <a:off x="6506308" y="3297626"/>
            <a:ext cx="72968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800" b="1" dirty="0">
                <a:solidFill>
                  <a:srgbClr val="0000FF"/>
                </a:solidFill>
              </a:rPr>
              <a:t>AI</a:t>
            </a:r>
            <a:r>
              <a:rPr lang="ko-KR" altLang="en-US" sz="800" b="1" dirty="0">
                <a:solidFill>
                  <a:srgbClr val="0000FF"/>
                </a:solidFill>
              </a:rPr>
              <a:t> 자산 보호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2E67523-2775-647C-0BBC-A6629BDD48A2}"/>
              </a:ext>
            </a:extLst>
          </p:cNvPr>
          <p:cNvSpPr txBox="1"/>
          <p:nvPr/>
        </p:nvSpPr>
        <p:spPr>
          <a:xfrm>
            <a:off x="4487894" y="3915499"/>
            <a:ext cx="151836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800" b="1" dirty="0">
                <a:solidFill>
                  <a:srgbClr val="0000FF"/>
                </a:solidFill>
              </a:rPr>
              <a:t>GlobalPlatform </a:t>
            </a:r>
            <a:r>
              <a:rPr lang="ko-KR" altLang="en-US" sz="800" b="1" dirty="0">
                <a:solidFill>
                  <a:srgbClr val="0000FF"/>
                </a:solidFill>
              </a:rPr>
              <a:t>표준 규격 준수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BDF6302-384D-A1FD-EB30-8F0D1D10EDF9}"/>
              </a:ext>
            </a:extLst>
          </p:cNvPr>
          <p:cNvSpPr txBox="1"/>
          <p:nvPr/>
        </p:nvSpPr>
        <p:spPr>
          <a:xfrm>
            <a:off x="5760720" y="1395848"/>
            <a:ext cx="2044149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 algn="l">
              <a:buFont typeface="Wingdings" panose="05000000000000000000" pitchFamily="2" charset="2"/>
              <a:buChar char="v"/>
            </a:pPr>
            <a:r>
              <a:rPr lang="ko-KR" altLang="en-US" sz="600" b="1" dirty="0">
                <a:solidFill>
                  <a:srgbClr val="0000FF"/>
                </a:solidFill>
              </a:rPr>
              <a:t>가정 </a:t>
            </a:r>
            <a:r>
              <a:rPr lang="en-US" altLang="ko-KR" sz="600" b="1" dirty="0">
                <a:solidFill>
                  <a:srgbClr val="0000FF"/>
                </a:solidFill>
              </a:rPr>
              <a:t>: Camera Service</a:t>
            </a:r>
            <a:r>
              <a:rPr lang="ko-KR" altLang="en-US" sz="600" b="1" dirty="0">
                <a:solidFill>
                  <a:srgbClr val="0000FF"/>
                </a:solidFill>
              </a:rPr>
              <a:t>와 </a:t>
            </a:r>
            <a:r>
              <a:rPr lang="en-US" altLang="ko-KR" sz="600" b="1" dirty="0">
                <a:solidFill>
                  <a:srgbClr val="0000FF"/>
                </a:solidFill>
              </a:rPr>
              <a:t>AI Service  </a:t>
            </a:r>
            <a:r>
              <a:rPr lang="ko-KR" altLang="en-US" sz="600" b="1" dirty="0">
                <a:solidFill>
                  <a:srgbClr val="0000FF"/>
                </a:solidFill>
              </a:rPr>
              <a:t>개발팀이 다르다</a:t>
            </a: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8FA026B8-58E4-862D-1306-87B788B4A5A0}"/>
              </a:ext>
            </a:extLst>
          </p:cNvPr>
          <p:cNvSpPr/>
          <p:nvPr/>
        </p:nvSpPr>
        <p:spPr>
          <a:xfrm>
            <a:off x="1591894" y="3136486"/>
            <a:ext cx="721770" cy="671509"/>
          </a:xfrm>
          <a:prstGeom prst="round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lIns="10800" tIns="10800" rIns="10800" bIns="10800" rtlCol="0" anchor="ctr"/>
          <a:lstStyle/>
          <a:p>
            <a:pPr algn="ctr"/>
            <a:r>
              <a:rPr lang="en-US" altLang="ko-KR" sz="800" b="1" dirty="0"/>
              <a:t>R-4. GlobalPlatform </a:t>
            </a:r>
            <a:r>
              <a:rPr lang="ko-KR" altLang="en-US" sz="800" b="1" dirty="0"/>
              <a:t>표준 규격 준수 요구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66DD62AE-2D92-0481-9FA3-105081F094DD}"/>
              </a:ext>
            </a:extLst>
          </p:cNvPr>
          <p:cNvGrpSpPr/>
          <p:nvPr/>
        </p:nvGrpSpPr>
        <p:grpSpPr>
          <a:xfrm>
            <a:off x="690749" y="2282221"/>
            <a:ext cx="1622915" cy="1525774"/>
            <a:chOff x="6249526" y="2978864"/>
            <a:chExt cx="1622915" cy="2014160"/>
          </a:xfrm>
        </p:grpSpPr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E16FEAA5-C410-68D4-53F7-335F9494231D}"/>
                </a:ext>
              </a:extLst>
            </p:cNvPr>
            <p:cNvSpPr/>
            <p:nvPr/>
          </p:nvSpPr>
          <p:spPr>
            <a:xfrm>
              <a:off x="6249526" y="2978864"/>
              <a:ext cx="721769" cy="791950"/>
            </a:xfrm>
            <a:prstGeom prst="roundRect">
              <a:avLst/>
            </a:prstGeom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lIns="10800" tIns="10800" rIns="10800" bIns="10800" rtlCol="0" anchor="t"/>
            <a:lstStyle/>
            <a:p>
              <a:pPr algn="ctr"/>
              <a:r>
                <a:rPr lang="en-US" altLang="ko-KR" sz="800" b="1" dirty="0">
                  <a:solidFill>
                    <a:schemeClr val="bg1"/>
                  </a:solidFill>
                  <a:latin typeface="+mj-ea"/>
                </a:rPr>
                <a:t>R-1.</a:t>
              </a:r>
            </a:p>
            <a:p>
              <a:pPr algn="ctr"/>
              <a:r>
                <a:rPr lang="ko-KR" altLang="en-US" sz="800" b="1" dirty="0">
                  <a:solidFill>
                    <a:schemeClr val="bg1"/>
                  </a:solidFill>
                  <a:latin typeface="+mj-ea"/>
                </a:rPr>
                <a:t>영상</a:t>
              </a:r>
              <a:r>
                <a:rPr lang="en-US" altLang="ko-KR" sz="800" b="1" dirty="0">
                  <a:solidFill>
                    <a:schemeClr val="bg1"/>
                  </a:solidFill>
                  <a:latin typeface="+mj-ea"/>
                </a:rPr>
                <a:t>/AI/IP </a:t>
              </a:r>
              <a:r>
                <a:rPr lang="ko-KR" altLang="en-US" sz="800" b="1" dirty="0">
                  <a:solidFill>
                    <a:schemeClr val="bg1"/>
                  </a:solidFill>
                  <a:latin typeface="+mj-ea"/>
                </a:rPr>
                <a:t>자산 보호 지원 요구</a:t>
              </a:r>
              <a:endParaRPr lang="ko-KR" altLang="en-US" sz="800" b="1" dirty="0">
                <a:solidFill>
                  <a:schemeClr val="bg1"/>
                </a:solidFill>
              </a:endParaRPr>
            </a:p>
          </p:txBody>
        </p:sp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78CBE09F-AFC1-9930-969F-8720D11C4D19}"/>
                </a:ext>
              </a:extLst>
            </p:cNvPr>
            <p:cNvSpPr/>
            <p:nvPr/>
          </p:nvSpPr>
          <p:spPr>
            <a:xfrm>
              <a:off x="7150672" y="2978864"/>
              <a:ext cx="721769" cy="791950"/>
            </a:xfrm>
            <a:prstGeom prst="roundRect">
              <a:avLst/>
            </a:prstGeom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lIns="10800" tIns="10800" rIns="10800" bIns="10800" rtlCol="0" anchor="t"/>
            <a:lstStyle/>
            <a:p>
              <a:pPr algn="ctr"/>
              <a:r>
                <a:rPr lang="en-US" altLang="ko-KR" sz="800" b="1" dirty="0">
                  <a:solidFill>
                    <a:schemeClr val="bg1"/>
                  </a:solidFill>
                  <a:latin typeface="+mj-ea"/>
                </a:rPr>
                <a:t>R-2.</a:t>
              </a:r>
            </a:p>
            <a:p>
              <a:pPr algn="ctr"/>
              <a:r>
                <a:rPr lang="ko-KR" altLang="en-US" sz="800" b="1" dirty="0">
                  <a:solidFill>
                    <a:schemeClr val="bg1"/>
                  </a:solidFill>
                  <a:latin typeface="+mj-ea"/>
                </a:rPr>
                <a:t>고성능 </a:t>
              </a:r>
              <a:r>
                <a:rPr lang="en-US" altLang="ko-KR" sz="800" b="1" dirty="0">
                  <a:solidFill>
                    <a:schemeClr val="bg1"/>
                  </a:solidFill>
                  <a:latin typeface="+mj-ea"/>
                </a:rPr>
                <a:t>HW Accel </a:t>
              </a:r>
              <a:r>
                <a:rPr lang="ko-KR" altLang="en-US" sz="800" b="1" dirty="0">
                  <a:solidFill>
                    <a:schemeClr val="bg1"/>
                  </a:solidFill>
                  <a:latin typeface="+mj-ea"/>
                </a:rPr>
                <a:t>지원 요구</a:t>
              </a:r>
              <a:endParaRPr lang="ko-KR" altLang="en-US" sz="800" b="1" dirty="0">
                <a:solidFill>
                  <a:schemeClr val="bg1"/>
                </a:solidFill>
              </a:endParaRPr>
            </a:p>
          </p:txBody>
        </p:sp>
        <p:sp>
          <p:nvSpPr>
            <p:cNvPr id="15" name="사각형: 둥근 모서리 14">
              <a:extLst>
                <a:ext uri="{FF2B5EF4-FFF2-40B4-BE49-F238E27FC236}">
                  <a16:creationId xmlns:a16="http://schemas.microsoft.com/office/drawing/2014/main" id="{BE755B93-0059-5C35-6456-CA3F1380E2CB}"/>
                </a:ext>
              </a:extLst>
            </p:cNvPr>
            <p:cNvSpPr/>
            <p:nvPr/>
          </p:nvSpPr>
          <p:spPr>
            <a:xfrm>
              <a:off x="6249526" y="4089563"/>
              <a:ext cx="721769" cy="903461"/>
            </a:xfrm>
            <a:prstGeom prst="roundRect">
              <a:avLst/>
            </a:prstGeom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lIns="10800" tIns="10800" rIns="10800" bIns="10800" rtlCol="0" anchor="t"/>
            <a:lstStyle/>
            <a:p>
              <a:pPr algn="ctr"/>
              <a:r>
                <a:rPr lang="en-US" altLang="ko-KR" sz="800" b="1" dirty="0">
                  <a:solidFill>
                    <a:schemeClr val="bg1"/>
                  </a:solidFill>
                  <a:latin typeface="+mj-ea"/>
                </a:rPr>
                <a:t>R-3.</a:t>
              </a:r>
            </a:p>
            <a:p>
              <a:pPr algn="ctr"/>
              <a:r>
                <a:rPr lang="ko-KR" altLang="en-US" sz="800" b="1" dirty="0">
                  <a:solidFill>
                    <a:schemeClr val="bg1"/>
                  </a:solidFill>
                  <a:latin typeface="+mj-ea"/>
                </a:rPr>
                <a:t>유연한 시나리오 지원 요구</a:t>
              </a:r>
              <a:endParaRPr lang="ko-KR" altLang="en-US" sz="800" b="1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494021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BC044D-DFA0-365F-66D1-BD60C555D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3246EB-53B4-2300-FCF2-A4E7AFDE2F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Voice Of Stakeholder</a:t>
            </a:r>
            <a:endParaRPr lang="ko-KR" altLang="en-US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55F2A575-F1CB-7685-EE31-212DAE214E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5375298"/>
              </p:ext>
            </p:extLst>
          </p:nvPr>
        </p:nvGraphicFramePr>
        <p:xfrm>
          <a:off x="411058" y="745756"/>
          <a:ext cx="8036591" cy="3995062"/>
        </p:xfrm>
        <a:graphic>
          <a:graphicData uri="http://schemas.openxmlformats.org/drawingml/2006/table">
            <a:tbl>
              <a:tblPr/>
              <a:tblGrid>
                <a:gridCol w="1263789">
                  <a:extLst>
                    <a:ext uri="{9D8B030D-6E8A-4147-A177-3AD203B41FA5}">
                      <a16:colId xmlns:a16="http://schemas.microsoft.com/office/drawing/2014/main" val="3594864705"/>
                    </a:ext>
                  </a:extLst>
                </a:gridCol>
                <a:gridCol w="2427308">
                  <a:extLst>
                    <a:ext uri="{9D8B030D-6E8A-4147-A177-3AD203B41FA5}">
                      <a16:colId xmlns:a16="http://schemas.microsoft.com/office/drawing/2014/main" val="985975414"/>
                    </a:ext>
                  </a:extLst>
                </a:gridCol>
                <a:gridCol w="4345494">
                  <a:extLst>
                    <a:ext uri="{9D8B030D-6E8A-4147-A177-3AD203B41FA5}">
                      <a16:colId xmlns:a16="http://schemas.microsoft.com/office/drawing/2014/main" val="4171208268"/>
                    </a:ext>
                  </a:extLst>
                </a:gridCol>
              </a:tblGrid>
              <a:tr h="1913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ID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Stakeholder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9747901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VOS-01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로봇 제조사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Host 침해 시에도 영상/모델/추론 데이터가 노출되지 않아야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7737673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VOS-02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로봇 제조사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Camera/AI HW 가속을 보안 기능과 일반 기능이 함께 사용해야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3003288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VOS-03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로봇 제조사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Android 의존 없이 Yocto/Ubuntu 기반 Linux에서 동작해야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5083432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VOS-04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로봇 제조사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보안 기능의 전력/메모리 오버헤드는 탑재 가능 수준이어야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7050004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VOS-05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상품 기획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신규 보안 시나리오를 Framework 수정 없이 수용해야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15469074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VOS-06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과제 PM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2026-1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2</a:t>
                      </a: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-3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1</a:t>
                      </a: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까지 제한된 인력으로 E2E 데모를 완료해야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3335037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VOS-07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내부 Security 개발자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Secure Camera와 Secure AI 도메인은 독립적으로 동시 운용되어야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2116098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VOS-08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SOC 설계 부서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Camera/AI HW 사용 중 DMA 격리와 잔류 데이터 소거가 필요하다.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509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VOS-09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내부 Security 개발자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도메인 간 데이터 전달은 노출 없이 빠르게 이뤄져야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0627050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VOS-10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내부 Hypervisor 개발자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기 </a:t>
                      </a:r>
                      <a:r>
                        <a:rPr 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포팅된</a:t>
                      </a: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pKVM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(EL2)</a:t>
                      </a: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의 </a:t>
                      </a:r>
                      <a:r>
                        <a:rPr 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TCB는</a:t>
                      </a: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작게 유지 되어야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3402205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VOS-11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내부 Security 개발자 (SRCX, Secure OS 이식)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Secure OS 이식 인터페이스가 안정적으로 정의되어야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846368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VOS-12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내부 Security 개발자 (기존 TrustZone 공존)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기존 TrustZone TEE 기능과 SMC 경로가 유지되어야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38154335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VOS-13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검증 부서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Host 침해 시 격리 유지 여부를 객관적으로 검증할 수 있어야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9094116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VOS-14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로봇 앱 개발자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pVM API는 비보안 전문가도 사용할 만큼 단순해야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92495943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VOS-15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상품 기획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개인정보/규제 대응을 위한 기술적 격리 증빙이 필요하다.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776158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VOS-16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내부 Security 개발자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pVM 장애가 </a:t>
                      </a:r>
                      <a:r>
                        <a:rPr 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Host와</a:t>
                      </a: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다른 </a:t>
                      </a:r>
                      <a:r>
                        <a:rPr 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pVM에</a:t>
                      </a: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전파되지 않아야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72909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884609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6B373A-A742-A37C-C8FA-E9B0595E14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유즈케이스</a:t>
            </a:r>
            <a:r>
              <a:rPr lang="ko-KR" altLang="en-US" dirty="0"/>
              <a:t> 도출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69C96B8-1E0C-49D6-8210-3C5382D119F7}"/>
              </a:ext>
            </a:extLst>
          </p:cNvPr>
          <p:cNvSpPr txBox="1"/>
          <p:nvPr/>
        </p:nvSpPr>
        <p:spPr>
          <a:xfrm>
            <a:off x="5902417" y="3363913"/>
            <a:ext cx="151836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1050" dirty="0"/>
              <a:t>&lt; </a:t>
            </a:r>
            <a:r>
              <a:rPr lang="ko-KR" altLang="en-US" sz="1050" dirty="0" err="1"/>
              <a:t>유즈케이스</a:t>
            </a:r>
            <a:r>
              <a:rPr lang="en-US" altLang="ko-KR" sz="1050" dirty="0"/>
              <a:t>  </a:t>
            </a:r>
            <a:r>
              <a:rPr lang="ko-KR" altLang="en-US" sz="1050" dirty="0"/>
              <a:t>명세서</a:t>
            </a:r>
            <a:r>
              <a:rPr lang="en-US" altLang="ko-KR" sz="1050" dirty="0"/>
              <a:t>&gt; </a:t>
            </a:r>
            <a:endParaRPr lang="ko-KR" altLang="en-US" sz="1050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88ED02F2-2096-70BF-2581-F4037779B2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3829" y="721467"/>
            <a:ext cx="8181521" cy="543926"/>
          </a:xfrm>
        </p:spPr>
        <p:txBody>
          <a:bodyPr/>
          <a:lstStyle/>
          <a:p>
            <a:r>
              <a:rPr lang="ko-KR" altLang="en-US" dirty="0" err="1"/>
              <a:t>유즈케이스를</a:t>
            </a:r>
            <a:r>
              <a:rPr lang="ko-KR" altLang="en-US" dirty="0"/>
              <a:t> 통해 기능 요구사항 도출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1AF7896-6868-5DD1-4FBC-3F8902725D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204" y="1519309"/>
            <a:ext cx="3654680" cy="3089617"/>
          </a:xfrm>
          <a:prstGeom prst="rect">
            <a:avLst/>
          </a:prstGeom>
        </p:spPr>
      </p:pic>
      <p:graphicFrame>
        <p:nvGraphicFramePr>
          <p:cNvPr id="9" name="개체 8">
            <a:extLst>
              <a:ext uri="{FF2B5EF4-FFF2-40B4-BE49-F238E27FC236}">
                <a16:creationId xmlns:a16="http://schemas.microsoft.com/office/drawing/2014/main" id="{C46D0A4F-083C-C9A4-5139-06C9CD4DDF9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96668240"/>
              </p:ext>
            </p:extLst>
          </p:nvPr>
        </p:nvGraphicFramePr>
        <p:xfrm>
          <a:off x="6204399" y="2271954"/>
          <a:ext cx="914400" cy="7921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ocument" showAsIcon="1" r:id="rId3" imgW="914400" imgH="792431" progId="Word.Document.12">
                  <p:embed/>
                </p:oleObj>
              </mc:Choice>
              <mc:Fallback>
                <p:oleObj name="Document" showAsIcon="1" r:id="rId3" imgW="914400" imgH="792431" progId="Word.Documen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204399" y="2271954"/>
                        <a:ext cx="914400" cy="79216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9810540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9DF490-8EB9-3E6B-8734-CCC05A2420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6765" y="166913"/>
            <a:ext cx="5657598" cy="409575"/>
          </a:xfrm>
        </p:spPr>
        <p:txBody>
          <a:bodyPr>
            <a:normAutofit/>
          </a:bodyPr>
          <a:lstStyle/>
          <a:p>
            <a:r>
              <a:rPr lang="en-US" altLang="ko-KR" dirty="0"/>
              <a:t>Utility Tree</a:t>
            </a:r>
            <a:endParaRPr lang="ko-KR" altLang="en-US" dirty="0"/>
          </a:p>
        </p:txBody>
      </p:sp>
      <p:graphicFrame>
        <p:nvGraphicFramePr>
          <p:cNvPr id="6" name="개체 5">
            <a:extLst>
              <a:ext uri="{FF2B5EF4-FFF2-40B4-BE49-F238E27FC236}">
                <a16:creationId xmlns:a16="http://schemas.microsoft.com/office/drawing/2014/main" id="{6C8564C9-FE02-F29C-2344-B61D28AEBCA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55482594"/>
              </p:ext>
            </p:extLst>
          </p:nvPr>
        </p:nvGraphicFramePr>
        <p:xfrm>
          <a:off x="7024631" y="1839117"/>
          <a:ext cx="1587783" cy="209090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ocument" r:id="rId2" imgW="6553418" imgH="8628090" progId="Word.Document.12">
                  <p:embed/>
                </p:oleObj>
              </mc:Choice>
              <mc:Fallback>
                <p:oleObj name="Document" r:id="rId2" imgW="6553418" imgH="8628090" progId="Word.Documen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7024631" y="1839117"/>
                        <a:ext cx="1587783" cy="209090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92F5BF3-2473-53AE-7000-BA9D16F46E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3829" y="721467"/>
            <a:ext cx="8181521" cy="2998478"/>
          </a:xfrm>
        </p:spPr>
        <p:txBody>
          <a:bodyPr/>
          <a:lstStyle/>
          <a:p>
            <a:r>
              <a:rPr lang="en-US" altLang="ko-KR" dirty="0"/>
              <a:t>Utility Tree</a:t>
            </a:r>
            <a:r>
              <a:rPr lang="ko-KR" altLang="en-US" dirty="0"/>
              <a:t>를 이용하여 품질 속성 도출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D7741D25-8B78-0443-815F-1449DFD4FF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6765" y="1717715"/>
            <a:ext cx="6597326" cy="2529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65742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DECBA3-27F1-C107-F5A7-A77A5F4093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품질 속성 평가</a:t>
            </a: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34F1CE17-A47C-D24C-E62E-E113DF98A2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5471960"/>
              </p:ext>
            </p:extLst>
          </p:nvPr>
        </p:nvGraphicFramePr>
        <p:xfrm>
          <a:off x="523396" y="848366"/>
          <a:ext cx="7758832" cy="344676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47863">
                  <a:extLst>
                    <a:ext uri="{9D8B030D-6E8A-4147-A177-3AD203B41FA5}">
                      <a16:colId xmlns:a16="http://schemas.microsoft.com/office/drawing/2014/main" val="421462267"/>
                    </a:ext>
                  </a:extLst>
                </a:gridCol>
                <a:gridCol w="5192009">
                  <a:extLst>
                    <a:ext uri="{9D8B030D-6E8A-4147-A177-3AD203B41FA5}">
                      <a16:colId xmlns:a16="http://schemas.microsoft.com/office/drawing/2014/main" val="192891183"/>
                    </a:ext>
                  </a:extLst>
                </a:gridCol>
                <a:gridCol w="406320">
                  <a:extLst>
                    <a:ext uri="{9D8B030D-6E8A-4147-A177-3AD203B41FA5}">
                      <a16:colId xmlns:a16="http://schemas.microsoft.com/office/drawing/2014/main" val="1874532877"/>
                    </a:ext>
                  </a:extLst>
                </a:gridCol>
                <a:gridCol w="406320">
                  <a:extLst>
                    <a:ext uri="{9D8B030D-6E8A-4147-A177-3AD203B41FA5}">
                      <a16:colId xmlns:a16="http://schemas.microsoft.com/office/drawing/2014/main" val="2868964725"/>
                    </a:ext>
                  </a:extLst>
                </a:gridCol>
                <a:gridCol w="406320">
                  <a:extLst>
                    <a:ext uri="{9D8B030D-6E8A-4147-A177-3AD203B41FA5}">
                      <a16:colId xmlns:a16="http://schemas.microsoft.com/office/drawing/2014/main" val="2226572675"/>
                    </a:ext>
                  </a:extLst>
                </a:gridCol>
              </a:tblGrid>
              <a:tr h="30607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1" i="0" u="none" strike="noStrike" dirty="0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품질 속성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1" i="0" u="none" strike="noStrike" dirty="0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설명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1" i="0" u="none" strike="noStrike" dirty="0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중요도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1" i="0" u="none" strike="noStrike" dirty="0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난이도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1" i="0" u="none" strike="noStrike" dirty="0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우선순위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4469146"/>
                  </a:ext>
                </a:extLst>
              </a:tr>
              <a:tr h="196293">
                <a:tc row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성능 (반환 시간)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카메라 영상 입력부터 Host 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Application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전달 완료까지의 평균 시간(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ms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)이 목표 시간을 만족해야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H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H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4044848"/>
                  </a:ext>
                </a:extLst>
              </a:tr>
              <a:tr h="19629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[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X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&lt;= 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B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. A: 카메라 영상 입력부터 Host 전달 완료까지의 평균 시간(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ms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)] KPI: 10ms (720p, RGB24, AI 추론 구간 제외)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8641643"/>
                  </a:ext>
                </a:extLst>
              </a:tr>
              <a:tr h="196293">
                <a:tc row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성능 (메모리 사용량)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다중 시나리오가 운용 중일 때 사용되는 메모리 사용량을 가능한 낮게 유지해야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H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H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323893"/>
                  </a:ext>
                </a:extLst>
              </a:tr>
              <a:tr h="19629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[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X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= 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A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. A: 다중 시나리오에 사용되는 총 메모리 크기.] KPI: 낮을수록 좋음 (시나리오에 따라 사용량이 다름으로 상대 평가)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9156256"/>
                  </a:ext>
                </a:extLst>
              </a:tr>
              <a:tr h="196293">
                <a:tc row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신뢰성 (고장 회피)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결함 테스트에서 시스템에서 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Critical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고장이 발생되면 안된다.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H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M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96361816"/>
                  </a:ext>
                </a:extLst>
              </a:tr>
              <a:tr h="19629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[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X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= 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A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B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. A: 고장으로 이어지지 않은 테스트 수, B: 전체 테스트 수] KPI: 100%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684768"/>
                  </a:ext>
                </a:extLst>
              </a:tr>
              <a:tr h="196293">
                <a:tc row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보안성 (접근 통제)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도메인 간 전달되는 데이터는 시스템에 의해서 접근 통제되어야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H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M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2798009"/>
                  </a:ext>
                </a:extLst>
              </a:tr>
              <a:tr h="19629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[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X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= 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A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B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. A: 접근 통제된 기밀 데이터 항목 수, B: 접근 통제가 요구되는 기밀 데이터 항목 수] KPI: 100%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6578885"/>
                  </a:ext>
                </a:extLst>
              </a:tr>
              <a:tr h="196293">
                <a:tc row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유지보수성 (모듈 결합도)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신규 요구사항 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추가시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다른 모듈에 영향을 주지 않는 모듈의 비율이 최대가 되어야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M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M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-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5035298"/>
                  </a:ext>
                </a:extLst>
              </a:tr>
              <a:tr h="19629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[X = A/B. A: 영향을 주지 않는 모듈 수, B: 전체 모듈 수] KPI: 높을수록 좋음 (상대 평가)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7633233"/>
                  </a:ext>
                </a:extLst>
              </a:tr>
              <a:tr h="196293">
                <a:tc row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유지보수성 (모듈 재사용)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신규 시나리오 추가 시 전체 자산의 100%가 재사용 가능하도록 설계/구축되어야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H</a:t>
                      </a:r>
                      <a:endParaRPr lang="ko-KR" sz="700" b="0" i="0" u="none" strike="noStrike" dirty="0">
                        <a:solidFill>
                          <a:srgbClr val="333333"/>
                        </a:solidFill>
                        <a:effectLst/>
                        <a:latin typeface="Segoe UI" panose="020B0502040204020203" pitchFamily="34" charset="0"/>
                        <a:ea typeface="맑은 고딕" panose="020B05030200000200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M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8135015"/>
                  </a:ext>
                </a:extLst>
              </a:tr>
              <a:tr h="19629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[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X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= 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A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B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. A: 재사용되는 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모듈수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, B: 전체 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모듈수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] KPI: 100%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3805488"/>
                  </a:ext>
                </a:extLst>
              </a:tr>
              <a:tr h="196293">
                <a:tc row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이식성 (SOC 변경)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SoC 변경에 따라 변경되는 모듈이 없어야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M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M</a:t>
                      </a:r>
                      <a:endParaRPr lang="ko-KR" sz="700" b="0" i="0" u="none" strike="noStrike" dirty="0">
                        <a:solidFill>
                          <a:srgbClr val="333333"/>
                        </a:solidFill>
                        <a:effectLst/>
                        <a:latin typeface="Segoe UI" panose="020B0502040204020203" pitchFamily="34" charset="0"/>
                        <a:ea typeface="맑은 고딕" panose="020B05030200000200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-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1622335"/>
                  </a:ext>
                </a:extLst>
              </a:tr>
              <a:tr h="19629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[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X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= 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A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B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. A: 변경되는 모듈 수, B: 전체 모듈 수] KPI: 0%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3655052"/>
                  </a:ext>
                </a:extLst>
              </a:tr>
              <a:tr h="196293">
                <a:tc row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이식성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(OS 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update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)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OS update에 따라 변경되는 모듈 수를 최소화하여야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M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M</a:t>
                      </a:r>
                      <a:endParaRPr lang="ko-KR" sz="700" b="0" i="0" u="none" strike="noStrike" dirty="0">
                        <a:solidFill>
                          <a:srgbClr val="333333"/>
                        </a:solidFill>
                        <a:effectLst/>
                        <a:latin typeface="Segoe UI" panose="020B0502040204020203" pitchFamily="34" charset="0"/>
                        <a:ea typeface="맑은 고딕" panose="020B05030200000200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-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7689106"/>
                  </a:ext>
                </a:extLst>
              </a:tr>
              <a:tr h="19629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[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X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= 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A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B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. A: OS 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update시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변경이 필요한 모듈 수, B: 전체 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모듈수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] KPI: 낮을수록 좋음 (상대평가)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93586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69710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E9FA2E-DB42-2B97-7821-FD1180FFC8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VOS &lt;-&gt; AD</a:t>
            </a:r>
            <a:r>
              <a:rPr lang="ko-KR" altLang="en-US" dirty="0"/>
              <a:t> </a:t>
            </a:r>
            <a:r>
              <a:rPr lang="en-US" altLang="ko-KR" dirty="0"/>
              <a:t>matrix</a:t>
            </a:r>
            <a:endParaRPr lang="ko-KR" altLang="en-US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73068690-801D-BBFA-8081-B04EEDF3F6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4371844"/>
              </p:ext>
            </p:extLst>
          </p:nvPr>
        </p:nvGraphicFramePr>
        <p:xfrm>
          <a:off x="485334" y="1139485"/>
          <a:ext cx="8269869" cy="367869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27749">
                  <a:extLst>
                    <a:ext uri="{9D8B030D-6E8A-4147-A177-3AD203B41FA5}">
                      <a16:colId xmlns:a16="http://schemas.microsoft.com/office/drawing/2014/main" val="1149177542"/>
                    </a:ext>
                  </a:extLst>
                </a:gridCol>
                <a:gridCol w="628510">
                  <a:extLst>
                    <a:ext uri="{9D8B030D-6E8A-4147-A177-3AD203B41FA5}">
                      <a16:colId xmlns:a16="http://schemas.microsoft.com/office/drawing/2014/main" val="3866760694"/>
                    </a:ext>
                  </a:extLst>
                </a:gridCol>
                <a:gridCol w="628510">
                  <a:extLst>
                    <a:ext uri="{9D8B030D-6E8A-4147-A177-3AD203B41FA5}">
                      <a16:colId xmlns:a16="http://schemas.microsoft.com/office/drawing/2014/main" val="1479597408"/>
                    </a:ext>
                  </a:extLst>
                </a:gridCol>
                <a:gridCol w="628510">
                  <a:extLst>
                    <a:ext uri="{9D8B030D-6E8A-4147-A177-3AD203B41FA5}">
                      <a16:colId xmlns:a16="http://schemas.microsoft.com/office/drawing/2014/main" val="1785814550"/>
                    </a:ext>
                  </a:extLst>
                </a:gridCol>
                <a:gridCol w="628510">
                  <a:extLst>
                    <a:ext uri="{9D8B030D-6E8A-4147-A177-3AD203B41FA5}">
                      <a16:colId xmlns:a16="http://schemas.microsoft.com/office/drawing/2014/main" val="3347868613"/>
                    </a:ext>
                  </a:extLst>
                </a:gridCol>
                <a:gridCol w="628510">
                  <a:extLst>
                    <a:ext uri="{9D8B030D-6E8A-4147-A177-3AD203B41FA5}">
                      <a16:colId xmlns:a16="http://schemas.microsoft.com/office/drawing/2014/main" val="889759460"/>
                    </a:ext>
                  </a:extLst>
                </a:gridCol>
                <a:gridCol w="628510">
                  <a:extLst>
                    <a:ext uri="{9D8B030D-6E8A-4147-A177-3AD203B41FA5}">
                      <a16:colId xmlns:a16="http://schemas.microsoft.com/office/drawing/2014/main" val="2129834184"/>
                    </a:ext>
                  </a:extLst>
                </a:gridCol>
                <a:gridCol w="628510">
                  <a:extLst>
                    <a:ext uri="{9D8B030D-6E8A-4147-A177-3AD203B41FA5}">
                      <a16:colId xmlns:a16="http://schemas.microsoft.com/office/drawing/2014/main" val="249145514"/>
                    </a:ext>
                  </a:extLst>
                </a:gridCol>
                <a:gridCol w="628510">
                  <a:extLst>
                    <a:ext uri="{9D8B030D-6E8A-4147-A177-3AD203B41FA5}">
                      <a16:colId xmlns:a16="http://schemas.microsoft.com/office/drawing/2014/main" val="2491048535"/>
                    </a:ext>
                  </a:extLst>
                </a:gridCol>
                <a:gridCol w="628510">
                  <a:extLst>
                    <a:ext uri="{9D8B030D-6E8A-4147-A177-3AD203B41FA5}">
                      <a16:colId xmlns:a16="http://schemas.microsoft.com/office/drawing/2014/main" val="32095547"/>
                    </a:ext>
                  </a:extLst>
                </a:gridCol>
                <a:gridCol w="628510">
                  <a:extLst>
                    <a:ext uri="{9D8B030D-6E8A-4147-A177-3AD203B41FA5}">
                      <a16:colId xmlns:a16="http://schemas.microsoft.com/office/drawing/2014/main" val="2744932543"/>
                    </a:ext>
                  </a:extLst>
                </a:gridCol>
                <a:gridCol w="628510">
                  <a:extLst>
                    <a:ext uri="{9D8B030D-6E8A-4147-A177-3AD203B41FA5}">
                      <a16:colId xmlns:a16="http://schemas.microsoft.com/office/drawing/2014/main" val="527167149"/>
                    </a:ext>
                  </a:extLst>
                </a:gridCol>
                <a:gridCol w="628510">
                  <a:extLst>
                    <a:ext uri="{9D8B030D-6E8A-4147-A177-3AD203B41FA5}">
                      <a16:colId xmlns:a16="http://schemas.microsoft.com/office/drawing/2014/main" val="2244196224"/>
                    </a:ext>
                  </a:extLst>
                </a:gridCol>
              </a:tblGrid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 ID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 dirty="0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FR-01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FR-02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 dirty="0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FR-03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FR-04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FR-05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FR-06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QA-01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QA-02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QA-03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QA-04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CS-01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 dirty="0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CS-02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070012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8050365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7493440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396081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gridSpan="1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중요</a:t>
                      </a: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품질속성</a:t>
                      </a: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아님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12014694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VOS-05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07076866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VOS-06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gridSpan="1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일정/인력 관련 프로젝트 관리 사항으로 구조 설계에서 제외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7637055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VOS-07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0237920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VOS-08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3473578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VOS-09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5521916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VOS-10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7550771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VOS-11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8454134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VOS-12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7930589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VOS-13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gridSpan="1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중요</a:t>
                      </a: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품질속성</a:t>
                      </a: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아님</a:t>
                      </a:r>
                      <a:endParaRPr lang="ko-KR" sz="8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599787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VOS-14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gridSpan="1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API 문서화 요구는 구조 설계에서 제외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6637338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VOS-15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0799497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VOS-16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4900474"/>
                  </a:ext>
                </a:extLst>
              </a:tr>
            </a:tbl>
          </a:graphicData>
        </a:graphic>
      </p:graphicFrame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7242498F-14C9-59BA-FE9B-0CBA3DA339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3829" y="721467"/>
            <a:ext cx="8181521" cy="2998478"/>
          </a:xfrm>
        </p:spPr>
        <p:txBody>
          <a:bodyPr/>
          <a:lstStyle/>
          <a:p>
            <a:r>
              <a:rPr lang="en-US" altLang="ko-KR" dirty="0"/>
              <a:t>VOS</a:t>
            </a:r>
            <a:r>
              <a:rPr lang="ko-KR" altLang="en-US" dirty="0"/>
              <a:t>가 모두 </a:t>
            </a:r>
            <a:r>
              <a:rPr lang="en-US" altLang="ko-KR" dirty="0"/>
              <a:t>AD</a:t>
            </a:r>
            <a:r>
              <a:rPr lang="ko-KR" altLang="en-US" dirty="0"/>
              <a:t>에 매칭됨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402286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2EDF5D-97F0-59DF-41AC-DCB53B30D5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C70053-50FB-A33B-D744-708E8F3CEB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아키텍처 설계</a:t>
            </a:r>
          </a:p>
        </p:txBody>
      </p:sp>
    </p:spTree>
    <p:extLst>
      <p:ext uri="{BB962C8B-B14F-4D97-AF65-F5344CB8AC3E}">
        <p14:creationId xmlns:p14="http://schemas.microsoft.com/office/powerpoint/2010/main" val="31908662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ACD0DCF-8DE5-2F7C-82EE-1F7A524327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TCB – Trusted Computing Base</a:t>
            </a:r>
            <a:endParaRPr lang="ko-KR" altLang="en-US" dirty="0"/>
          </a:p>
        </p:txBody>
      </p:sp>
      <p:sp>
        <p:nvSpPr>
          <p:cNvPr id="43" name="내용 개체 틀 42">
            <a:extLst>
              <a:ext uri="{FF2B5EF4-FFF2-40B4-BE49-F238E27FC236}">
                <a16:creationId xmlns:a16="http://schemas.microsoft.com/office/drawing/2014/main" id="{3CAD032A-2C20-49FD-58BF-8B83775B3C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3829" y="721466"/>
            <a:ext cx="8181521" cy="4110786"/>
          </a:xfrm>
        </p:spPr>
        <p:txBody>
          <a:bodyPr/>
          <a:lstStyle/>
          <a:p>
            <a:r>
              <a:rPr lang="en-US" altLang="ko-KR" dirty="0"/>
              <a:t>TCB?</a:t>
            </a:r>
          </a:p>
          <a:p>
            <a:pPr lvl="1"/>
            <a:r>
              <a:rPr lang="ko-KR" altLang="en-US" dirty="0"/>
              <a:t>시스템의 보안 정책 집행에 책임이 있는 모든 하드웨어</a:t>
            </a:r>
            <a:r>
              <a:rPr lang="en-US" altLang="ko-KR" dirty="0"/>
              <a:t>, </a:t>
            </a:r>
            <a:r>
              <a:rPr lang="ko-KR" altLang="en-US" dirty="0"/>
              <a:t>펌웨어</a:t>
            </a:r>
            <a:r>
              <a:rPr lang="en-US" altLang="ko-KR" dirty="0"/>
              <a:t>, </a:t>
            </a:r>
            <a:r>
              <a:rPr lang="ko-KR" altLang="en-US" dirty="0"/>
              <a:t>소프트웨어 구성 요소의 총집합</a:t>
            </a:r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r>
              <a:rPr lang="ko-KR" altLang="en-US" dirty="0"/>
              <a:t>특징</a:t>
            </a:r>
            <a:endParaRPr lang="en-US" altLang="ko-KR" dirty="0"/>
          </a:p>
          <a:p>
            <a:pPr lvl="1"/>
            <a:r>
              <a:rPr lang="ko-KR" altLang="en-US" dirty="0"/>
              <a:t>경계가 작고 단순해야 함</a:t>
            </a:r>
            <a:r>
              <a:rPr lang="en-US" altLang="ko-KR" dirty="0"/>
              <a:t>. -&gt; </a:t>
            </a:r>
            <a:r>
              <a:rPr lang="ko-KR" altLang="en-US" dirty="0"/>
              <a:t>크고 복잡하면 침투 표면이 넓어짐</a:t>
            </a:r>
            <a:endParaRPr lang="en-US" altLang="ko-KR" dirty="0"/>
          </a:p>
          <a:p>
            <a:pPr lvl="1"/>
            <a:r>
              <a:rPr lang="ko-KR" altLang="en-US" dirty="0"/>
              <a:t>신뢰 경계를 넘는 모든 상호작용은 검증 대상</a:t>
            </a:r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r>
              <a:rPr lang="ko-KR" altLang="en-US" dirty="0"/>
              <a:t>검증 완료 후 릴리즈되면 실행 시 항상 무결성이 보장되어야 함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 시스템에서 </a:t>
            </a:r>
            <a:r>
              <a:rPr lang="en-US" altLang="ko-KR" dirty="0"/>
              <a:t>pKVM, pVM,</a:t>
            </a:r>
            <a:r>
              <a:rPr lang="ko-KR" altLang="en-US" dirty="0"/>
              <a:t> </a:t>
            </a:r>
            <a:r>
              <a:rPr lang="en-US" altLang="ko-KR" dirty="0"/>
              <a:t>Workload</a:t>
            </a:r>
            <a:r>
              <a:rPr lang="ko-KR" altLang="en-US" dirty="0"/>
              <a:t>는 </a:t>
            </a:r>
            <a:r>
              <a:rPr lang="en-US" altLang="ko-KR" dirty="0"/>
              <a:t>TCB</a:t>
            </a:r>
            <a:r>
              <a:rPr lang="ko-KR" altLang="en-US" dirty="0"/>
              <a:t>에 포함 </a:t>
            </a:r>
            <a:r>
              <a:rPr lang="en-US" altLang="ko-KR" dirty="0"/>
              <a:t>(</a:t>
            </a:r>
            <a:r>
              <a:rPr lang="ko-KR" altLang="en-US" dirty="0"/>
              <a:t>다음 페이지</a:t>
            </a:r>
            <a:r>
              <a:rPr lang="en-US" altLang="ko-KR" dirty="0"/>
              <a:t>)</a:t>
            </a:r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</p:txBody>
      </p:sp>
      <p:pic>
        <p:nvPicPr>
          <p:cNvPr id="47" name="그림 46">
            <a:extLst>
              <a:ext uri="{FF2B5EF4-FFF2-40B4-BE49-F238E27FC236}">
                <a16:creationId xmlns:a16="http://schemas.microsoft.com/office/drawing/2014/main" id="{3B73ED83-4411-3674-2DD0-48E5684C22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8488" y="2892856"/>
            <a:ext cx="2760963" cy="830628"/>
          </a:xfrm>
          <a:prstGeom prst="rect">
            <a:avLst/>
          </a:prstGeom>
        </p:spPr>
      </p:pic>
      <p:grpSp>
        <p:nvGrpSpPr>
          <p:cNvPr id="3" name="그룹 2">
            <a:extLst>
              <a:ext uri="{FF2B5EF4-FFF2-40B4-BE49-F238E27FC236}">
                <a16:creationId xmlns:a16="http://schemas.microsoft.com/office/drawing/2014/main" id="{803D99AD-7F27-9BE9-C501-8D1B15DEF877}"/>
              </a:ext>
            </a:extLst>
          </p:cNvPr>
          <p:cNvGrpSpPr/>
          <p:nvPr/>
        </p:nvGrpSpPr>
        <p:grpSpPr>
          <a:xfrm>
            <a:off x="944669" y="1414644"/>
            <a:ext cx="7358400" cy="420687"/>
            <a:chOff x="944669" y="1414644"/>
            <a:chExt cx="7358400" cy="479343"/>
          </a:xfrm>
        </p:grpSpPr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B92DDF79-E02E-7BA3-8B49-FDC812ED69A7}"/>
                </a:ext>
              </a:extLst>
            </p:cNvPr>
            <p:cNvSpPr/>
            <p:nvPr/>
          </p:nvSpPr>
          <p:spPr>
            <a:xfrm>
              <a:off x="944669" y="1425987"/>
              <a:ext cx="2208458" cy="468000"/>
            </a:xfrm>
            <a:prstGeom prst="roundRect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 b="1" dirty="0"/>
                <a:t>신뢰할 만 한 것들</a:t>
              </a:r>
            </a:p>
          </p:txBody>
        </p:sp>
        <p:sp>
          <p:nvSpPr>
            <p:cNvPr id="49" name="사각형: 둥근 모서리 48">
              <a:extLst>
                <a:ext uri="{FF2B5EF4-FFF2-40B4-BE49-F238E27FC236}">
                  <a16:creationId xmlns:a16="http://schemas.microsoft.com/office/drawing/2014/main" id="{F2E62397-2629-E7B4-F154-8E82AA2F9673}"/>
                </a:ext>
              </a:extLst>
            </p:cNvPr>
            <p:cNvSpPr/>
            <p:nvPr/>
          </p:nvSpPr>
          <p:spPr>
            <a:xfrm>
              <a:off x="3519640" y="1425987"/>
              <a:ext cx="2208458" cy="468000"/>
            </a:xfrm>
            <a:prstGeom prst="roundRect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 b="1" dirty="0"/>
                <a:t>올바르게 동작하는 것들</a:t>
              </a:r>
            </a:p>
          </p:txBody>
        </p:sp>
        <p:sp>
          <p:nvSpPr>
            <p:cNvPr id="50" name="사각형: 둥근 모서리 49">
              <a:extLst>
                <a:ext uri="{FF2B5EF4-FFF2-40B4-BE49-F238E27FC236}">
                  <a16:creationId xmlns:a16="http://schemas.microsoft.com/office/drawing/2014/main" id="{D76B81D2-64C8-6D5D-2E0B-27E7ACE954AA}"/>
                </a:ext>
              </a:extLst>
            </p:cNvPr>
            <p:cNvSpPr/>
            <p:nvPr/>
          </p:nvSpPr>
          <p:spPr>
            <a:xfrm>
              <a:off x="6094611" y="1414644"/>
              <a:ext cx="2208458" cy="468000"/>
            </a:xfrm>
            <a:prstGeom prst="roundRect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 b="1" dirty="0"/>
                <a:t>검증 대상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87875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E67EC2-A20E-3883-1EA5-6B47C39BE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2E478F-EC13-C1D2-9B9B-090B2E5762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6765" y="166913"/>
            <a:ext cx="5960053" cy="409575"/>
          </a:xfrm>
        </p:spPr>
        <p:txBody>
          <a:bodyPr>
            <a:normAutofit/>
          </a:bodyPr>
          <a:lstStyle/>
          <a:p>
            <a:r>
              <a:rPr lang="en-US" altLang="ko-KR" dirty="0"/>
              <a:t>Secure Boot &amp; Loading Flow</a:t>
            </a:r>
            <a:endParaRPr lang="ko-KR" altLang="en-US" dirty="0"/>
          </a:p>
        </p:txBody>
      </p:sp>
      <p:sp>
        <p:nvSpPr>
          <p:cNvPr id="3" name="내용 개체 틀 42">
            <a:extLst>
              <a:ext uri="{FF2B5EF4-FFF2-40B4-BE49-F238E27FC236}">
                <a16:creationId xmlns:a16="http://schemas.microsoft.com/office/drawing/2014/main" id="{28E51D1F-B954-1227-2182-5705A3B702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3829" y="721466"/>
            <a:ext cx="8181521" cy="409575"/>
          </a:xfrm>
        </p:spPr>
        <p:txBody>
          <a:bodyPr/>
          <a:lstStyle/>
          <a:p>
            <a:r>
              <a:rPr lang="en-US" altLang="ko-KR" dirty="0"/>
              <a:t>IROM</a:t>
            </a:r>
            <a:r>
              <a:rPr lang="ko-KR" altLang="en-US" dirty="0"/>
              <a:t>으로부터 </a:t>
            </a:r>
            <a:r>
              <a:rPr lang="en-US" altLang="ko-KR" dirty="0"/>
              <a:t>Workload</a:t>
            </a:r>
            <a:r>
              <a:rPr lang="ko-KR" altLang="en-US" dirty="0"/>
              <a:t>까지 무결성이 이어짐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D38835-F190-7C0A-A78E-9BA8C70AED91}"/>
              </a:ext>
            </a:extLst>
          </p:cNvPr>
          <p:cNvSpPr txBox="1"/>
          <p:nvPr/>
        </p:nvSpPr>
        <p:spPr>
          <a:xfrm>
            <a:off x="4572000" y="1237463"/>
            <a:ext cx="339548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 typeface="Wingdings" panose="05000000000000000000" pitchFamily="2" charset="2"/>
              <a:buChar char="v"/>
            </a:pPr>
            <a:r>
              <a:rPr lang="en-US" altLang="ko-KR" sz="1100" b="1" dirty="0">
                <a:solidFill>
                  <a:srgbClr val="0000FF"/>
                </a:solidFill>
              </a:rPr>
              <a:t>Secure OS, pKVM, pVM, Workload </a:t>
            </a:r>
            <a:r>
              <a:rPr lang="ko-KR" altLang="en-US" sz="1100" b="1" dirty="0">
                <a:solidFill>
                  <a:srgbClr val="0000FF"/>
                </a:solidFill>
              </a:rPr>
              <a:t>모두</a:t>
            </a:r>
            <a:r>
              <a:rPr lang="en-US" altLang="ko-KR" sz="1100" b="1" dirty="0">
                <a:solidFill>
                  <a:srgbClr val="0000FF"/>
                </a:solidFill>
              </a:rPr>
              <a:t> TCB</a:t>
            </a:r>
            <a:r>
              <a:rPr lang="ko-KR" altLang="en-US" sz="1100" b="1" dirty="0">
                <a:solidFill>
                  <a:srgbClr val="0000FF"/>
                </a:solidFill>
              </a:rPr>
              <a:t>에 포함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7F1587F-FBA9-F856-65C8-89ACD45BE5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499073"/>
            <a:ext cx="6858000" cy="3569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99514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52D165-3956-3F85-75FD-48ECC5490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Control Path</a:t>
            </a:r>
            <a:r>
              <a:rPr lang="ko-KR" altLang="en-US" dirty="0"/>
              <a:t>의 메타정보 노출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6717EC3-36CB-898F-D914-9FECF37A71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3829" y="721466"/>
            <a:ext cx="8181521" cy="3779595"/>
          </a:xfrm>
        </p:spPr>
        <p:txBody>
          <a:bodyPr/>
          <a:lstStyle/>
          <a:p>
            <a:r>
              <a:rPr lang="ko-KR" altLang="en-US" dirty="0"/>
              <a:t>메타정보로 얻을 수 있는 정보</a:t>
            </a:r>
            <a:endParaRPr lang="en-US" altLang="ko-KR" dirty="0"/>
          </a:p>
          <a:p>
            <a:pPr lvl="1"/>
            <a:r>
              <a:rPr lang="en-US" altLang="ko-KR" dirty="0"/>
              <a:t>Camera Case</a:t>
            </a:r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r>
              <a:rPr lang="en-US" altLang="ko-KR" dirty="0"/>
              <a:t>AI Case</a:t>
            </a:r>
          </a:p>
          <a:p>
            <a:pPr lvl="2"/>
            <a:r>
              <a:rPr lang="ko-KR" altLang="en-US" dirty="0"/>
              <a:t>모델의 메타 정보가 유출되면</a:t>
            </a:r>
            <a:r>
              <a:rPr lang="en-US" altLang="ko-KR" dirty="0"/>
              <a:t>, </a:t>
            </a:r>
            <a:r>
              <a:rPr lang="ko-KR" altLang="en-US" dirty="0"/>
              <a:t>관찰을 통해 </a:t>
            </a:r>
            <a:r>
              <a:rPr lang="en-US" altLang="ko-KR" dirty="0"/>
              <a:t>model</a:t>
            </a:r>
            <a:r>
              <a:rPr lang="ko-KR" altLang="en-US" dirty="0"/>
              <a:t> </a:t>
            </a:r>
            <a:r>
              <a:rPr lang="en-US" altLang="ko-KR" dirty="0"/>
              <a:t>architecture</a:t>
            </a:r>
            <a:r>
              <a:rPr lang="ko-KR" altLang="en-US" dirty="0"/>
              <a:t>가 노출될 수 있음</a:t>
            </a:r>
            <a:r>
              <a:rPr lang="en-US" altLang="ko-KR" dirty="0"/>
              <a:t>.</a:t>
            </a:r>
          </a:p>
          <a:p>
            <a:pPr lvl="2"/>
            <a:endParaRPr lang="en-US" altLang="ko-KR" dirty="0"/>
          </a:p>
          <a:p>
            <a:r>
              <a:rPr lang="en-US" altLang="ko-KR" dirty="0"/>
              <a:t>Host</a:t>
            </a:r>
            <a:r>
              <a:rPr lang="ko-KR" altLang="en-US" dirty="0"/>
              <a:t>에서 메타 정보 </a:t>
            </a:r>
            <a:r>
              <a:rPr lang="en-US" altLang="ko-KR" dirty="0">
                <a:solidFill>
                  <a:srgbClr val="FF0000"/>
                </a:solidFill>
              </a:rPr>
              <a:t>tampering(</a:t>
            </a:r>
            <a:r>
              <a:rPr lang="ko-KR" altLang="en-US" dirty="0">
                <a:solidFill>
                  <a:srgbClr val="FF0000"/>
                </a:solidFill>
              </a:rPr>
              <a:t>변조</a:t>
            </a:r>
            <a:r>
              <a:rPr lang="en-US" altLang="ko-KR" dirty="0">
                <a:solidFill>
                  <a:srgbClr val="FF0000"/>
                </a:solidFill>
              </a:rPr>
              <a:t>)</a:t>
            </a:r>
            <a:r>
              <a:rPr lang="ko-KR" altLang="en-US" dirty="0"/>
              <a:t>도 가능</a:t>
            </a: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48423BD0-620B-626E-3289-7E288BB138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2811222"/>
              </p:ext>
            </p:extLst>
          </p:nvPr>
        </p:nvGraphicFramePr>
        <p:xfrm>
          <a:off x="555951" y="1412461"/>
          <a:ext cx="4991100" cy="21185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89100">
                  <a:extLst>
                    <a:ext uri="{9D8B030D-6E8A-4147-A177-3AD203B41FA5}">
                      <a16:colId xmlns:a16="http://schemas.microsoft.com/office/drawing/2014/main" val="283985713"/>
                    </a:ext>
                  </a:extLst>
                </a:gridCol>
                <a:gridCol w="3302000">
                  <a:extLst>
                    <a:ext uri="{9D8B030D-6E8A-4147-A177-3AD203B41FA5}">
                      <a16:colId xmlns:a16="http://schemas.microsoft.com/office/drawing/2014/main" val="1109553101"/>
                    </a:ext>
                  </a:extLst>
                </a:gridCol>
              </a:tblGrid>
              <a:tr h="21185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u="none" strike="noStrike" dirty="0">
                          <a:effectLst/>
                        </a:rPr>
                        <a:t>노출 정보</a:t>
                      </a:r>
                      <a:endParaRPr lang="ko-KR" sz="10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u="none" strike="noStrike" dirty="0">
                          <a:effectLst/>
                        </a:rPr>
                        <a:t>추론 가능한 정보</a:t>
                      </a:r>
                      <a:endParaRPr lang="ko-KR" sz="10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3297794"/>
                  </a:ext>
                </a:extLst>
              </a:tr>
              <a:tr h="21185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u="none" strike="noStrike">
                          <a:effectLst/>
                        </a:rPr>
                        <a:t>CAPTURE/START/STOP</a:t>
                      </a:r>
                      <a:endParaRPr lang="ko-KR" sz="800" b="0" i="0" u="none" strike="noStrike">
                        <a:solidFill>
                          <a:srgbClr val="000000"/>
                        </a:solidFill>
                        <a:effectLst/>
                        <a:latin typeface="Arial Unicode MS" panose="020B0604020202020204" pitchFamily="50" charset="-127"/>
                        <a:ea typeface="Arial Unicode MS" panose="020B06040202020202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카메라가 언제 사용되는지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4404455"/>
                  </a:ext>
                </a:extLst>
              </a:tr>
              <a:tr h="21185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u="none" strike="noStrike" dirty="0" err="1">
                          <a:effectLst/>
                        </a:rPr>
                        <a:t>sensor_id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Arial Unicode MS" panose="020B0604020202020204" pitchFamily="50" charset="-127"/>
                        <a:ea typeface="Arial Unicode MS" panose="020B06040202020202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u="none" strike="noStrike">
                          <a:effectLst/>
                        </a:rPr>
                        <a:t>front/rear/robot arm camera 등 어떤 카메라인지</a:t>
                      </a:r>
                      <a:endParaRPr 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2145599"/>
                  </a:ext>
                </a:extLst>
              </a:tr>
              <a:tr h="21185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u="none" strike="noStrike">
                          <a:effectLst/>
                        </a:rPr>
                        <a:t>width/height</a:t>
                      </a:r>
                      <a:endParaRPr 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u="none" strike="noStrike">
                          <a:effectLst/>
                        </a:rPr>
                        <a:t>영상 해상도</a:t>
                      </a:r>
                      <a:endParaRPr 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5999563"/>
                  </a:ext>
                </a:extLst>
              </a:tr>
              <a:tr h="21185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fps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촬영 속도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1687261"/>
                  </a:ext>
                </a:extLst>
              </a:tr>
              <a:tr h="21185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u="none" strike="noStrike">
                          <a:effectLst/>
                        </a:rPr>
                        <a:t>pixel format</a:t>
                      </a:r>
                      <a:endParaRPr 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RGB/YUV/</a:t>
                      </a:r>
                      <a:r>
                        <a:rPr lang="ko-KR" sz="1000" u="none" strike="noStrike" dirty="0" err="1">
                          <a:effectLst/>
                        </a:rPr>
                        <a:t>depth</a:t>
                      </a:r>
                      <a:r>
                        <a:rPr lang="ko-KR" sz="1000" u="none" strike="noStrike" dirty="0">
                          <a:effectLst/>
                        </a:rPr>
                        <a:t> 등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6302822"/>
                  </a:ext>
                </a:extLst>
              </a:tr>
              <a:tr h="21185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u="none" strike="noStrike">
                          <a:effectLst/>
                        </a:rPr>
                        <a:t>exposure/gain</a:t>
                      </a:r>
                      <a:endParaRPr 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주변 밝기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8087963"/>
                  </a:ext>
                </a:extLst>
              </a:tr>
              <a:tr h="21185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u="none" strike="noStrike" dirty="0" err="1">
                          <a:effectLst/>
                        </a:rPr>
                        <a:t>frame</a:t>
                      </a:r>
                      <a:r>
                        <a:rPr lang="ko-KR" sz="1000" u="none" strike="noStrike" dirty="0">
                          <a:effectLst/>
                        </a:rPr>
                        <a:t> </a:t>
                      </a:r>
                      <a:r>
                        <a:rPr lang="ko-KR" sz="1000" u="none" strike="noStrike" dirty="0" err="1">
                          <a:effectLst/>
                        </a:rPr>
                        <a:t>count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u="none" strike="noStrike" dirty="0" err="1">
                          <a:effectLst/>
                        </a:rPr>
                        <a:t>촬영량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5734443"/>
                  </a:ext>
                </a:extLst>
              </a:tr>
              <a:tr h="21185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u="none" strike="noStrike">
                          <a:effectLst/>
                        </a:rPr>
                        <a:t>buffer size/stride</a:t>
                      </a:r>
                      <a:endParaRPr 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영상 포맷 추정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93758283"/>
                  </a:ext>
                </a:extLst>
              </a:tr>
              <a:tr h="21185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u="none" strike="noStrike" dirty="0" err="1">
                          <a:effectLst/>
                        </a:rPr>
                        <a:t>timestamp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작업 발생 시점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6511300"/>
                  </a:ext>
                </a:extLst>
              </a:tr>
            </a:tbl>
          </a:graphicData>
        </a:graphic>
      </p:graphicFrame>
      <p:grpSp>
        <p:nvGrpSpPr>
          <p:cNvPr id="14" name="그룹 13">
            <a:extLst>
              <a:ext uri="{FF2B5EF4-FFF2-40B4-BE49-F238E27FC236}">
                <a16:creationId xmlns:a16="http://schemas.microsoft.com/office/drawing/2014/main" id="{3DA2DF4A-E835-B4CB-B818-2E7496EB9C56}"/>
              </a:ext>
            </a:extLst>
          </p:cNvPr>
          <p:cNvGrpSpPr/>
          <p:nvPr/>
        </p:nvGrpSpPr>
        <p:grpSpPr>
          <a:xfrm>
            <a:off x="5719098" y="1295932"/>
            <a:ext cx="3237898" cy="3205130"/>
            <a:chOff x="285703" y="1329617"/>
            <a:chExt cx="3502367" cy="3466923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4EC7617E-5806-043F-6D3F-FC9332C99E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75649" y="1701595"/>
              <a:ext cx="3120674" cy="1549687"/>
            </a:xfrm>
            <a:prstGeom prst="rect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</p:pic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8D2745B5-53B6-FF87-21EA-BACD2A7B0FB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85703" y="3515537"/>
              <a:ext cx="3502367" cy="1281003"/>
            </a:xfrm>
            <a:prstGeom prst="rect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</p:pic>
        <p:sp>
          <p:nvSpPr>
            <p:cNvPr id="9" name="화살표: 오른쪽 8">
              <a:extLst>
                <a:ext uri="{FF2B5EF4-FFF2-40B4-BE49-F238E27FC236}">
                  <a16:creationId xmlns:a16="http://schemas.microsoft.com/office/drawing/2014/main" id="{6D5D86DD-03C6-5128-12CF-5DAFB09E9EA5}"/>
                </a:ext>
              </a:extLst>
            </p:cNvPr>
            <p:cNvSpPr/>
            <p:nvPr/>
          </p:nvSpPr>
          <p:spPr>
            <a:xfrm>
              <a:off x="1054463" y="1638391"/>
              <a:ext cx="1945680" cy="586998"/>
            </a:xfrm>
            <a:prstGeom prst="rightArrow">
              <a:avLst/>
            </a:prstGeom>
            <a:solidFill>
              <a:srgbClr val="FF0000">
                <a:alpha val="3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화살표: 오른쪽 9">
              <a:extLst>
                <a:ext uri="{FF2B5EF4-FFF2-40B4-BE49-F238E27FC236}">
                  <a16:creationId xmlns:a16="http://schemas.microsoft.com/office/drawing/2014/main" id="{7518DCBC-6DF2-19BB-0913-F9EF651FC0AE}"/>
                </a:ext>
              </a:extLst>
            </p:cNvPr>
            <p:cNvSpPr/>
            <p:nvPr/>
          </p:nvSpPr>
          <p:spPr>
            <a:xfrm flipH="1">
              <a:off x="895188" y="3688099"/>
              <a:ext cx="2214958" cy="560356"/>
            </a:xfrm>
            <a:prstGeom prst="rightArrow">
              <a:avLst/>
            </a:prstGeom>
            <a:solidFill>
              <a:srgbClr val="FF0000">
                <a:alpha val="3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화살표: 오른쪽 11">
              <a:extLst>
                <a:ext uri="{FF2B5EF4-FFF2-40B4-BE49-F238E27FC236}">
                  <a16:creationId xmlns:a16="http://schemas.microsoft.com/office/drawing/2014/main" id="{9099FFB5-FE48-DE95-F643-BDAB3E9BEFB3}"/>
                </a:ext>
              </a:extLst>
            </p:cNvPr>
            <p:cNvSpPr/>
            <p:nvPr/>
          </p:nvSpPr>
          <p:spPr>
            <a:xfrm>
              <a:off x="650397" y="1372383"/>
              <a:ext cx="302508" cy="129910"/>
            </a:xfrm>
            <a:prstGeom prst="rightArrow">
              <a:avLst/>
            </a:prstGeom>
            <a:solidFill>
              <a:srgbClr val="FF0000">
                <a:alpha val="3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61728C7-D1A1-E81F-ABE0-96DCAA5D2A7C}"/>
                </a:ext>
              </a:extLst>
            </p:cNvPr>
            <p:cNvSpPr txBox="1"/>
            <p:nvPr/>
          </p:nvSpPr>
          <p:spPr>
            <a:xfrm>
              <a:off x="960925" y="1329617"/>
              <a:ext cx="708848" cy="2154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altLang="ko-KR" sz="800" dirty="0"/>
                <a:t>Control Path</a:t>
              </a:r>
              <a:endParaRPr lang="ko-KR" altLang="en-US" sz="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5933564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0F2BC0-12C6-4CDF-E077-8324A08490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6765" y="166913"/>
            <a:ext cx="4848706" cy="409575"/>
          </a:xfrm>
        </p:spPr>
        <p:txBody>
          <a:bodyPr>
            <a:normAutofit/>
          </a:bodyPr>
          <a:lstStyle/>
          <a:p>
            <a:r>
              <a:rPr lang="ko-KR" altLang="en-US" dirty="0"/>
              <a:t>보안 품질속성에 적합한 정량 </a:t>
            </a:r>
            <a:r>
              <a:rPr lang="ko-KR" altLang="en-US" dirty="0" err="1"/>
              <a:t>메트릭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D60AEC-DF6D-9D34-D62A-BD8F4E543D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3829" y="721467"/>
            <a:ext cx="8181521" cy="671235"/>
          </a:xfrm>
        </p:spPr>
        <p:txBody>
          <a:bodyPr/>
          <a:lstStyle/>
          <a:p>
            <a:r>
              <a:rPr lang="ko-KR" altLang="en-US" sz="1050" b="0" dirty="0"/>
              <a:t>보안 침해가 </a:t>
            </a:r>
            <a:r>
              <a:rPr lang="ko-KR" altLang="ko-KR" sz="1050" b="0" dirty="0"/>
              <a:t>100만 건 중 1건 발생한다고 하더라도, 그 1건의 취약점을 반복 재현할 수 있다면 매우 심각한 보안 취약점</a:t>
            </a:r>
            <a:endParaRPr lang="en-US" altLang="ko-KR" sz="1050" b="0" dirty="0"/>
          </a:p>
          <a:p>
            <a:r>
              <a:rPr lang="ko-KR" altLang="ko-KR" sz="1050" b="0" dirty="0"/>
              <a:t>보안 품질속성에서는 다음과 같은 </a:t>
            </a:r>
            <a:r>
              <a:rPr lang="en-US" altLang="ko-KR" sz="1050" b="0" dirty="0"/>
              <a:t>Matric</a:t>
            </a:r>
            <a:r>
              <a:rPr lang="ko-KR" altLang="ko-KR" sz="1050" b="0" dirty="0"/>
              <a:t>을 사용하는 것이 더 적절</a:t>
            </a:r>
            <a:endParaRPr lang="en-US" altLang="ko-KR" sz="1050" b="0" dirty="0"/>
          </a:p>
          <a:p>
            <a:endParaRPr lang="ko-KR" altLang="en-US" sz="1050" dirty="0"/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42957822-331B-43E7-6BB6-41D4D7E152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3545766"/>
              </p:ext>
            </p:extLst>
          </p:nvPr>
        </p:nvGraphicFramePr>
        <p:xfrm>
          <a:off x="628649" y="1477287"/>
          <a:ext cx="8100354" cy="28094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83960">
                  <a:extLst>
                    <a:ext uri="{9D8B030D-6E8A-4147-A177-3AD203B41FA5}">
                      <a16:colId xmlns:a16="http://schemas.microsoft.com/office/drawing/2014/main" val="1574263597"/>
                    </a:ext>
                  </a:extLst>
                </a:gridCol>
                <a:gridCol w="1730326">
                  <a:extLst>
                    <a:ext uri="{9D8B030D-6E8A-4147-A177-3AD203B41FA5}">
                      <a16:colId xmlns:a16="http://schemas.microsoft.com/office/drawing/2014/main" val="2020050073"/>
                    </a:ext>
                  </a:extLst>
                </a:gridCol>
                <a:gridCol w="4586068">
                  <a:extLst>
                    <a:ext uri="{9D8B030D-6E8A-4147-A177-3AD203B41FA5}">
                      <a16:colId xmlns:a16="http://schemas.microsoft.com/office/drawing/2014/main" val="2649423994"/>
                    </a:ext>
                  </a:extLst>
                </a:gridCol>
              </a:tblGrid>
              <a:tr h="30165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altLang="ko-KR" sz="1050" b="1" i="0" kern="1200" dirty="0">
                          <a:solidFill>
                            <a:schemeClr val="bg1"/>
                          </a:solidFill>
                          <a:effectLst/>
                          <a:latin typeface="-apple-system"/>
                          <a:ea typeface="+mn-ea"/>
                          <a:cs typeface="+mn-cs"/>
                        </a:rPr>
                        <a:t>ISO/IEC 25010:2023</a:t>
                      </a:r>
                    </a:p>
                    <a:p>
                      <a:pPr algn="ctr">
                        <a:buNone/>
                      </a:pPr>
                      <a:r>
                        <a:rPr lang="it-IT" altLang="ko-KR" sz="1050" b="1" i="0" kern="1200" dirty="0">
                          <a:solidFill>
                            <a:schemeClr val="bg1"/>
                          </a:solidFill>
                          <a:effectLst/>
                          <a:latin typeface="-apple-system"/>
                          <a:ea typeface="+mn-ea"/>
                          <a:cs typeface="+mn-cs"/>
                        </a:rPr>
                        <a:t>Quality Attribute</a:t>
                      </a:r>
                      <a:endParaRPr lang="ko-KR" altLang="en-US" sz="1050" b="1" i="0" kern="1200" dirty="0">
                        <a:solidFill>
                          <a:schemeClr val="bg1"/>
                        </a:solidFill>
                        <a:effectLst/>
                        <a:latin typeface="-apple-system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050" b="1" i="0" kern="1200" dirty="0">
                          <a:solidFill>
                            <a:schemeClr val="bg1"/>
                          </a:solidFill>
                          <a:effectLst/>
                          <a:latin typeface="-apple-system"/>
                          <a:ea typeface="+mn-ea"/>
                          <a:cs typeface="+mn-cs"/>
                        </a:rPr>
                        <a:t>Matric</a:t>
                      </a:r>
                      <a:endParaRPr lang="ko-KR" altLang="en-US" sz="1050" b="1" i="0" kern="1200" dirty="0">
                        <a:solidFill>
                          <a:schemeClr val="bg1"/>
                        </a:solidFill>
                        <a:effectLst/>
                        <a:latin typeface="-apple-system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050" b="1" dirty="0">
                          <a:solidFill>
                            <a:schemeClr val="bg1"/>
                          </a:solidFill>
                          <a:effectLst/>
                        </a:rPr>
                        <a:t>정량 기준</a:t>
                      </a:r>
                      <a:endParaRPr lang="ko-KR" sz="1050" b="1" i="0" dirty="0">
                        <a:solidFill>
                          <a:schemeClr val="bg1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601470"/>
                  </a:ext>
                </a:extLst>
              </a:tr>
              <a:tr h="30165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ko-KR" sz="1050" b="0" i="0" dirty="0">
                          <a:solidFill>
                            <a:srgbClr val="000000"/>
                          </a:solidFill>
                          <a:effectLst/>
                          <a:latin typeface="-apple-system"/>
                        </a:rPr>
                        <a:t>Security - Resistance</a:t>
                      </a:r>
                      <a:endParaRPr lang="ko-KR" sz="1050" b="0" i="0" dirty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50" dirty="0">
                          <a:effectLst/>
                        </a:rPr>
                        <a:t>공격 </a:t>
                      </a:r>
                      <a:r>
                        <a:rPr lang="ko-KR" sz="1050" dirty="0" err="1">
                          <a:effectLst/>
                        </a:rPr>
                        <a:t>차단률</a:t>
                      </a:r>
                      <a:endParaRPr lang="ko-KR" sz="1050" b="0" i="0" dirty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50">
                          <a:effectLst/>
                        </a:rPr>
                        <a:t>탐지된 비인가 접근 차단율 ≥ 99.99%</a:t>
                      </a:r>
                      <a:endParaRPr lang="ko-KR" sz="1050" b="0" i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1961915"/>
                  </a:ext>
                </a:extLst>
              </a:tr>
              <a:tr h="30165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ko-KR" sz="1050" b="0" i="0" dirty="0">
                          <a:solidFill>
                            <a:srgbClr val="000000"/>
                          </a:solidFill>
                          <a:effectLst/>
                          <a:latin typeface="-apple-system"/>
                        </a:rPr>
                        <a:t>Security – Authenticity</a:t>
                      </a:r>
                      <a:endParaRPr lang="ko-KR" sz="1050" b="0" i="0" dirty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50" dirty="0">
                          <a:effectLst/>
                        </a:rPr>
                        <a:t>인증 정확도</a:t>
                      </a:r>
                      <a:endParaRPr lang="ko-KR" sz="1050" b="0" i="0" dirty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50">
                          <a:effectLst/>
                        </a:rPr>
                        <a:t>정상 사용자 인증 성공률 ≥ 99.999%</a:t>
                      </a:r>
                      <a:endParaRPr lang="ko-KR" sz="1050" b="0" i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5504906"/>
                  </a:ext>
                </a:extLst>
              </a:tr>
              <a:tr h="30165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ko-KR" sz="1050" b="0" i="0" dirty="0">
                          <a:solidFill>
                            <a:srgbClr val="000000"/>
                          </a:solidFill>
                          <a:effectLst/>
                          <a:latin typeface="-apple-system"/>
                        </a:rPr>
                        <a:t>Security – Integrity</a:t>
                      </a:r>
                      <a:endParaRPr lang="ko-KR" sz="1050" b="0" i="0" dirty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50" dirty="0">
                          <a:effectLst/>
                        </a:rPr>
                        <a:t>무결성 </a:t>
                      </a:r>
                      <a:r>
                        <a:rPr lang="ko-KR" sz="1050" dirty="0" err="1">
                          <a:effectLst/>
                        </a:rPr>
                        <a:t>검증률</a:t>
                      </a:r>
                      <a:endParaRPr lang="ko-KR" sz="1050" b="0" i="0" dirty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50">
                          <a:effectLst/>
                        </a:rPr>
                        <a:t>중요 메시지 및 명령 무결성 검증률 = 100%</a:t>
                      </a:r>
                      <a:endParaRPr lang="ko-KR" sz="1050" b="0" i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9838080"/>
                  </a:ext>
                </a:extLst>
              </a:tr>
              <a:tr h="30165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ko-KR" sz="1050" b="0" i="0" dirty="0">
                          <a:solidFill>
                            <a:srgbClr val="000000"/>
                          </a:solidFill>
                          <a:effectLst/>
                          <a:latin typeface="-apple-system"/>
                        </a:rPr>
                        <a:t>Security – Resistance</a:t>
                      </a:r>
                      <a:endParaRPr lang="ko-KR" sz="1050" b="0" i="0" dirty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50">
                          <a:effectLst/>
                        </a:rPr>
                        <a:t>보안 이벤트 탐지 시간</a:t>
                      </a:r>
                      <a:endParaRPr lang="ko-KR" sz="1050" b="0" i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50" dirty="0">
                          <a:effectLst/>
                        </a:rPr>
                        <a:t>공격 발생 후 3초 이내 탐지</a:t>
                      </a:r>
                      <a:endParaRPr lang="ko-KR" sz="1050" b="0" i="0" dirty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3141586"/>
                  </a:ext>
                </a:extLst>
              </a:tr>
              <a:tr h="3016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i="0" dirty="0">
                          <a:solidFill>
                            <a:srgbClr val="000000"/>
                          </a:solidFill>
                          <a:effectLst/>
                          <a:latin typeface="-apple-system"/>
                        </a:rPr>
                        <a:t>Security – Resistance</a:t>
                      </a:r>
                      <a:endParaRPr lang="ko-KR" altLang="ko-KR" sz="1050" b="0" i="0" dirty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50">
                          <a:effectLst/>
                        </a:rPr>
                        <a:t>격리 시간</a:t>
                      </a:r>
                      <a:endParaRPr lang="ko-KR" sz="1050" b="0" i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50" dirty="0">
                          <a:effectLst/>
                        </a:rPr>
                        <a:t>보안 침해 탐지 후 5초 이내 해당 노드 격리</a:t>
                      </a:r>
                      <a:endParaRPr lang="ko-KR" sz="1050" b="0" i="0" dirty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83134545"/>
                  </a:ext>
                </a:extLst>
              </a:tr>
              <a:tr h="30165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ko-KR" sz="1050" b="0" i="0" dirty="0">
                          <a:solidFill>
                            <a:srgbClr val="000000"/>
                          </a:solidFill>
                          <a:effectLst/>
                          <a:latin typeface="-apple-system"/>
                        </a:rPr>
                        <a:t>Security – Resistance</a:t>
                      </a:r>
                      <a:endParaRPr lang="ko-KR" sz="1050" b="0" i="0" dirty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50">
                          <a:effectLst/>
                        </a:rPr>
                        <a:t>복구 시간</a:t>
                      </a:r>
                      <a:endParaRPr lang="ko-KR" sz="1050" b="0" i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50" dirty="0">
                          <a:effectLst/>
                        </a:rPr>
                        <a:t>침해 노드 격리 후 정상 서비스 복구 ≤ 30초</a:t>
                      </a:r>
                      <a:endParaRPr lang="ko-KR" sz="1050" b="0" i="0" dirty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38920444"/>
                  </a:ext>
                </a:extLst>
              </a:tr>
              <a:tr h="30165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ko-KR" sz="1050" b="0" i="0" dirty="0">
                          <a:solidFill>
                            <a:srgbClr val="000000"/>
                          </a:solidFill>
                          <a:effectLst/>
                          <a:latin typeface="-apple-system"/>
                        </a:rPr>
                        <a:t>Security – Resistance</a:t>
                      </a:r>
                      <a:endParaRPr lang="ko-KR" sz="1050" b="0" i="0" dirty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50">
                          <a:effectLst/>
                        </a:rPr>
                        <a:t>취약점 관리</a:t>
                      </a:r>
                      <a:endParaRPr lang="ko-KR" sz="1050" b="0" i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50" dirty="0" err="1">
                          <a:effectLst/>
                        </a:rPr>
                        <a:t>Critical</a:t>
                      </a:r>
                      <a:r>
                        <a:rPr lang="ko-KR" sz="1050" dirty="0">
                          <a:effectLst/>
                        </a:rPr>
                        <a:t> 취약점 발견 후 24시간 이내 조치</a:t>
                      </a:r>
                      <a:endParaRPr lang="ko-KR" sz="1050" b="0" i="0" dirty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66368126"/>
                  </a:ext>
                </a:extLst>
              </a:tr>
              <a:tr h="30165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ko-KR" sz="1050" b="0" i="0" dirty="0">
                          <a:solidFill>
                            <a:srgbClr val="000000"/>
                          </a:solidFill>
                          <a:effectLst/>
                          <a:latin typeface="-apple-system"/>
                        </a:rPr>
                        <a:t>Security - Accountability</a:t>
                      </a:r>
                      <a:endParaRPr lang="ko-KR" sz="1050" b="0" i="0" dirty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50">
                          <a:effectLst/>
                        </a:rPr>
                        <a:t>보안 로그 완전성</a:t>
                      </a:r>
                      <a:endParaRPr lang="ko-KR" sz="1050" b="0" i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50" dirty="0">
                          <a:effectLst/>
                        </a:rPr>
                        <a:t>중요 보안 이벤트 </a:t>
                      </a:r>
                      <a:r>
                        <a:rPr lang="ko-KR" sz="1050" dirty="0" err="1">
                          <a:effectLst/>
                        </a:rPr>
                        <a:t>기록률</a:t>
                      </a:r>
                      <a:r>
                        <a:rPr lang="ko-KR" sz="1050" dirty="0">
                          <a:effectLst/>
                        </a:rPr>
                        <a:t> = 100%</a:t>
                      </a:r>
                      <a:endParaRPr lang="ko-KR" sz="1050" b="0" i="0" dirty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093374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379752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042E71-075C-226F-AF72-D791AB4C99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추가 </a:t>
            </a:r>
            <a:r>
              <a:rPr lang="en-US" altLang="ko-KR" dirty="0"/>
              <a:t>DP</a:t>
            </a:r>
            <a:endParaRPr lang="ko-KR" altLang="en-US" dirty="0"/>
          </a:p>
        </p:txBody>
      </p:sp>
      <p:graphicFrame>
        <p:nvGraphicFramePr>
          <p:cNvPr id="4" name="내용 개체 틀 3">
            <a:extLst>
              <a:ext uri="{FF2B5EF4-FFF2-40B4-BE49-F238E27FC236}">
                <a16:creationId xmlns:a16="http://schemas.microsoft.com/office/drawing/2014/main" id="{BE10A295-7B45-1D6B-9EC5-434D6321D46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79322645"/>
              </p:ext>
            </p:extLst>
          </p:nvPr>
        </p:nvGraphicFramePr>
        <p:xfrm>
          <a:off x="333374" y="720724"/>
          <a:ext cx="8529273" cy="2336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0072">
                  <a:extLst>
                    <a:ext uri="{9D8B030D-6E8A-4147-A177-3AD203B41FA5}">
                      <a16:colId xmlns:a16="http://schemas.microsoft.com/office/drawing/2014/main" val="363059223"/>
                    </a:ext>
                  </a:extLst>
                </a:gridCol>
                <a:gridCol w="3320166">
                  <a:extLst>
                    <a:ext uri="{9D8B030D-6E8A-4147-A177-3AD203B41FA5}">
                      <a16:colId xmlns:a16="http://schemas.microsoft.com/office/drawing/2014/main" val="4292649216"/>
                    </a:ext>
                  </a:extLst>
                </a:gridCol>
                <a:gridCol w="4579035">
                  <a:extLst>
                    <a:ext uri="{9D8B030D-6E8A-4147-A177-3AD203B41FA5}">
                      <a16:colId xmlns:a16="http://schemas.microsoft.com/office/drawing/2014/main" val="51214004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DP</a:t>
                      </a:r>
                      <a:endParaRPr lang="ko-KR" altLang="en-US" sz="9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문제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설계결정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832843"/>
                  </a:ext>
                </a:extLst>
              </a:tr>
              <a:tr h="229217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시스템의 보안 정책 신뢰를 위한 신뢰 모델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44854258"/>
                  </a:ext>
                </a:extLst>
              </a:tr>
              <a:tr h="229217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접근 통제 일관성을 위한 보안 정책 및 권한 집행 모델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6735000"/>
                  </a:ext>
                </a:extLst>
              </a:tr>
              <a:tr h="310855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pVM </a:t>
                      </a:r>
                      <a:r>
                        <a:rPr lang="ko-KR" altLang="en-US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관리 골격 설계</a:t>
                      </a:r>
                      <a:endParaRPr lang="en-US" altLang="ko-KR" sz="9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latinLnBrk="1"/>
                      <a:r>
                        <a:rPr lang="ko-KR" altLang="en-US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한 </a:t>
                      </a:r>
                      <a:r>
                        <a:rPr lang="en-US" altLang="ko-KR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pVM</a:t>
                      </a:r>
                      <a:r>
                        <a:rPr lang="ko-KR" altLang="en-US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을 다루는 코드가 멈추거나 잘못 동작하면 공용 실행 흐름이 막혀 다른 </a:t>
                      </a:r>
                      <a:r>
                        <a:rPr lang="en-US" altLang="ko-KR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pVM</a:t>
                      </a:r>
                      <a:r>
                        <a:rPr lang="ko-KR" altLang="en-US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과 </a:t>
                      </a:r>
                      <a:r>
                        <a:rPr lang="en-US" altLang="ko-KR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Host </a:t>
                      </a:r>
                      <a:r>
                        <a:rPr lang="ko-KR" altLang="en-US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기능도 함께 중단될 수 있다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7738535"/>
                  </a:ext>
                </a:extLst>
              </a:tr>
              <a:tr h="229217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보안 </a:t>
                      </a:r>
                      <a:r>
                        <a:rPr lang="en-US" altLang="ko-KR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Workload </a:t>
                      </a:r>
                      <a:r>
                        <a:rPr lang="ko-KR" altLang="en-US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실행 방식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5706872"/>
                  </a:ext>
                </a:extLst>
              </a:tr>
              <a:tr h="229217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pVM-TEE </a:t>
                      </a:r>
                      <a:r>
                        <a:rPr lang="ko-KR" altLang="en-US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호출 경로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9870650"/>
                  </a:ext>
                </a:extLst>
              </a:tr>
              <a:tr h="229217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작은 파일 </a:t>
                      </a:r>
                      <a:r>
                        <a:rPr lang="en-US" altLang="ko-KR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pVM</a:t>
                      </a:r>
                      <a:r>
                        <a:rPr lang="ko-KR" altLang="en-US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에 영구 저장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49977016"/>
                  </a:ext>
                </a:extLst>
              </a:tr>
              <a:tr h="229217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Host</a:t>
                      </a:r>
                      <a:r>
                        <a:rPr lang="ko-KR" altLang="en-US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의 저장소를 </a:t>
                      </a:r>
                      <a:r>
                        <a:rPr lang="en-US" altLang="ko-KR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pVM</a:t>
                      </a:r>
                      <a:r>
                        <a:rPr lang="ko-KR" altLang="en-US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의 </a:t>
                      </a:r>
                      <a:r>
                        <a:rPr lang="en-US" altLang="ko-KR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VFS</a:t>
                      </a:r>
                      <a:r>
                        <a:rPr lang="ko-KR" altLang="en-US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연결하는 방식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이 과제 설계의 범위 밖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96341018"/>
                  </a:ext>
                </a:extLst>
              </a:tr>
              <a:tr h="229217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5317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360223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92A6CF-8E5D-15AD-9E48-67F7648C2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81810B-FD6B-AFD4-90C3-45F297754B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ATE, AVA</a:t>
            </a:r>
            <a:endParaRPr lang="ko-KR" altLang="en-US" dirty="0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66B0A405-E7E5-03FB-870D-A58F7ABF69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8388" y="721467"/>
            <a:ext cx="8114012" cy="3843499"/>
          </a:xfrm>
        </p:spPr>
        <p:txBody>
          <a:bodyPr/>
          <a:lstStyle/>
          <a:p>
            <a:r>
              <a:rPr lang="en-US" altLang="ko-KR" dirty="0"/>
              <a:t>EAL4(</a:t>
            </a:r>
            <a:r>
              <a:rPr lang="ko-KR" altLang="en-US" dirty="0"/>
              <a:t>설계부터 </a:t>
            </a:r>
            <a:r>
              <a:rPr lang="ko-KR" altLang="en-US" dirty="0" err="1"/>
              <a:t>쳬계적으로</a:t>
            </a:r>
            <a:r>
              <a:rPr lang="ko-KR" altLang="en-US" dirty="0"/>
              <a:t> 검증</a:t>
            </a:r>
            <a:r>
              <a:rPr lang="en-US" altLang="ko-KR" dirty="0"/>
              <a:t>)</a:t>
            </a:r>
            <a:endParaRPr lang="ko-KR" altLang="en-US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350F45D8-F308-4F26-6993-C3BD6A2411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1323542"/>
              </p:ext>
            </p:extLst>
          </p:nvPr>
        </p:nvGraphicFramePr>
        <p:xfrm>
          <a:off x="4619656" y="1239387"/>
          <a:ext cx="3092025" cy="326230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675">
                  <a:extLst>
                    <a:ext uri="{9D8B030D-6E8A-4147-A177-3AD203B41FA5}">
                      <a16:colId xmlns:a16="http://schemas.microsoft.com/office/drawing/2014/main" val="2781179650"/>
                    </a:ext>
                  </a:extLst>
                </a:gridCol>
                <a:gridCol w="1030675">
                  <a:extLst>
                    <a:ext uri="{9D8B030D-6E8A-4147-A177-3AD203B41FA5}">
                      <a16:colId xmlns:a16="http://schemas.microsoft.com/office/drawing/2014/main" val="3630589722"/>
                    </a:ext>
                  </a:extLst>
                </a:gridCol>
                <a:gridCol w="1030675">
                  <a:extLst>
                    <a:ext uri="{9D8B030D-6E8A-4147-A177-3AD203B41FA5}">
                      <a16:colId xmlns:a16="http://schemas.microsoft.com/office/drawing/2014/main" val="2646064199"/>
                    </a:ext>
                  </a:extLst>
                </a:gridCol>
              </a:tblGrid>
              <a:tr h="1433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보증 클래스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EAL4 요구 항목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의미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42501518"/>
                  </a:ext>
                </a:extLst>
              </a:tr>
              <a:tr h="1433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ADV – </a:t>
                      </a:r>
                      <a:r>
                        <a:rPr lang="ko-KR" sz="700" dirty="0" err="1"/>
                        <a:t>Development</a:t>
                      </a:r>
                      <a:endParaRPr lang="ko-KR" sz="700" dirty="0"/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ADV_ARC.1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보안 아키텍처 설명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9428874"/>
                  </a:ext>
                </a:extLst>
              </a:tr>
              <a:tr h="143398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sz="700"/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ADV_FSP.4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완전한 보안 기능 명세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0181928"/>
                  </a:ext>
                </a:extLst>
              </a:tr>
              <a:tr h="143398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sz="700"/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ADV_IMP.1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TSF 구현 표현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2784253"/>
                  </a:ext>
                </a:extLst>
              </a:tr>
              <a:tr h="143398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sz="700"/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ADV_TDS.3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모듈 수준 설계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6864575"/>
                  </a:ext>
                </a:extLst>
              </a:tr>
              <a:tr h="1433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AGD – Guidance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AGD_OPE.1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운영자/사용자 가이드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43125958"/>
                  </a:ext>
                </a:extLst>
              </a:tr>
              <a:tr h="250947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sz="700"/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AGD_PRE.1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안전한 설치·초기화 절차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0529875"/>
                  </a:ext>
                </a:extLst>
              </a:tr>
              <a:tr h="2509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ALC – Life-cycle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ALC_CMC.4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형상관리 자동화 및 릴리스 관리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1372263"/>
                  </a:ext>
                </a:extLst>
              </a:tr>
              <a:tr h="250947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sz="700"/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ALC_CMS.4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문제 추적을 포함한 형상관리 범위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76980967"/>
                  </a:ext>
                </a:extLst>
              </a:tr>
              <a:tr h="143398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sz="700"/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ALC_DEL.1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안전한 제품 전달 절차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5300305"/>
                  </a:ext>
                </a:extLst>
              </a:tr>
              <a:tr h="143398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sz="700"/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ALC_DVS.1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개발 환경 보안 대책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4298021"/>
                  </a:ext>
                </a:extLst>
              </a:tr>
              <a:tr h="143398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sz="700" dirty="0"/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ALC_LCD.1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개발 생명주기 모델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17458419"/>
                  </a:ext>
                </a:extLst>
              </a:tr>
              <a:tr h="143398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sz="700"/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ALC_TAT.1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개발 도구 관리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170167"/>
                  </a:ext>
                </a:extLst>
              </a:tr>
              <a:tr h="2509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ASE – Security Target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ASE_*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Security Target 작성 및 검증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85445103"/>
                  </a:ext>
                </a:extLst>
              </a:tr>
              <a:tr h="2509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ATE – </a:t>
                      </a:r>
                      <a:r>
                        <a:rPr lang="ko-KR" sz="700" dirty="0" err="1"/>
                        <a:t>Tests</a:t>
                      </a:r>
                      <a:endParaRPr lang="ko-KR" sz="700" dirty="0"/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ATE_COV.2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보안 요구사항-테스트 커버리지 분석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6671673"/>
                  </a:ext>
                </a:extLst>
              </a:tr>
              <a:tr h="143398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sz="700"/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ATE_DPT.1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설계 기반 테스트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6775495"/>
                  </a:ext>
                </a:extLst>
              </a:tr>
              <a:tr h="143398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sz="700"/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ATE_FUN.1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개발자 기능 테스트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471569"/>
                  </a:ext>
                </a:extLst>
              </a:tr>
              <a:tr h="143398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sz="700" dirty="0"/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ATE_IND.2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평가기관 독립 테스트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0120813"/>
                  </a:ext>
                </a:extLst>
              </a:tr>
              <a:tr h="1433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AVA – </a:t>
                      </a:r>
                      <a:r>
                        <a:rPr lang="ko-KR" sz="700" dirty="0" err="1"/>
                        <a:t>Vulnerability</a:t>
                      </a:r>
                      <a:endParaRPr lang="ko-KR" sz="700" dirty="0"/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AVA_VAN.3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집중적인 취약점 분석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5606377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89EF82DE-5C81-9C99-C65F-882ADD777F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6565881"/>
              </p:ext>
            </p:extLst>
          </p:nvPr>
        </p:nvGraphicFramePr>
        <p:xfrm>
          <a:off x="552656" y="1246522"/>
          <a:ext cx="3536020" cy="240101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84005">
                  <a:extLst>
                    <a:ext uri="{9D8B030D-6E8A-4147-A177-3AD203B41FA5}">
                      <a16:colId xmlns:a16="http://schemas.microsoft.com/office/drawing/2014/main" val="3504725756"/>
                    </a:ext>
                  </a:extLst>
                </a:gridCol>
                <a:gridCol w="884005">
                  <a:extLst>
                    <a:ext uri="{9D8B030D-6E8A-4147-A177-3AD203B41FA5}">
                      <a16:colId xmlns:a16="http://schemas.microsoft.com/office/drawing/2014/main" val="625659574"/>
                    </a:ext>
                  </a:extLst>
                </a:gridCol>
                <a:gridCol w="884005">
                  <a:extLst>
                    <a:ext uri="{9D8B030D-6E8A-4147-A177-3AD203B41FA5}">
                      <a16:colId xmlns:a16="http://schemas.microsoft.com/office/drawing/2014/main" val="2341294007"/>
                    </a:ext>
                  </a:extLst>
                </a:gridCol>
                <a:gridCol w="884005">
                  <a:extLst>
                    <a:ext uri="{9D8B030D-6E8A-4147-A177-3AD203B41FA5}">
                      <a16:colId xmlns:a16="http://schemas.microsoft.com/office/drawing/2014/main" val="3289051576"/>
                    </a:ext>
                  </a:extLst>
                </a:gridCol>
              </a:tblGrid>
              <a:tr h="1444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레벨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공식적 성격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핵심 의미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검증 수준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6043184"/>
                  </a:ext>
                </a:extLst>
              </a:tr>
              <a:tr h="2530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EAL1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Functionally</a:t>
                      </a:r>
                      <a:r>
                        <a:rPr lang="ko-KR" sz="700" dirty="0"/>
                        <a:t> </a:t>
                      </a:r>
                      <a:r>
                        <a:rPr lang="ko-KR" sz="700" dirty="0" err="1"/>
                        <a:t>Tested</a:t>
                      </a:r>
                      <a:endParaRPr lang="ko-KR" sz="700" dirty="0"/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기능적으로 테스트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기본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7944975"/>
                  </a:ext>
                </a:extLst>
              </a:tr>
              <a:tr h="2530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EAL2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Structurally Tested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구조를 고려한 테스트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낮음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1458441"/>
                  </a:ext>
                </a:extLst>
              </a:tr>
              <a:tr h="3617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EAL3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Methodically</a:t>
                      </a:r>
                      <a:r>
                        <a:rPr lang="ko-KR" sz="700" dirty="0"/>
                        <a:t> </a:t>
                      </a:r>
                      <a:r>
                        <a:rPr lang="ko-KR" sz="700" dirty="0" err="1"/>
                        <a:t>Tested</a:t>
                      </a:r>
                      <a:r>
                        <a:rPr lang="ko-KR" sz="700" dirty="0"/>
                        <a:t> and </a:t>
                      </a:r>
                      <a:r>
                        <a:rPr lang="ko-KR" sz="700" dirty="0" err="1"/>
                        <a:t>Checked</a:t>
                      </a:r>
                      <a:endParaRPr lang="ko-KR" sz="700" dirty="0"/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체계적 테스트/검토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중간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7042364"/>
                  </a:ext>
                </a:extLst>
              </a:tr>
              <a:tr h="3617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EAL4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Methodically</a:t>
                      </a:r>
                      <a:r>
                        <a:rPr lang="ko-KR" sz="700" dirty="0"/>
                        <a:t> </a:t>
                      </a:r>
                      <a:r>
                        <a:rPr lang="ko-KR" sz="700" dirty="0" err="1"/>
                        <a:t>Designed</a:t>
                      </a:r>
                      <a:r>
                        <a:rPr lang="ko-KR" sz="700" dirty="0"/>
                        <a:t>, </a:t>
                      </a:r>
                      <a:r>
                        <a:rPr lang="ko-KR" sz="700" dirty="0" err="1"/>
                        <a:t>Tested</a:t>
                      </a:r>
                      <a:r>
                        <a:rPr lang="ko-KR" sz="700" dirty="0"/>
                        <a:t> and </a:t>
                      </a:r>
                      <a:r>
                        <a:rPr lang="ko-KR" sz="700" dirty="0" err="1"/>
                        <a:t>Reviewed</a:t>
                      </a:r>
                      <a:endParaRPr lang="ko-KR" sz="700" dirty="0"/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설계부터 체계적으로 검증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중상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9146513"/>
                  </a:ext>
                </a:extLst>
              </a:tr>
              <a:tr h="3617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EAL5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Semiformally Designed and Tested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반정형 설계 및 테스트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높음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7321532"/>
                  </a:ext>
                </a:extLst>
              </a:tr>
              <a:tr h="3617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EAL6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Semiformally Verified Design and Tested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반정형 설계 검증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매우 높음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2184206"/>
                  </a:ext>
                </a:extLst>
              </a:tr>
              <a:tr h="2530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EAL7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Formally Verified Design and Tested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형식적 검증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최고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88921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593234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0C9A2C-75C8-0A6C-06C8-F633233F76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FA842A5-BEBB-EC31-7168-0D564F293A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6765" y="166913"/>
            <a:ext cx="6234373" cy="409575"/>
          </a:xfrm>
        </p:spPr>
        <p:txBody>
          <a:bodyPr>
            <a:normAutofit/>
          </a:bodyPr>
          <a:lstStyle/>
          <a:p>
            <a:r>
              <a:rPr lang="en-US" altLang="ko-KR" dirty="0"/>
              <a:t>RPMB (Replay Protected Memory Block)</a:t>
            </a:r>
            <a:endParaRPr lang="ko-KR" altLang="en-US" dirty="0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37DEF75-A7F5-2253-A8B4-568FBDA3A0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8388" y="721467"/>
            <a:ext cx="8114012" cy="3843499"/>
          </a:xfrm>
        </p:spPr>
        <p:txBody>
          <a:bodyPr/>
          <a:lstStyle/>
          <a:p>
            <a:r>
              <a:rPr lang="ko-KR" altLang="en-US" sz="1200" dirty="0"/>
              <a:t>데이터의 위조와 이전 데이터의 재사용을 탐지</a:t>
            </a:r>
            <a:endParaRPr lang="en-US" altLang="ko-KR" sz="1200" dirty="0"/>
          </a:p>
          <a:p>
            <a:r>
              <a:rPr lang="ko-KR" altLang="en-US" sz="1200" dirty="0"/>
              <a:t>핵심요소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A2C100A6-13C2-976D-9C02-F143395992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865810"/>
              </p:ext>
            </p:extLst>
          </p:nvPr>
        </p:nvGraphicFramePr>
        <p:xfrm>
          <a:off x="514994" y="1400571"/>
          <a:ext cx="8114012" cy="136034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47861">
                  <a:extLst>
                    <a:ext uri="{9D8B030D-6E8A-4147-A177-3AD203B41FA5}">
                      <a16:colId xmlns:a16="http://schemas.microsoft.com/office/drawing/2014/main" val="1961150165"/>
                    </a:ext>
                  </a:extLst>
                </a:gridCol>
                <a:gridCol w="2609557">
                  <a:extLst>
                    <a:ext uri="{9D8B030D-6E8A-4147-A177-3AD203B41FA5}">
                      <a16:colId xmlns:a16="http://schemas.microsoft.com/office/drawing/2014/main" val="653072366"/>
                    </a:ext>
                  </a:extLst>
                </a:gridCol>
                <a:gridCol w="4156594">
                  <a:extLst>
                    <a:ext uri="{9D8B030D-6E8A-4147-A177-3AD203B41FA5}">
                      <a16:colId xmlns:a16="http://schemas.microsoft.com/office/drawing/2014/main" val="1779645293"/>
                    </a:ext>
                  </a:extLst>
                </a:gridCol>
              </a:tblGrid>
              <a:tr h="17454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900" b="1" dirty="0">
                          <a:solidFill>
                            <a:schemeClr val="bg1"/>
                          </a:solidFill>
                          <a:effectLst/>
                        </a:rPr>
                        <a:t>요소</a:t>
                      </a:r>
                      <a:endParaRPr lang="ko-KR" sz="900" b="1" i="0" dirty="0">
                        <a:solidFill>
                          <a:schemeClr val="bg1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900" b="1" i="0" dirty="0">
                          <a:solidFill>
                            <a:schemeClr val="bg1"/>
                          </a:solidFill>
                          <a:effectLst/>
                          <a:latin typeface="-apple-system"/>
                        </a:rPr>
                        <a:t>생성 및 관리 주체</a:t>
                      </a:r>
                      <a:endParaRPr lang="ko-KR" sz="900" b="1" i="0" dirty="0">
                        <a:solidFill>
                          <a:schemeClr val="bg1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900" b="1" dirty="0">
                          <a:solidFill>
                            <a:schemeClr val="bg1"/>
                          </a:solidFill>
                          <a:effectLst/>
                        </a:rPr>
                        <a:t>역할</a:t>
                      </a:r>
                      <a:endParaRPr lang="ko-KR" sz="900" b="1" i="0" dirty="0">
                        <a:solidFill>
                          <a:schemeClr val="bg1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6109503"/>
                  </a:ext>
                </a:extLst>
              </a:tr>
              <a:tr h="28674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900" dirty="0" err="1">
                          <a:effectLst/>
                        </a:rPr>
                        <a:t>Authentication</a:t>
                      </a:r>
                      <a:r>
                        <a:rPr lang="ko-KR" sz="900" dirty="0">
                          <a:effectLst/>
                        </a:rPr>
                        <a:t> </a:t>
                      </a:r>
                      <a:r>
                        <a:rPr lang="ko-KR" sz="900" dirty="0" err="1">
                          <a:effectLst/>
                        </a:rPr>
                        <a:t>Key</a:t>
                      </a:r>
                      <a:endParaRPr lang="ko-KR" sz="900" b="0" i="0" dirty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ko-KR" sz="9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RPMB</a:t>
                      </a:r>
                      <a:r>
                        <a:rPr lang="ko-KR" altLang="ko-KR" sz="9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장치</a:t>
                      </a:r>
                      <a:r>
                        <a:rPr lang="en-US" altLang="ko-KR" sz="9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ko-KR" sz="9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보안 소프트웨어</a:t>
                      </a:r>
                      <a:endParaRPr lang="ko-KR" altLang="en-US" sz="9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900" dirty="0">
                          <a:effectLst/>
                        </a:rPr>
                        <a:t>요청과 응답의 인증에 사용</a:t>
                      </a:r>
                      <a:endParaRPr lang="en-US" altLang="ko-KR" sz="900" dirty="0">
                        <a:effectLst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68629408"/>
                  </a:ext>
                </a:extLst>
              </a:tr>
              <a:tr h="28674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900" dirty="0">
                          <a:effectLst/>
                        </a:rPr>
                        <a:t>HMAC-SHA256</a:t>
                      </a:r>
                      <a:endParaRPr lang="ko-KR" sz="900" b="0" i="0" dirty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ko-KR" sz="9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보안 소프트웨어</a:t>
                      </a:r>
                      <a:r>
                        <a:rPr lang="en-US" altLang="ko-KR" sz="9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ko-KR" altLang="ko-KR" sz="9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쓰기</a:t>
                      </a:r>
                      <a:r>
                        <a:rPr lang="en-US" altLang="ko-KR" sz="9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r>
                        <a:rPr lang="ko-KR" altLang="ko-KR" sz="9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9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RPMB</a:t>
                      </a:r>
                      <a:r>
                        <a:rPr lang="ko-KR" altLang="ko-KR" sz="9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장치</a:t>
                      </a:r>
                      <a:r>
                        <a:rPr lang="en-US" altLang="ko-KR" sz="9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ko-KR" altLang="ko-KR" sz="9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읽기</a:t>
                      </a:r>
                      <a:r>
                        <a:rPr lang="en-US" altLang="ko-KR" sz="9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900" b="1" dirty="0">
                          <a:solidFill>
                            <a:srgbClr val="0000FF"/>
                          </a:solidFill>
                          <a:effectLst/>
                        </a:rPr>
                        <a:t>올바른 주체</a:t>
                      </a:r>
                      <a:r>
                        <a:rPr lang="ko-KR" sz="900" dirty="0">
                          <a:effectLst/>
                        </a:rPr>
                        <a:t>에게서 </a:t>
                      </a:r>
                      <a:r>
                        <a:rPr lang="ko-KR" altLang="ko-KR" sz="900" dirty="0">
                          <a:effectLst/>
                        </a:rPr>
                        <a:t>데이터가 </a:t>
                      </a:r>
                      <a:r>
                        <a:rPr lang="ko-KR" sz="900" dirty="0">
                          <a:effectLst/>
                        </a:rPr>
                        <a:t>왔고 변경되지 않았는지 확인</a:t>
                      </a:r>
                      <a:endParaRPr lang="ko-KR" sz="900" b="0" i="0" dirty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3548259"/>
                  </a:ext>
                </a:extLst>
              </a:tr>
              <a:tr h="28674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900">
                          <a:effectLst/>
                        </a:rPr>
                        <a:t>Write Counter</a:t>
                      </a:r>
                      <a:endParaRPr lang="ko-KR" sz="900" b="0" i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ko-KR" sz="9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RPMB </a:t>
                      </a:r>
                      <a:r>
                        <a:rPr lang="ko-KR" altLang="en-US" sz="9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장치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900" b="1" dirty="0">
                          <a:solidFill>
                            <a:srgbClr val="0000FF"/>
                          </a:solidFill>
                          <a:effectLst/>
                        </a:rPr>
                        <a:t>쓰기가 성공할 때마다 증가</a:t>
                      </a:r>
                      <a:r>
                        <a:rPr lang="ko-KR" sz="900" dirty="0">
                          <a:effectLst/>
                        </a:rPr>
                        <a:t>. 과거 쓰기 요청의 </a:t>
                      </a:r>
                      <a:r>
                        <a:rPr lang="ko-KR" sz="900" b="0" dirty="0">
                          <a:solidFill>
                            <a:schemeClr val="tx1"/>
                          </a:solidFill>
                          <a:effectLst/>
                        </a:rPr>
                        <a:t>재사용을 차단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4610003"/>
                  </a:ext>
                </a:extLst>
              </a:tr>
              <a:tr h="28674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900">
                          <a:effectLst/>
                        </a:rPr>
                        <a:t>Nonce</a:t>
                      </a:r>
                      <a:endParaRPr lang="ko-KR" sz="900" b="0" i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9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보안 소프트웨어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900" b="1" dirty="0">
                          <a:solidFill>
                            <a:srgbClr val="0000FF"/>
                          </a:solidFill>
                          <a:effectLst/>
                        </a:rPr>
                        <a:t>읽기 요청마다 새로 생성</a:t>
                      </a:r>
                      <a:r>
                        <a:rPr lang="ko-KR" sz="900" dirty="0">
                          <a:effectLst/>
                        </a:rPr>
                        <a:t>하는 임의 값. 과거 읽기 응답의 재사용을 탐지</a:t>
                      </a:r>
                      <a:endParaRPr lang="ko-KR" altLang="en-US" sz="900" dirty="0">
                        <a:effectLst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06181636"/>
                  </a:ext>
                </a:extLst>
              </a:tr>
            </a:tbl>
          </a:graphicData>
        </a:graphic>
      </p:graphicFrame>
      <p:pic>
        <p:nvPicPr>
          <p:cNvPr id="9" name="그림 8">
            <a:extLst>
              <a:ext uri="{FF2B5EF4-FFF2-40B4-BE49-F238E27FC236}">
                <a16:creationId xmlns:a16="http://schemas.microsoft.com/office/drawing/2014/main" id="{4980F438-F4CE-FE66-B246-1579528C9C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539" y="2884402"/>
            <a:ext cx="2331168" cy="1856239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6663E947-3A9A-E963-8403-16D723A494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3356" y="2884402"/>
            <a:ext cx="3197782" cy="1989357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A6F34605-7DCF-EDA1-92E2-F722484611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0282" y="3396153"/>
            <a:ext cx="1635421" cy="1126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46802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BC208D-2C82-5AAC-79F9-14B273ACCC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6765" y="166913"/>
            <a:ext cx="6555921" cy="409575"/>
          </a:xfrm>
        </p:spPr>
        <p:txBody>
          <a:bodyPr>
            <a:normAutofit/>
          </a:bodyPr>
          <a:lstStyle/>
          <a:p>
            <a:r>
              <a:rPr lang="en-US" altLang="ko-KR" dirty="0"/>
              <a:t>DMA HW</a:t>
            </a:r>
            <a:r>
              <a:rPr lang="ko-KR" altLang="en-US" dirty="0"/>
              <a:t>의 </a:t>
            </a:r>
            <a:r>
              <a:rPr lang="en-US" altLang="ko-KR" dirty="0"/>
              <a:t>Protected</a:t>
            </a:r>
            <a:r>
              <a:rPr lang="ko-KR" altLang="en-US" dirty="0"/>
              <a:t> </a:t>
            </a:r>
            <a:r>
              <a:rPr lang="en-US" altLang="ko-KR" dirty="0"/>
              <a:t>Memory </a:t>
            </a:r>
            <a:r>
              <a:rPr lang="ko-KR" altLang="en-US" dirty="0"/>
              <a:t>침해 방지 방법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D7C955F-8AA2-8DA5-636A-C9C563D148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3829" y="721467"/>
            <a:ext cx="8181521" cy="800356"/>
          </a:xfrm>
        </p:spPr>
        <p:txBody>
          <a:bodyPr/>
          <a:lstStyle/>
          <a:p>
            <a:r>
              <a:rPr lang="en-US" altLang="ko-KR" dirty="0"/>
              <a:t>VID</a:t>
            </a:r>
            <a:r>
              <a:rPr lang="ko-KR" altLang="en-US" dirty="0"/>
              <a:t>기반의 하드웨어 </a:t>
            </a:r>
            <a:r>
              <a:rPr lang="en-US" altLang="ko-KR" dirty="0"/>
              <a:t>2</a:t>
            </a:r>
            <a:r>
              <a:rPr lang="ko-KR" altLang="en-US" dirty="0"/>
              <a:t>단계 보안 체계</a:t>
            </a:r>
            <a:r>
              <a:rPr lang="en-US" altLang="ko-KR" dirty="0"/>
              <a:t>(VGEN &amp; S2MPU)</a:t>
            </a:r>
            <a:r>
              <a:rPr lang="ko-KR" altLang="en-US" dirty="0"/>
              <a:t>를 적용하여 </a:t>
            </a:r>
            <a:r>
              <a:rPr lang="en-US" altLang="ko-KR" dirty="0"/>
              <a:t>Host</a:t>
            </a:r>
            <a:r>
              <a:rPr lang="ko-KR" altLang="en-US" dirty="0"/>
              <a:t>와 </a:t>
            </a:r>
            <a:r>
              <a:rPr lang="en-US" altLang="ko-KR" dirty="0"/>
              <a:t>pVM</a:t>
            </a:r>
            <a:r>
              <a:rPr lang="ko-KR" altLang="en-US" dirty="0"/>
              <a:t>간의 </a:t>
            </a:r>
            <a:r>
              <a:rPr lang="en-US" altLang="ko-KR" dirty="0"/>
              <a:t>DMA </a:t>
            </a:r>
            <a:r>
              <a:rPr lang="ko-KR" altLang="en-US" dirty="0"/>
              <a:t>메모리 상호 침범을 원천 차단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D854786-4C42-F9C0-C199-FBF3CC10E12D}"/>
              </a:ext>
            </a:extLst>
          </p:cNvPr>
          <p:cNvSpPr txBox="1"/>
          <p:nvPr/>
        </p:nvSpPr>
        <p:spPr>
          <a:xfrm>
            <a:off x="5657892" y="2779864"/>
            <a:ext cx="2623959" cy="6262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altLang="ko-KR" sz="800" b="1" dirty="0">
                <a:solidFill>
                  <a:srgbClr val="0000FF"/>
                </a:solidFill>
              </a:rPr>
              <a:t>VGEN </a:t>
            </a:r>
            <a:r>
              <a:rPr lang="ko-KR" altLang="en-US" sz="800" b="1" dirty="0">
                <a:solidFill>
                  <a:srgbClr val="0000FF"/>
                </a:solidFill>
              </a:rPr>
              <a:t>에서 </a:t>
            </a:r>
            <a:r>
              <a:rPr lang="en-US" altLang="ko-KR" sz="800" b="1" dirty="0">
                <a:solidFill>
                  <a:srgbClr val="0000FF"/>
                </a:solidFill>
              </a:rPr>
              <a:t>VID</a:t>
            </a:r>
            <a:r>
              <a:rPr lang="ko-KR" altLang="en-US" sz="800" b="1" dirty="0">
                <a:solidFill>
                  <a:srgbClr val="0000FF"/>
                </a:solidFill>
              </a:rPr>
              <a:t>를 </a:t>
            </a:r>
            <a:r>
              <a:rPr lang="en-US" altLang="ko-KR" sz="800" b="1" dirty="0">
                <a:solidFill>
                  <a:srgbClr val="0000FF"/>
                </a:solidFill>
              </a:rPr>
              <a:t>switch</a:t>
            </a:r>
            <a:r>
              <a:rPr lang="ko-KR" altLang="en-US" sz="800" b="1" dirty="0">
                <a:solidFill>
                  <a:srgbClr val="0000FF"/>
                </a:solidFill>
              </a:rPr>
              <a:t>하여</a:t>
            </a:r>
            <a:endParaRPr lang="en-US" altLang="ko-KR" sz="800" b="1" dirty="0">
              <a:solidFill>
                <a:srgbClr val="0000FF"/>
              </a:solidFill>
            </a:endParaRPr>
          </a:p>
          <a:p>
            <a:pPr algn="l">
              <a:lnSpc>
                <a:spcPct val="150000"/>
              </a:lnSpc>
            </a:pPr>
            <a:r>
              <a:rPr lang="en-US" altLang="ko-KR" sz="800" b="1" dirty="0">
                <a:solidFill>
                  <a:srgbClr val="0000FF"/>
                </a:solidFill>
              </a:rPr>
              <a:t>Stage</a:t>
            </a:r>
            <a:r>
              <a:rPr lang="ko-KR" altLang="en-US" sz="800" b="1" dirty="0">
                <a:solidFill>
                  <a:srgbClr val="0000FF"/>
                </a:solidFill>
              </a:rPr>
              <a:t> </a:t>
            </a:r>
            <a:r>
              <a:rPr lang="en-US" altLang="ko-KR" sz="800" b="1" dirty="0">
                <a:solidFill>
                  <a:srgbClr val="0000FF"/>
                </a:solidFill>
              </a:rPr>
              <a:t>2</a:t>
            </a:r>
            <a:r>
              <a:rPr lang="ko-KR" altLang="en-US" sz="800" b="1" dirty="0">
                <a:solidFill>
                  <a:srgbClr val="0000FF"/>
                </a:solidFill>
              </a:rPr>
              <a:t> </a:t>
            </a:r>
            <a:r>
              <a:rPr lang="en-US" altLang="ko-KR" sz="800" b="1" dirty="0">
                <a:solidFill>
                  <a:srgbClr val="0000FF"/>
                </a:solidFill>
              </a:rPr>
              <a:t>MMU</a:t>
            </a:r>
            <a:r>
              <a:rPr lang="ko-KR" altLang="en-US" sz="800" b="1" dirty="0">
                <a:solidFill>
                  <a:srgbClr val="0000FF"/>
                </a:solidFill>
              </a:rPr>
              <a:t>가 참조하는 </a:t>
            </a:r>
            <a:r>
              <a:rPr lang="en-US" altLang="ko-KR" sz="800" b="1" dirty="0">
                <a:solidFill>
                  <a:srgbClr val="0000FF"/>
                </a:solidFill>
              </a:rPr>
              <a:t>Page Table</a:t>
            </a:r>
            <a:r>
              <a:rPr lang="ko-KR" altLang="en-US" sz="800" b="1" dirty="0">
                <a:solidFill>
                  <a:srgbClr val="0000FF"/>
                </a:solidFill>
              </a:rPr>
              <a:t>이 달라지고</a:t>
            </a:r>
            <a:endParaRPr lang="en-US" altLang="ko-KR" sz="800" b="1" dirty="0">
              <a:solidFill>
                <a:srgbClr val="0000FF"/>
              </a:solidFill>
            </a:endParaRPr>
          </a:p>
          <a:p>
            <a:pPr algn="l">
              <a:lnSpc>
                <a:spcPct val="150000"/>
              </a:lnSpc>
            </a:pPr>
            <a:r>
              <a:rPr lang="ko-KR" altLang="en-US" sz="800" b="1" dirty="0">
                <a:solidFill>
                  <a:srgbClr val="0000FF"/>
                </a:solidFill>
              </a:rPr>
              <a:t>이로 인해 </a:t>
            </a:r>
            <a:r>
              <a:rPr lang="en-US" altLang="ko-KR" sz="800" b="1" dirty="0">
                <a:solidFill>
                  <a:srgbClr val="0000FF"/>
                </a:solidFill>
              </a:rPr>
              <a:t>Access</a:t>
            </a:r>
            <a:r>
              <a:rPr lang="ko-KR" altLang="en-US" sz="800" b="1" dirty="0">
                <a:solidFill>
                  <a:srgbClr val="0000FF"/>
                </a:solidFill>
              </a:rPr>
              <a:t>하는 메모리가 달라짐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4D33359-1111-7C12-13F0-83283F572D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4445" y="1710947"/>
            <a:ext cx="3927927" cy="2877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3583967"/>
      </p:ext>
    </p:extLst>
  </p:cSld>
  <p:clrMapOvr>
    <a:masterClrMapping/>
  </p:clrMapOvr>
</p:sld>
</file>

<file path=ppt/theme/theme1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맑은 고딕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none" rtlCol="0">
        <a:spAutoFit/>
      </a:bodyPr>
      <a:lstStyle>
        <a:defPPr algn="l">
          <a:defRPr sz="600" dirty="0" smtClean="0">
            <a:solidFill>
              <a:srgbClr val="FF0000"/>
            </a:solidFill>
            <a:highlight>
              <a:srgbClr val="FFFF00"/>
            </a:highlight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5868</TotalTime>
  <Words>1968</Words>
  <Application>Microsoft Office PowerPoint</Application>
  <PresentationFormat>화면 슬라이드 쇼(16:9)</PresentationFormat>
  <Paragraphs>545</Paragraphs>
  <Slides>17</Slides>
  <Notes>0</Notes>
  <HiddenSlides>0</HiddenSlides>
  <MMClips>0</MMClips>
  <ScaleCrop>false</ScaleCrop>
  <HeadingPairs>
    <vt:vector size="8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6" baseType="lpstr">
      <vt:lpstr>-apple-system</vt:lpstr>
      <vt:lpstr>Arial Unicode MS</vt:lpstr>
      <vt:lpstr>맑은 고딕</vt:lpstr>
      <vt:lpstr>Arial</vt:lpstr>
      <vt:lpstr>Calibri</vt:lpstr>
      <vt:lpstr>Segoe UI</vt:lpstr>
      <vt:lpstr>Wingdings</vt:lpstr>
      <vt:lpstr>디자인 사용자 지정</vt:lpstr>
      <vt:lpstr>Document</vt:lpstr>
      <vt:lpstr>요구사항 분석</vt:lpstr>
      <vt:lpstr>타사 현황</vt:lpstr>
      <vt:lpstr>Secure Vision AI 레퍼런스 시나리오</vt:lpstr>
      <vt:lpstr>Voice Of Stakeholder</vt:lpstr>
      <vt:lpstr>유즈케이스 도출</vt:lpstr>
      <vt:lpstr>Utility Tree</vt:lpstr>
      <vt:lpstr>품질 속성 평가</vt:lpstr>
      <vt:lpstr>VOS &lt;-&gt; AD matrix</vt:lpstr>
      <vt:lpstr>아키텍처 설계</vt:lpstr>
      <vt:lpstr>TCB – Trusted Computing Base</vt:lpstr>
      <vt:lpstr>Secure Boot &amp; Loading Flow</vt:lpstr>
      <vt:lpstr>Control Path의 메타정보 노출</vt:lpstr>
      <vt:lpstr>보안 품질속성에 적합한 정량 메트릭</vt:lpstr>
      <vt:lpstr>추가 DP</vt:lpstr>
      <vt:lpstr>ATE, AVA</vt:lpstr>
      <vt:lpstr>RPMB (Replay Protected Memory Block)</vt:lpstr>
      <vt:lpstr>DMA HW의 Protected Memory 침해 방지 방법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Boram Park</cp:lastModifiedBy>
  <cp:revision>225</cp:revision>
  <dcterms:created xsi:type="dcterms:W3CDTF">2026-06-24T10:41:37Z</dcterms:created>
  <dcterms:modified xsi:type="dcterms:W3CDTF">2026-08-31T01:21:00Z</dcterms:modified>
</cp:coreProperties>
</file>